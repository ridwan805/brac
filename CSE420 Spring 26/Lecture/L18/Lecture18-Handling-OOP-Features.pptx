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y="5143500" cx="9144000"/>
  <p:notesSz cx="6858000" cy="9144000"/>
  <p:embeddedFontLst>
    <p:embeddedFont>
      <p:font typeface="Lexend Light"/>
      <p:regular r:id="rId28"/>
      <p:bold r:id="rId29"/>
    </p:embeddedFont>
    <p:embeddedFont>
      <p:font typeface="Lexend Medium"/>
      <p:regular r:id="rId30"/>
      <p:bold r:id="rId31"/>
    </p:embeddedFont>
    <p:embeddedFont>
      <p:font typeface="Lexend"/>
      <p:regular r:id="rId32"/>
      <p:bold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88F9DF4-EE4B-4068-BD8B-F2B007583E1D}">
  <a:tblStyle styleId="{488F9DF4-EE4B-4068-BD8B-F2B007583E1D}"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LexendLight-regular.fntdata"/><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LexendLight-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LexendMedium-bold.fntdata"/><Relationship Id="rId30" Type="http://schemas.openxmlformats.org/officeDocument/2006/relationships/font" Target="fonts/LexendMedium-regular.fntdata"/><Relationship Id="rId11" Type="http://schemas.openxmlformats.org/officeDocument/2006/relationships/slide" Target="slides/slide5.xml"/><Relationship Id="rId33" Type="http://schemas.openxmlformats.org/officeDocument/2006/relationships/font" Target="fonts/Lexend-bold.fntdata"/><Relationship Id="rId10" Type="http://schemas.openxmlformats.org/officeDocument/2006/relationships/slide" Target="slides/slide4.xml"/><Relationship Id="rId32" Type="http://schemas.openxmlformats.org/officeDocument/2006/relationships/font" Target="fonts/Lexend-regular.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7c3fc030f9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7c3fc030f9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7c3fc030f9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7c3fc030f9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7c3fc030f9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7c3fc030f9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7c3fc030f9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7c3fc030f9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7c3fc030f9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7c3fc030f9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7c3fc030f9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7c3fc030f9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7c3fc030f9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7c3fc030f9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7c3fc030f9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7c3fc030f9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7c3fc030f9_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7c3fc030f9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7c3fc030f9_1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7c3fc030f9_1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7c3fc030f9_1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7c3fc030f9_1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7c3fc030f9_1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7c3fc030f9_1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7c3fc030f9_1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7c3fc030f9_1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7c3fc030f9_1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7c3fc030f9_1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7c3fc030f9_1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37c3fc030f9_1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7c3fc030f9_1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37c3fc030f9_1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7c3fc030f9_1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37c3fc030f9_1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7c3fc030f9_1_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37c3fc030f9_1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7c3fc030f9_1_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37c3fc030f9_1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7c3fc030f9_1_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37c3fc030f9_1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5.gif"/><Relationship Id="rId5" Type="http://schemas.openxmlformats.org/officeDocument/2006/relationships/image" Target="../media/image4.gi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3.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1.gif"/><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2.png"/><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 Id="rId3" Type="http://schemas.openxmlformats.org/officeDocument/2006/relationships/image" Target="../media/image2.png"/><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0" y="2371650"/>
            <a:ext cx="9144000" cy="477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900">
                <a:latin typeface="Lexend"/>
                <a:ea typeface="Lexend"/>
                <a:cs typeface="Lexend"/>
                <a:sym typeface="Lexend"/>
              </a:rPr>
              <a:t>Handling Object Oriented Language Features during Compilation</a:t>
            </a:r>
            <a:endParaRPr b="1" sz="1900">
              <a:latin typeface="Lexend"/>
              <a:ea typeface="Lexend"/>
              <a:cs typeface="Lexend"/>
              <a:sym typeface="Lexend"/>
            </a:endParaRPr>
          </a:p>
        </p:txBody>
      </p:sp>
      <p:sp>
        <p:nvSpPr>
          <p:cNvPr id="55" name="Google Shape;55;p13"/>
          <p:cNvSpPr txBox="1"/>
          <p:nvPr/>
        </p:nvSpPr>
        <p:spPr>
          <a:xfrm>
            <a:off x="2282100" y="2752600"/>
            <a:ext cx="4579800" cy="587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dk1"/>
                </a:solidFill>
              </a:rPr>
              <a:t>Lecture</a:t>
            </a:r>
            <a:r>
              <a:rPr b="1" lang="en" sz="1800">
                <a:solidFill>
                  <a:schemeClr val="dk1"/>
                </a:solidFill>
              </a:rPr>
              <a:t> 17- 18</a:t>
            </a:r>
            <a:endParaRPr b="1" sz="1800">
              <a:solidFill>
                <a:schemeClr val="dk1"/>
              </a:solidFill>
            </a:endParaRPr>
          </a:p>
        </p:txBody>
      </p:sp>
      <p:sp>
        <p:nvSpPr>
          <p:cNvPr id="56" name="Google Shape;56;p13"/>
          <p:cNvSpPr txBox="1"/>
          <p:nvPr/>
        </p:nvSpPr>
        <p:spPr>
          <a:xfrm>
            <a:off x="6754650" y="4755900"/>
            <a:ext cx="2337000" cy="38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rPr>
              <a:t>Prepared By: Sukarna Sarker</a:t>
            </a:r>
            <a:endParaRPr b="1" sz="120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pic>
        <p:nvPicPr>
          <p:cNvPr id="61" name="Google Shape;61;p14"/>
          <p:cNvPicPr preferRelativeResize="0"/>
          <p:nvPr/>
        </p:nvPicPr>
        <p:blipFill rotWithShape="1">
          <a:blip r:embed="rId3">
            <a:alphaModFix/>
          </a:blip>
          <a:srcRect b="0" l="0" r="0" t="0"/>
          <a:stretch/>
        </p:blipFill>
        <p:spPr>
          <a:xfrm>
            <a:off x="8507451" y="76200"/>
            <a:ext cx="560349" cy="514126"/>
          </a:xfrm>
          <a:prstGeom prst="rect">
            <a:avLst/>
          </a:prstGeom>
          <a:noFill/>
          <a:ln>
            <a:noFill/>
          </a:ln>
        </p:spPr>
      </p:pic>
      <p:sp>
        <p:nvSpPr>
          <p:cNvPr id="62" name="Google Shape;62;p14"/>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0" i="0" lang="en" sz="1000" u="none" cap="none" strike="noStrike">
                <a:solidFill>
                  <a:srgbClr val="595959"/>
                </a:solidFill>
                <a:latin typeface="Arial"/>
                <a:ea typeface="Arial"/>
                <a:cs typeface="Arial"/>
                <a:sym typeface="Arial"/>
              </a:rPr>
              <a:t>‹#›</a:t>
            </a:fld>
            <a:endParaRPr b="0" i="0" sz="1000" u="none" cap="none" strike="noStrike">
              <a:solidFill>
                <a:srgbClr val="595959"/>
              </a:solidFill>
              <a:latin typeface="Arial"/>
              <a:ea typeface="Arial"/>
              <a:cs typeface="Arial"/>
              <a:sym typeface="Arial"/>
            </a:endParaRPr>
          </a:p>
        </p:txBody>
      </p:sp>
      <p:grpSp>
        <p:nvGrpSpPr>
          <p:cNvPr id="63" name="Google Shape;63;p14"/>
          <p:cNvGrpSpPr/>
          <p:nvPr/>
        </p:nvGrpSpPr>
        <p:grpSpPr>
          <a:xfrm>
            <a:off x="50480" y="122879"/>
            <a:ext cx="277873" cy="68400"/>
            <a:chOff x="411700" y="2416840"/>
            <a:chExt cx="277873" cy="68400"/>
          </a:xfrm>
        </p:grpSpPr>
        <p:sp>
          <p:nvSpPr>
            <p:cNvPr id="64" name="Google Shape;64;p14"/>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14"/>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14"/>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7" name="Google Shape;67;p14"/>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4F4F4F"/>
                </a:solidFill>
                <a:latin typeface="Lexend Light"/>
                <a:ea typeface="Lexend Light"/>
                <a:cs typeface="Lexend Light"/>
                <a:sym typeface="Lexend Light"/>
              </a:rPr>
              <a:t>Department of Computer Science and Engineering</a:t>
            </a:r>
            <a:endParaRPr b="1" i="0" sz="900" u="none" cap="none" strike="noStrike">
              <a:solidFill>
                <a:srgbClr val="4F4F4F"/>
              </a:solidFill>
              <a:latin typeface="Lexend"/>
              <a:ea typeface="Lexend"/>
              <a:cs typeface="Lexend"/>
              <a:sym typeface="Lexend"/>
            </a:endParaRPr>
          </a:p>
        </p:txBody>
      </p:sp>
      <p:sp>
        <p:nvSpPr>
          <p:cNvPr id="68" name="Google Shape;68;p14"/>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4F4F4F"/>
                </a:solidFill>
                <a:latin typeface="Lexend"/>
                <a:ea typeface="Lexend"/>
                <a:cs typeface="Lexend"/>
                <a:sym typeface="Lexend"/>
              </a:rPr>
              <a:t>CSE</a:t>
            </a:r>
            <a:r>
              <a:rPr b="1" lang="en" sz="900">
                <a:solidFill>
                  <a:srgbClr val="4F4F4F"/>
                </a:solidFill>
                <a:latin typeface="Lexend"/>
                <a:ea typeface="Lexend"/>
                <a:cs typeface="Lexend"/>
                <a:sym typeface="Lexend"/>
              </a:rPr>
              <a:t>420</a:t>
            </a:r>
            <a:r>
              <a:rPr b="1" i="0" lang="en" sz="900" u="none" cap="none" strike="noStrike">
                <a:solidFill>
                  <a:srgbClr val="4F4F4F"/>
                </a:solidFill>
                <a:latin typeface="Lexend"/>
                <a:ea typeface="Lexend"/>
                <a:cs typeface="Lexend"/>
                <a:sym typeface="Lexend"/>
              </a:rPr>
              <a:t> - </a:t>
            </a:r>
            <a:r>
              <a:rPr b="1" lang="en" sz="900">
                <a:solidFill>
                  <a:srgbClr val="4F4F4F"/>
                </a:solidFill>
                <a:latin typeface="Lexend"/>
                <a:ea typeface="Lexend"/>
                <a:cs typeface="Lexend"/>
                <a:sym typeface="Lexend"/>
              </a:rPr>
              <a:t>Compiler Design</a:t>
            </a:r>
            <a:endParaRPr b="0" i="0" sz="900" u="none" cap="none" strike="noStrike">
              <a:solidFill>
                <a:srgbClr val="4F4F4F"/>
              </a:solidFill>
              <a:latin typeface="Lexend"/>
              <a:ea typeface="Lexend"/>
              <a:cs typeface="Lexend"/>
              <a:sym typeface="Lexend"/>
            </a:endParaRPr>
          </a:p>
        </p:txBody>
      </p:sp>
      <p:sp>
        <p:nvSpPr>
          <p:cNvPr id="69" name="Google Shape;69;p14"/>
          <p:cNvSpPr txBox="1"/>
          <p:nvPr/>
        </p:nvSpPr>
        <p:spPr>
          <a:xfrm>
            <a:off x="263775" y="1421250"/>
            <a:ext cx="8441400" cy="110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Lexend"/>
              <a:ea typeface="Lexend"/>
              <a:cs typeface="Lexend"/>
              <a:sym typeface="Lexend"/>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Lexend"/>
              <a:ea typeface="Lexend"/>
              <a:cs typeface="Lexend"/>
              <a:sym typeface="Lexend"/>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Lexend"/>
              <a:ea typeface="Lexend"/>
              <a:cs typeface="Lexend"/>
              <a:sym typeface="Lexend"/>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Lexend"/>
              <a:ea typeface="Lexend"/>
              <a:cs typeface="Lexend"/>
              <a:sym typeface="Lexend"/>
            </a:endParaRPr>
          </a:p>
        </p:txBody>
      </p:sp>
      <p:sp>
        <p:nvSpPr>
          <p:cNvPr id="70" name="Google Shape;70;p14"/>
          <p:cNvSpPr txBox="1"/>
          <p:nvPr/>
        </p:nvSpPr>
        <p:spPr>
          <a:xfrm>
            <a:off x="18750" y="590325"/>
            <a:ext cx="9106500" cy="427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latin typeface="Lexend Medium"/>
                <a:ea typeface="Lexend Medium"/>
                <a:cs typeface="Lexend Medium"/>
                <a:sym typeface="Lexend Medium"/>
              </a:rPr>
              <a:t>From our knowledge of computer architecture, we can confidently say that modern computers are capable of arithmetic/logic operations, single-dimensional array access-like load/store from and to the memory, and jumping to a different instruction in the binary code conditionally/unconditionally. That is all there is in terms of the capability of machines. Using these features, conventional structural languages features are translated to machine code sequences as follows:</a:t>
            </a:r>
            <a:endParaRPr>
              <a:solidFill>
                <a:schemeClr val="dk1"/>
              </a:solidFill>
              <a:latin typeface="Lexend Medium"/>
              <a:ea typeface="Lexend Medium"/>
              <a:cs typeface="Lexend Medium"/>
              <a:sym typeface="Lexend Medium"/>
            </a:endParaRPr>
          </a:p>
          <a:p>
            <a:pPr indent="-317500" lvl="0" marL="457200" rtl="0" algn="l">
              <a:spcBef>
                <a:spcPts val="0"/>
              </a:spcBef>
              <a:spcAft>
                <a:spcPts val="0"/>
              </a:spcAft>
              <a:buClr>
                <a:schemeClr val="dk1"/>
              </a:buClr>
              <a:buSzPts val="1400"/>
              <a:buFont typeface="Lexend Medium"/>
              <a:buAutoNum type="arabicPeriod"/>
            </a:pPr>
            <a:r>
              <a:rPr lang="en">
                <a:solidFill>
                  <a:schemeClr val="dk1"/>
                </a:solidFill>
                <a:latin typeface="Lexend Medium"/>
                <a:ea typeface="Lexend Medium"/>
                <a:cs typeface="Lexend Medium"/>
                <a:sym typeface="Lexend Medium"/>
              </a:rPr>
              <a:t>Branching logic such as if-else blocks, and switch-cases are implemented using conditional and unconditional jumps.</a:t>
            </a:r>
            <a:endParaRPr>
              <a:solidFill>
                <a:schemeClr val="dk1"/>
              </a:solidFill>
              <a:latin typeface="Lexend Medium"/>
              <a:ea typeface="Lexend Medium"/>
              <a:cs typeface="Lexend Medium"/>
              <a:sym typeface="Lexend Medium"/>
            </a:endParaRPr>
          </a:p>
          <a:p>
            <a:pPr indent="-317500" lvl="0" marL="457200" rtl="0" algn="l">
              <a:spcBef>
                <a:spcPts val="0"/>
              </a:spcBef>
              <a:spcAft>
                <a:spcPts val="0"/>
              </a:spcAft>
              <a:buClr>
                <a:schemeClr val="dk1"/>
              </a:buClr>
              <a:buSzPts val="1400"/>
              <a:buFont typeface="Lexend Medium"/>
              <a:buAutoNum type="arabicPeriod"/>
            </a:pPr>
            <a:r>
              <a:rPr lang="en">
                <a:solidFill>
                  <a:schemeClr val="dk1"/>
                </a:solidFill>
                <a:latin typeface="Lexend Medium"/>
                <a:ea typeface="Lexend Medium"/>
                <a:cs typeface="Lexend Medium"/>
                <a:sym typeface="Lexend Medium"/>
              </a:rPr>
              <a:t>While and for loops are translated as code blocks just like branching code blocks with the exception that there is an unconditional jumping back to the beginning after the last instruction of the block.</a:t>
            </a:r>
            <a:endParaRPr>
              <a:solidFill>
                <a:schemeClr val="dk1"/>
              </a:solidFill>
              <a:latin typeface="Lexend Medium"/>
              <a:ea typeface="Lexend Medium"/>
              <a:cs typeface="Lexend Medium"/>
              <a:sym typeface="Lexend Medium"/>
            </a:endParaRPr>
          </a:p>
          <a:p>
            <a:pPr indent="-317500" lvl="0" marL="457200" rtl="0" algn="l">
              <a:spcBef>
                <a:spcPts val="0"/>
              </a:spcBef>
              <a:spcAft>
                <a:spcPts val="0"/>
              </a:spcAft>
              <a:buClr>
                <a:schemeClr val="dk1"/>
              </a:buClr>
              <a:buSzPts val="1400"/>
              <a:buFont typeface="Lexend Medium"/>
              <a:buAutoNum type="arabicPeriod"/>
            </a:pPr>
            <a:r>
              <a:rPr lang="en">
                <a:solidFill>
                  <a:schemeClr val="dk1"/>
                </a:solidFill>
                <a:latin typeface="Lexend Medium"/>
                <a:ea typeface="Lexend Medium"/>
                <a:cs typeface="Lexend Medium"/>
                <a:sym typeface="Lexend Medium"/>
              </a:rPr>
              <a:t>Function calls are also like jumping to a different location of the binary code where the instructions corresponding the function are stored. Here the difference is that, the compiler, inserts code to push the local variables, return address of the caller of the function in a stack segment of the program memory along with the function call parameters. When the function returns back to the caller using a special type of unconditional jump, the variables are restored from the stack.</a:t>
            </a:r>
            <a:endParaRPr>
              <a:solidFill>
                <a:schemeClr val="dk1"/>
              </a:solidFill>
              <a:latin typeface="Lexend Medium"/>
              <a:ea typeface="Lexend Medium"/>
              <a:cs typeface="Lexend Medium"/>
              <a:sym typeface="Lexend Medium"/>
            </a:endParaRPr>
          </a:p>
          <a:p>
            <a:pPr indent="-317500" lvl="0" marL="457200" rtl="0" algn="l">
              <a:spcBef>
                <a:spcPts val="0"/>
              </a:spcBef>
              <a:spcAft>
                <a:spcPts val="0"/>
              </a:spcAft>
              <a:buClr>
                <a:schemeClr val="dk1"/>
              </a:buClr>
              <a:buSzPts val="1400"/>
              <a:buFont typeface="Lexend Medium"/>
              <a:buAutoNum type="arabicPeriod"/>
            </a:pPr>
            <a:r>
              <a:rPr lang="en">
                <a:solidFill>
                  <a:schemeClr val="dk1"/>
                </a:solidFill>
                <a:latin typeface="Lexend Medium"/>
                <a:ea typeface="Lexend Medium"/>
                <a:cs typeface="Lexend Medium"/>
                <a:sym typeface="Lexend Medium"/>
              </a:rPr>
              <a:t>Multidimensional array accesses are translated into linear array index accesses using the array type information. Then simple load/store instructions are used.</a:t>
            </a:r>
            <a:endParaRPr>
              <a:solidFill>
                <a:schemeClr val="dk1"/>
              </a:solidFill>
              <a:latin typeface="Lexend Medium"/>
              <a:ea typeface="Lexend Medium"/>
              <a:cs typeface="Lexend Medium"/>
              <a:sym typeface="Lexend Medium"/>
            </a:endParaRPr>
          </a:p>
          <a:p>
            <a:pPr indent="0" lvl="0" marL="0" rtl="0" algn="l">
              <a:spcBef>
                <a:spcPts val="0"/>
              </a:spcBef>
              <a:spcAft>
                <a:spcPts val="0"/>
              </a:spcAft>
              <a:buClr>
                <a:schemeClr val="dk1"/>
              </a:buClr>
              <a:buSzPts val="1100"/>
              <a:buFont typeface="Arial"/>
              <a:buNone/>
            </a:pPr>
            <a:r>
              <a:t/>
            </a:r>
            <a:endParaRPr>
              <a:solidFill>
                <a:schemeClr val="dk1"/>
              </a:solidFill>
              <a:latin typeface="Lexend Medium"/>
              <a:ea typeface="Lexend Medium"/>
              <a:cs typeface="Lexend Medium"/>
              <a:sym typeface="Lexend Medium"/>
            </a:endParaRPr>
          </a:p>
          <a:p>
            <a:pPr indent="0" lvl="0" marL="0" rtl="0" algn="l">
              <a:spcBef>
                <a:spcPts val="0"/>
              </a:spcBef>
              <a:spcAft>
                <a:spcPts val="0"/>
              </a:spcAft>
              <a:buNone/>
            </a:pPr>
            <a:r>
              <a:t/>
            </a:r>
            <a:endParaRPr>
              <a:solidFill>
                <a:schemeClr val="dk1"/>
              </a:solidFill>
              <a:latin typeface="Lexend Medium"/>
              <a:ea typeface="Lexend Medium"/>
              <a:cs typeface="Lexend Medium"/>
              <a:sym typeface="Lexend Medium"/>
            </a:endParaRPr>
          </a:p>
        </p:txBody>
      </p:sp>
      <p:sp>
        <p:nvSpPr>
          <p:cNvPr id="71" name="Google Shape;71;p14"/>
          <p:cNvSpPr txBox="1"/>
          <p:nvPr/>
        </p:nvSpPr>
        <p:spPr>
          <a:xfrm>
            <a:off x="6754650" y="4755900"/>
            <a:ext cx="2337000" cy="38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rPr>
              <a:t>Prepared By: Sukarna Sarker</a:t>
            </a:r>
            <a:endParaRPr b="1" sz="12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pic>
        <p:nvPicPr>
          <p:cNvPr id="76" name="Google Shape;76;p15"/>
          <p:cNvPicPr preferRelativeResize="0"/>
          <p:nvPr/>
        </p:nvPicPr>
        <p:blipFill rotWithShape="1">
          <a:blip r:embed="rId3">
            <a:alphaModFix/>
          </a:blip>
          <a:srcRect b="0" l="0" r="0" t="0"/>
          <a:stretch/>
        </p:blipFill>
        <p:spPr>
          <a:xfrm>
            <a:off x="8507451" y="76200"/>
            <a:ext cx="560349" cy="514126"/>
          </a:xfrm>
          <a:prstGeom prst="rect">
            <a:avLst/>
          </a:prstGeom>
          <a:noFill/>
          <a:ln>
            <a:noFill/>
          </a:ln>
        </p:spPr>
      </p:pic>
      <p:sp>
        <p:nvSpPr>
          <p:cNvPr id="77" name="Google Shape;77;p15"/>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0" i="0" lang="en" sz="1000" u="none" cap="none" strike="noStrike">
                <a:solidFill>
                  <a:srgbClr val="595959"/>
                </a:solidFill>
                <a:latin typeface="Arial"/>
                <a:ea typeface="Arial"/>
                <a:cs typeface="Arial"/>
                <a:sym typeface="Arial"/>
              </a:rPr>
              <a:t>‹#›</a:t>
            </a:fld>
            <a:endParaRPr b="0" i="0" sz="1000" u="none" cap="none" strike="noStrike">
              <a:solidFill>
                <a:srgbClr val="595959"/>
              </a:solidFill>
              <a:latin typeface="Arial"/>
              <a:ea typeface="Arial"/>
              <a:cs typeface="Arial"/>
              <a:sym typeface="Arial"/>
            </a:endParaRPr>
          </a:p>
        </p:txBody>
      </p:sp>
      <p:grpSp>
        <p:nvGrpSpPr>
          <p:cNvPr id="78" name="Google Shape;78;p15"/>
          <p:cNvGrpSpPr/>
          <p:nvPr/>
        </p:nvGrpSpPr>
        <p:grpSpPr>
          <a:xfrm>
            <a:off x="50480" y="122879"/>
            <a:ext cx="277873" cy="68400"/>
            <a:chOff x="411700" y="2416840"/>
            <a:chExt cx="277873" cy="68400"/>
          </a:xfrm>
        </p:grpSpPr>
        <p:sp>
          <p:nvSpPr>
            <p:cNvPr id="79" name="Google Shape;79;p15"/>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15"/>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15"/>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2" name="Google Shape;82;p15"/>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4F4F4F"/>
                </a:solidFill>
                <a:latin typeface="Lexend Light"/>
                <a:ea typeface="Lexend Light"/>
                <a:cs typeface="Lexend Light"/>
                <a:sym typeface="Lexend Light"/>
              </a:rPr>
              <a:t>Department of Computer Science and Engineering</a:t>
            </a:r>
            <a:endParaRPr b="1" i="0" sz="900" u="none" cap="none" strike="noStrike">
              <a:solidFill>
                <a:srgbClr val="4F4F4F"/>
              </a:solidFill>
              <a:latin typeface="Lexend"/>
              <a:ea typeface="Lexend"/>
              <a:cs typeface="Lexend"/>
              <a:sym typeface="Lexend"/>
            </a:endParaRPr>
          </a:p>
        </p:txBody>
      </p:sp>
      <p:sp>
        <p:nvSpPr>
          <p:cNvPr id="83" name="Google Shape;83;p15"/>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4F4F4F"/>
                </a:solidFill>
                <a:latin typeface="Lexend"/>
                <a:ea typeface="Lexend"/>
                <a:cs typeface="Lexend"/>
                <a:sym typeface="Lexend"/>
              </a:rPr>
              <a:t>CSE</a:t>
            </a:r>
            <a:r>
              <a:rPr b="1" lang="en" sz="900">
                <a:solidFill>
                  <a:srgbClr val="4F4F4F"/>
                </a:solidFill>
                <a:latin typeface="Lexend"/>
                <a:ea typeface="Lexend"/>
                <a:cs typeface="Lexend"/>
                <a:sym typeface="Lexend"/>
              </a:rPr>
              <a:t>420</a:t>
            </a:r>
            <a:r>
              <a:rPr b="1" i="0" lang="en" sz="900" u="none" cap="none" strike="noStrike">
                <a:solidFill>
                  <a:srgbClr val="4F4F4F"/>
                </a:solidFill>
                <a:latin typeface="Lexend"/>
                <a:ea typeface="Lexend"/>
                <a:cs typeface="Lexend"/>
                <a:sym typeface="Lexend"/>
              </a:rPr>
              <a:t> - </a:t>
            </a:r>
            <a:r>
              <a:rPr b="1" lang="en" sz="900">
                <a:solidFill>
                  <a:srgbClr val="4F4F4F"/>
                </a:solidFill>
                <a:latin typeface="Lexend"/>
                <a:ea typeface="Lexend"/>
                <a:cs typeface="Lexend"/>
                <a:sym typeface="Lexend"/>
              </a:rPr>
              <a:t>Compiler Design</a:t>
            </a:r>
            <a:endParaRPr b="0" i="0" sz="900" u="none" cap="none" strike="noStrike">
              <a:solidFill>
                <a:srgbClr val="4F4F4F"/>
              </a:solidFill>
              <a:latin typeface="Lexend"/>
              <a:ea typeface="Lexend"/>
              <a:cs typeface="Lexend"/>
              <a:sym typeface="Lexend"/>
            </a:endParaRPr>
          </a:p>
        </p:txBody>
      </p:sp>
      <p:sp>
        <p:nvSpPr>
          <p:cNvPr id="84" name="Google Shape;84;p15"/>
          <p:cNvSpPr txBox="1"/>
          <p:nvPr/>
        </p:nvSpPr>
        <p:spPr>
          <a:xfrm>
            <a:off x="263775" y="1421250"/>
            <a:ext cx="8441400" cy="110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Lexend"/>
              <a:ea typeface="Lexend"/>
              <a:cs typeface="Lexend"/>
              <a:sym typeface="Lexend"/>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Lexend"/>
              <a:ea typeface="Lexend"/>
              <a:cs typeface="Lexend"/>
              <a:sym typeface="Lexend"/>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Lexend"/>
              <a:ea typeface="Lexend"/>
              <a:cs typeface="Lexend"/>
              <a:sym typeface="Lexend"/>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Lexend"/>
              <a:ea typeface="Lexend"/>
              <a:cs typeface="Lexend"/>
              <a:sym typeface="Lexend"/>
            </a:endParaRPr>
          </a:p>
        </p:txBody>
      </p:sp>
      <p:sp>
        <p:nvSpPr>
          <p:cNvPr id="85" name="Google Shape;85;p15"/>
          <p:cNvSpPr txBox="1"/>
          <p:nvPr/>
        </p:nvSpPr>
        <p:spPr>
          <a:xfrm>
            <a:off x="18750" y="291700"/>
            <a:ext cx="9106500" cy="427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Lexend Medium"/>
              <a:ea typeface="Lexend Medium"/>
              <a:cs typeface="Lexend Medium"/>
              <a:sym typeface="Lexend Medium"/>
            </a:endParaRPr>
          </a:p>
          <a:p>
            <a:pPr indent="-317500" lvl="0" marL="457200" rtl="0" algn="l">
              <a:spcBef>
                <a:spcPts val="0"/>
              </a:spcBef>
              <a:spcAft>
                <a:spcPts val="0"/>
              </a:spcAft>
              <a:buClr>
                <a:schemeClr val="dk1"/>
              </a:buClr>
              <a:buSzPts val="1400"/>
              <a:buFont typeface="Lexend Medium"/>
              <a:buAutoNum type="arabicPeriod"/>
            </a:pPr>
            <a:r>
              <a:rPr lang="en">
                <a:solidFill>
                  <a:schemeClr val="dk1"/>
                </a:solidFill>
                <a:latin typeface="Lexend Medium"/>
                <a:ea typeface="Lexend Medium"/>
                <a:cs typeface="Lexend Medium"/>
                <a:sym typeface="Lexend Medium"/>
              </a:rPr>
              <a:t>Branching logic such as if-else blocks, and switch-cases are implemented using conditional and unconditional jumps.</a:t>
            </a:r>
            <a:endParaRPr>
              <a:solidFill>
                <a:schemeClr val="dk1"/>
              </a:solidFill>
              <a:latin typeface="Lexend Medium"/>
              <a:ea typeface="Lexend Medium"/>
              <a:cs typeface="Lexend Medium"/>
              <a:sym typeface="Lexend Medium"/>
            </a:endParaRPr>
          </a:p>
          <a:p>
            <a:pPr indent="0" lvl="0" marL="0" rtl="0" algn="l">
              <a:spcBef>
                <a:spcPts val="0"/>
              </a:spcBef>
              <a:spcAft>
                <a:spcPts val="0"/>
              </a:spcAft>
              <a:buNone/>
            </a:pPr>
            <a:r>
              <a:t/>
            </a:r>
            <a:endParaRPr>
              <a:solidFill>
                <a:schemeClr val="dk1"/>
              </a:solidFill>
              <a:latin typeface="Lexend Medium"/>
              <a:ea typeface="Lexend Medium"/>
              <a:cs typeface="Lexend Medium"/>
              <a:sym typeface="Lexend Medium"/>
            </a:endParaRPr>
          </a:p>
          <a:p>
            <a:pPr indent="0" lvl="0" marL="0" rtl="0" algn="l">
              <a:spcBef>
                <a:spcPts val="0"/>
              </a:spcBef>
              <a:spcAft>
                <a:spcPts val="0"/>
              </a:spcAft>
              <a:buNone/>
            </a:pPr>
            <a:r>
              <a:t/>
            </a:r>
            <a:endParaRPr>
              <a:solidFill>
                <a:schemeClr val="dk1"/>
              </a:solidFill>
              <a:latin typeface="Lexend Medium"/>
              <a:ea typeface="Lexend Medium"/>
              <a:cs typeface="Lexend Medium"/>
              <a:sym typeface="Lexend Medium"/>
            </a:endParaRPr>
          </a:p>
        </p:txBody>
      </p:sp>
      <p:pic>
        <p:nvPicPr>
          <p:cNvPr id="86" name="Google Shape;86;p15" title="branching.gif"/>
          <p:cNvPicPr preferRelativeResize="0"/>
          <p:nvPr/>
        </p:nvPicPr>
        <p:blipFill>
          <a:blip r:embed="rId4">
            <a:alphaModFix/>
          </a:blip>
          <a:stretch>
            <a:fillRect/>
          </a:stretch>
        </p:blipFill>
        <p:spPr>
          <a:xfrm>
            <a:off x="488558" y="1334725"/>
            <a:ext cx="3905225" cy="3124200"/>
          </a:xfrm>
          <a:prstGeom prst="rect">
            <a:avLst/>
          </a:prstGeom>
          <a:noFill/>
          <a:ln>
            <a:noFill/>
          </a:ln>
        </p:spPr>
      </p:pic>
      <p:pic>
        <p:nvPicPr>
          <p:cNvPr id="87" name="Google Shape;87;p15" title="switch_case.gif"/>
          <p:cNvPicPr preferRelativeResize="0"/>
          <p:nvPr/>
        </p:nvPicPr>
        <p:blipFill>
          <a:blip r:embed="rId5">
            <a:alphaModFix/>
          </a:blip>
          <a:stretch>
            <a:fillRect/>
          </a:stretch>
        </p:blipFill>
        <p:spPr>
          <a:xfrm>
            <a:off x="4393775" y="1334725"/>
            <a:ext cx="3852276" cy="2568176"/>
          </a:xfrm>
          <a:prstGeom prst="rect">
            <a:avLst/>
          </a:prstGeom>
          <a:noFill/>
          <a:ln>
            <a:noFill/>
          </a:ln>
        </p:spPr>
      </p:pic>
      <p:sp>
        <p:nvSpPr>
          <p:cNvPr id="88" name="Google Shape;88;p15"/>
          <p:cNvSpPr txBox="1"/>
          <p:nvPr/>
        </p:nvSpPr>
        <p:spPr>
          <a:xfrm>
            <a:off x="6754650" y="4755900"/>
            <a:ext cx="2337000" cy="38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rPr>
              <a:t>Prepared By: Sukarna Sarker</a:t>
            </a:r>
            <a:endParaRPr b="1" sz="12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pic>
        <p:nvPicPr>
          <p:cNvPr id="93" name="Google Shape;93;p16"/>
          <p:cNvPicPr preferRelativeResize="0"/>
          <p:nvPr/>
        </p:nvPicPr>
        <p:blipFill rotWithShape="1">
          <a:blip r:embed="rId3">
            <a:alphaModFix/>
          </a:blip>
          <a:srcRect b="0" l="0" r="0" t="0"/>
          <a:stretch/>
        </p:blipFill>
        <p:spPr>
          <a:xfrm>
            <a:off x="8507451" y="76200"/>
            <a:ext cx="560349" cy="514126"/>
          </a:xfrm>
          <a:prstGeom prst="rect">
            <a:avLst/>
          </a:prstGeom>
          <a:noFill/>
          <a:ln>
            <a:noFill/>
          </a:ln>
        </p:spPr>
      </p:pic>
      <p:sp>
        <p:nvSpPr>
          <p:cNvPr id="94" name="Google Shape;94;p16"/>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0" i="0" lang="en" sz="1000" u="none" cap="none" strike="noStrike">
                <a:solidFill>
                  <a:srgbClr val="595959"/>
                </a:solidFill>
                <a:latin typeface="Arial"/>
                <a:ea typeface="Arial"/>
                <a:cs typeface="Arial"/>
                <a:sym typeface="Arial"/>
              </a:rPr>
              <a:t>‹#›</a:t>
            </a:fld>
            <a:endParaRPr b="0" i="0" sz="1000" u="none" cap="none" strike="noStrike">
              <a:solidFill>
                <a:srgbClr val="595959"/>
              </a:solidFill>
              <a:latin typeface="Arial"/>
              <a:ea typeface="Arial"/>
              <a:cs typeface="Arial"/>
              <a:sym typeface="Arial"/>
            </a:endParaRPr>
          </a:p>
        </p:txBody>
      </p:sp>
      <p:grpSp>
        <p:nvGrpSpPr>
          <p:cNvPr id="95" name="Google Shape;95;p16"/>
          <p:cNvGrpSpPr/>
          <p:nvPr/>
        </p:nvGrpSpPr>
        <p:grpSpPr>
          <a:xfrm>
            <a:off x="50480" y="122879"/>
            <a:ext cx="277873" cy="68400"/>
            <a:chOff x="411700" y="2416840"/>
            <a:chExt cx="277873" cy="68400"/>
          </a:xfrm>
        </p:grpSpPr>
        <p:sp>
          <p:nvSpPr>
            <p:cNvPr id="96" name="Google Shape;96;p16"/>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16"/>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16"/>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9" name="Google Shape;99;p16"/>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4F4F4F"/>
                </a:solidFill>
                <a:latin typeface="Lexend Light"/>
                <a:ea typeface="Lexend Light"/>
                <a:cs typeface="Lexend Light"/>
                <a:sym typeface="Lexend Light"/>
              </a:rPr>
              <a:t>Department of Computer Science and Engineering</a:t>
            </a:r>
            <a:endParaRPr b="1" i="0" sz="900" u="none" cap="none" strike="noStrike">
              <a:solidFill>
                <a:srgbClr val="4F4F4F"/>
              </a:solidFill>
              <a:latin typeface="Lexend"/>
              <a:ea typeface="Lexend"/>
              <a:cs typeface="Lexend"/>
              <a:sym typeface="Lexend"/>
            </a:endParaRPr>
          </a:p>
        </p:txBody>
      </p:sp>
      <p:sp>
        <p:nvSpPr>
          <p:cNvPr id="100" name="Google Shape;100;p16"/>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4F4F4F"/>
                </a:solidFill>
                <a:latin typeface="Lexend"/>
                <a:ea typeface="Lexend"/>
                <a:cs typeface="Lexend"/>
                <a:sym typeface="Lexend"/>
              </a:rPr>
              <a:t>CSE</a:t>
            </a:r>
            <a:r>
              <a:rPr b="1" lang="en" sz="900">
                <a:solidFill>
                  <a:srgbClr val="4F4F4F"/>
                </a:solidFill>
                <a:latin typeface="Lexend"/>
                <a:ea typeface="Lexend"/>
                <a:cs typeface="Lexend"/>
                <a:sym typeface="Lexend"/>
              </a:rPr>
              <a:t>420</a:t>
            </a:r>
            <a:r>
              <a:rPr b="1" i="0" lang="en" sz="900" u="none" cap="none" strike="noStrike">
                <a:solidFill>
                  <a:srgbClr val="4F4F4F"/>
                </a:solidFill>
                <a:latin typeface="Lexend"/>
                <a:ea typeface="Lexend"/>
                <a:cs typeface="Lexend"/>
                <a:sym typeface="Lexend"/>
              </a:rPr>
              <a:t> - </a:t>
            </a:r>
            <a:r>
              <a:rPr b="1" lang="en" sz="900">
                <a:solidFill>
                  <a:srgbClr val="4F4F4F"/>
                </a:solidFill>
                <a:latin typeface="Lexend"/>
                <a:ea typeface="Lexend"/>
                <a:cs typeface="Lexend"/>
                <a:sym typeface="Lexend"/>
              </a:rPr>
              <a:t>Compiler Design</a:t>
            </a:r>
            <a:endParaRPr b="0" i="0" sz="900" u="none" cap="none" strike="noStrike">
              <a:solidFill>
                <a:srgbClr val="4F4F4F"/>
              </a:solidFill>
              <a:latin typeface="Lexend"/>
              <a:ea typeface="Lexend"/>
              <a:cs typeface="Lexend"/>
              <a:sym typeface="Lexend"/>
            </a:endParaRPr>
          </a:p>
        </p:txBody>
      </p:sp>
      <p:sp>
        <p:nvSpPr>
          <p:cNvPr id="101" name="Google Shape;101;p16"/>
          <p:cNvSpPr txBox="1"/>
          <p:nvPr/>
        </p:nvSpPr>
        <p:spPr>
          <a:xfrm>
            <a:off x="263775" y="1421250"/>
            <a:ext cx="8441400" cy="110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Lexend"/>
              <a:ea typeface="Lexend"/>
              <a:cs typeface="Lexend"/>
              <a:sym typeface="Lexend"/>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Lexend"/>
              <a:ea typeface="Lexend"/>
              <a:cs typeface="Lexend"/>
              <a:sym typeface="Lexend"/>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Lexend"/>
              <a:ea typeface="Lexend"/>
              <a:cs typeface="Lexend"/>
              <a:sym typeface="Lexend"/>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Lexend"/>
              <a:ea typeface="Lexend"/>
              <a:cs typeface="Lexend"/>
              <a:sym typeface="Lexend"/>
            </a:endParaRPr>
          </a:p>
        </p:txBody>
      </p:sp>
      <p:sp>
        <p:nvSpPr>
          <p:cNvPr id="102" name="Google Shape;102;p16"/>
          <p:cNvSpPr txBox="1"/>
          <p:nvPr/>
        </p:nvSpPr>
        <p:spPr>
          <a:xfrm>
            <a:off x="18750" y="291700"/>
            <a:ext cx="9106500" cy="427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Lexend Medium"/>
              <a:ea typeface="Lexend Medium"/>
              <a:cs typeface="Lexend Medium"/>
              <a:sym typeface="Lexend Medium"/>
            </a:endParaRPr>
          </a:p>
          <a:p>
            <a:pPr indent="-317500" lvl="0" marL="457200" rtl="0" algn="l">
              <a:spcBef>
                <a:spcPts val="0"/>
              </a:spcBef>
              <a:spcAft>
                <a:spcPts val="0"/>
              </a:spcAft>
              <a:buClr>
                <a:schemeClr val="lt1"/>
              </a:buClr>
              <a:buSzPts val="1400"/>
              <a:buFont typeface="Lexend Medium"/>
              <a:buAutoNum type="arabicPeriod"/>
            </a:pPr>
            <a:r>
              <a:t/>
            </a:r>
            <a:endParaRPr>
              <a:solidFill>
                <a:schemeClr val="dk1"/>
              </a:solidFill>
              <a:latin typeface="Lexend Medium"/>
              <a:ea typeface="Lexend Medium"/>
              <a:cs typeface="Lexend Medium"/>
              <a:sym typeface="Lexend Medium"/>
            </a:endParaRPr>
          </a:p>
          <a:p>
            <a:pPr indent="-317500" lvl="0" marL="457200" rtl="0" algn="l">
              <a:spcBef>
                <a:spcPts val="0"/>
              </a:spcBef>
              <a:spcAft>
                <a:spcPts val="0"/>
              </a:spcAft>
              <a:buClr>
                <a:schemeClr val="dk1"/>
              </a:buClr>
              <a:buSzPts val="1400"/>
              <a:buFont typeface="Lexend Medium"/>
              <a:buAutoNum type="arabicPeriod"/>
            </a:pPr>
            <a:r>
              <a:rPr lang="en">
                <a:solidFill>
                  <a:schemeClr val="dk1"/>
                </a:solidFill>
                <a:latin typeface="Lexend Medium"/>
                <a:ea typeface="Lexend Medium"/>
                <a:cs typeface="Lexend Medium"/>
                <a:sym typeface="Lexend Medium"/>
              </a:rPr>
              <a:t>While and for loops are translated as code blocks just like branching code blocks with the exception that there is an unconditional jumping back to the beginning after the last instruction of the block.</a:t>
            </a:r>
            <a:endParaRPr>
              <a:solidFill>
                <a:schemeClr val="dk1"/>
              </a:solidFill>
              <a:latin typeface="Lexend Medium"/>
              <a:ea typeface="Lexend Medium"/>
              <a:cs typeface="Lexend Medium"/>
              <a:sym typeface="Lexend Medium"/>
            </a:endParaRPr>
          </a:p>
          <a:p>
            <a:pPr indent="0" lvl="0" marL="0" rtl="0" algn="l">
              <a:spcBef>
                <a:spcPts val="0"/>
              </a:spcBef>
              <a:spcAft>
                <a:spcPts val="0"/>
              </a:spcAft>
              <a:buNone/>
            </a:pPr>
            <a:r>
              <a:t/>
            </a:r>
            <a:endParaRPr>
              <a:solidFill>
                <a:schemeClr val="dk1"/>
              </a:solidFill>
              <a:latin typeface="Lexend Medium"/>
              <a:ea typeface="Lexend Medium"/>
              <a:cs typeface="Lexend Medium"/>
              <a:sym typeface="Lexend Medium"/>
            </a:endParaRPr>
          </a:p>
          <a:p>
            <a:pPr indent="0" lvl="0" marL="0" rtl="0" algn="l">
              <a:spcBef>
                <a:spcPts val="0"/>
              </a:spcBef>
              <a:spcAft>
                <a:spcPts val="0"/>
              </a:spcAft>
              <a:buNone/>
            </a:pPr>
            <a:r>
              <a:t/>
            </a:r>
            <a:endParaRPr>
              <a:solidFill>
                <a:schemeClr val="dk1"/>
              </a:solidFill>
              <a:latin typeface="Lexend Medium"/>
              <a:ea typeface="Lexend Medium"/>
              <a:cs typeface="Lexend Medium"/>
              <a:sym typeface="Lexend Medium"/>
            </a:endParaRPr>
          </a:p>
        </p:txBody>
      </p:sp>
      <p:pic>
        <p:nvPicPr>
          <p:cNvPr id="103" name="Google Shape;103;p16" title="loop_with_jumpB_and_uncondA.gif"/>
          <p:cNvPicPr preferRelativeResize="0"/>
          <p:nvPr/>
        </p:nvPicPr>
        <p:blipFill>
          <a:blip r:embed="rId4">
            <a:alphaModFix/>
          </a:blip>
          <a:stretch>
            <a:fillRect/>
          </a:stretch>
        </p:blipFill>
        <p:spPr>
          <a:xfrm>
            <a:off x="2102625" y="1362550"/>
            <a:ext cx="4919905" cy="3514250"/>
          </a:xfrm>
          <a:prstGeom prst="rect">
            <a:avLst/>
          </a:prstGeom>
          <a:noFill/>
          <a:ln>
            <a:noFill/>
          </a:ln>
        </p:spPr>
      </p:pic>
      <p:sp>
        <p:nvSpPr>
          <p:cNvPr id="104" name="Google Shape;104;p16"/>
          <p:cNvSpPr txBox="1"/>
          <p:nvPr/>
        </p:nvSpPr>
        <p:spPr>
          <a:xfrm>
            <a:off x="6754650" y="4755900"/>
            <a:ext cx="2337000" cy="38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rPr>
              <a:t>Prepared By: Sukarna Sarker</a:t>
            </a:r>
            <a:endParaRPr b="1" sz="12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id="109" name="Google Shape;109;p17"/>
          <p:cNvPicPr preferRelativeResize="0"/>
          <p:nvPr/>
        </p:nvPicPr>
        <p:blipFill rotWithShape="1">
          <a:blip r:embed="rId3">
            <a:alphaModFix/>
          </a:blip>
          <a:srcRect b="0" l="0" r="0" t="0"/>
          <a:stretch/>
        </p:blipFill>
        <p:spPr>
          <a:xfrm>
            <a:off x="8507451" y="76200"/>
            <a:ext cx="560349" cy="514126"/>
          </a:xfrm>
          <a:prstGeom prst="rect">
            <a:avLst/>
          </a:prstGeom>
          <a:noFill/>
          <a:ln>
            <a:noFill/>
          </a:ln>
        </p:spPr>
      </p:pic>
      <p:sp>
        <p:nvSpPr>
          <p:cNvPr id="110" name="Google Shape;110;p17"/>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0" i="0" lang="en" sz="1000" u="none" cap="none" strike="noStrike">
                <a:solidFill>
                  <a:srgbClr val="595959"/>
                </a:solidFill>
                <a:latin typeface="Arial"/>
                <a:ea typeface="Arial"/>
                <a:cs typeface="Arial"/>
                <a:sym typeface="Arial"/>
              </a:rPr>
              <a:t>‹#›</a:t>
            </a:fld>
            <a:endParaRPr b="0" i="0" sz="1000" u="none" cap="none" strike="noStrike">
              <a:solidFill>
                <a:srgbClr val="595959"/>
              </a:solidFill>
              <a:latin typeface="Arial"/>
              <a:ea typeface="Arial"/>
              <a:cs typeface="Arial"/>
              <a:sym typeface="Arial"/>
            </a:endParaRPr>
          </a:p>
        </p:txBody>
      </p:sp>
      <p:grpSp>
        <p:nvGrpSpPr>
          <p:cNvPr id="111" name="Google Shape;111;p17"/>
          <p:cNvGrpSpPr/>
          <p:nvPr/>
        </p:nvGrpSpPr>
        <p:grpSpPr>
          <a:xfrm>
            <a:off x="50480" y="122879"/>
            <a:ext cx="277873" cy="68400"/>
            <a:chOff x="411700" y="2416840"/>
            <a:chExt cx="277873" cy="68400"/>
          </a:xfrm>
        </p:grpSpPr>
        <p:sp>
          <p:nvSpPr>
            <p:cNvPr id="112" name="Google Shape;112;p17"/>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17"/>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17"/>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5" name="Google Shape;115;p17"/>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4F4F4F"/>
                </a:solidFill>
                <a:latin typeface="Lexend Light"/>
                <a:ea typeface="Lexend Light"/>
                <a:cs typeface="Lexend Light"/>
                <a:sym typeface="Lexend Light"/>
              </a:rPr>
              <a:t>Department of Computer Science and Engineering</a:t>
            </a:r>
            <a:endParaRPr b="1" i="0" sz="900" u="none" cap="none" strike="noStrike">
              <a:solidFill>
                <a:srgbClr val="4F4F4F"/>
              </a:solidFill>
              <a:latin typeface="Lexend"/>
              <a:ea typeface="Lexend"/>
              <a:cs typeface="Lexend"/>
              <a:sym typeface="Lexend"/>
            </a:endParaRPr>
          </a:p>
        </p:txBody>
      </p:sp>
      <p:sp>
        <p:nvSpPr>
          <p:cNvPr id="116" name="Google Shape;116;p17"/>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4F4F4F"/>
                </a:solidFill>
                <a:latin typeface="Lexend"/>
                <a:ea typeface="Lexend"/>
                <a:cs typeface="Lexend"/>
                <a:sym typeface="Lexend"/>
              </a:rPr>
              <a:t>CSE</a:t>
            </a:r>
            <a:r>
              <a:rPr b="1" lang="en" sz="900">
                <a:solidFill>
                  <a:srgbClr val="4F4F4F"/>
                </a:solidFill>
                <a:latin typeface="Lexend"/>
                <a:ea typeface="Lexend"/>
                <a:cs typeface="Lexend"/>
                <a:sym typeface="Lexend"/>
              </a:rPr>
              <a:t>420</a:t>
            </a:r>
            <a:r>
              <a:rPr b="1" i="0" lang="en" sz="900" u="none" cap="none" strike="noStrike">
                <a:solidFill>
                  <a:srgbClr val="4F4F4F"/>
                </a:solidFill>
                <a:latin typeface="Lexend"/>
                <a:ea typeface="Lexend"/>
                <a:cs typeface="Lexend"/>
                <a:sym typeface="Lexend"/>
              </a:rPr>
              <a:t> - </a:t>
            </a:r>
            <a:r>
              <a:rPr b="1" lang="en" sz="900">
                <a:solidFill>
                  <a:srgbClr val="4F4F4F"/>
                </a:solidFill>
                <a:latin typeface="Lexend"/>
                <a:ea typeface="Lexend"/>
                <a:cs typeface="Lexend"/>
                <a:sym typeface="Lexend"/>
              </a:rPr>
              <a:t>Compiler Design</a:t>
            </a:r>
            <a:endParaRPr b="0" i="0" sz="900" u="none" cap="none" strike="noStrike">
              <a:solidFill>
                <a:srgbClr val="4F4F4F"/>
              </a:solidFill>
              <a:latin typeface="Lexend"/>
              <a:ea typeface="Lexend"/>
              <a:cs typeface="Lexend"/>
              <a:sym typeface="Lexend"/>
            </a:endParaRPr>
          </a:p>
        </p:txBody>
      </p:sp>
      <p:sp>
        <p:nvSpPr>
          <p:cNvPr id="117" name="Google Shape;117;p17"/>
          <p:cNvSpPr txBox="1"/>
          <p:nvPr/>
        </p:nvSpPr>
        <p:spPr>
          <a:xfrm>
            <a:off x="263775" y="1421250"/>
            <a:ext cx="8441400" cy="110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Lexend"/>
              <a:ea typeface="Lexend"/>
              <a:cs typeface="Lexend"/>
              <a:sym typeface="Lexend"/>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Lexend"/>
              <a:ea typeface="Lexend"/>
              <a:cs typeface="Lexend"/>
              <a:sym typeface="Lexend"/>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Lexend"/>
              <a:ea typeface="Lexend"/>
              <a:cs typeface="Lexend"/>
              <a:sym typeface="Lexend"/>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Lexend"/>
              <a:ea typeface="Lexend"/>
              <a:cs typeface="Lexend"/>
              <a:sym typeface="Lexend"/>
            </a:endParaRPr>
          </a:p>
        </p:txBody>
      </p:sp>
      <p:sp>
        <p:nvSpPr>
          <p:cNvPr id="118" name="Google Shape;118;p17"/>
          <p:cNvSpPr txBox="1"/>
          <p:nvPr/>
        </p:nvSpPr>
        <p:spPr>
          <a:xfrm>
            <a:off x="18750" y="-89750"/>
            <a:ext cx="9106500" cy="427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Lexend Medium"/>
              <a:ea typeface="Lexend Medium"/>
              <a:cs typeface="Lexend Medium"/>
              <a:sym typeface="Lexend Medium"/>
            </a:endParaRPr>
          </a:p>
          <a:p>
            <a:pPr indent="-317500" lvl="0" marL="457200" rtl="0" algn="l">
              <a:spcBef>
                <a:spcPts val="0"/>
              </a:spcBef>
              <a:spcAft>
                <a:spcPts val="0"/>
              </a:spcAft>
              <a:buClr>
                <a:schemeClr val="lt1"/>
              </a:buClr>
              <a:buSzPts val="1400"/>
              <a:buFont typeface="Lexend Medium"/>
              <a:buAutoNum type="arabicPeriod"/>
            </a:pPr>
            <a:r>
              <a:t/>
            </a:r>
            <a:endParaRPr>
              <a:solidFill>
                <a:schemeClr val="dk1"/>
              </a:solidFill>
              <a:latin typeface="Lexend Medium"/>
              <a:ea typeface="Lexend Medium"/>
              <a:cs typeface="Lexend Medium"/>
              <a:sym typeface="Lexend Medium"/>
            </a:endParaRPr>
          </a:p>
          <a:p>
            <a:pPr indent="-317500" lvl="0" marL="457200" rtl="0" algn="l">
              <a:spcBef>
                <a:spcPts val="0"/>
              </a:spcBef>
              <a:spcAft>
                <a:spcPts val="0"/>
              </a:spcAft>
              <a:buClr>
                <a:schemeClr val="lt1"/>
              </a:buClr>
              <a:buSzPts val="1400"/>
              <a:buFont typeface="Lexend Medium"/>
              <a:buAutoNum type="arabicPeriod"/>
            </a:pPr>
            <a:r>
              <a:t/>
            </a:r>
            <a:endParaRPr>
              <a:solidFill>
                <a:schemeClr val="dk1"/>
              </a:solidFill>
              <a:latin typeface="Lexend Medium"/>
              <a:ea typeface="Lexend Medium"/>
              <a:cs typeface="Lexend Medium"/>
              <a:sym typeface="Lexend Medium"/>
            </a:endParaRPr>
          </a:p>
          <a:p>
            <a:pPr indent="-317500" lvl="0" marL="457200" rtl="0" algn="l">
              <a:spcBef>
                <a:spcPts val="0"/>
              </a:spcBef>
              <a:spcAft>
                <a:spcPts val="0"/>
              </a:spcAft>
              <a:buClr>
                <a:schemeClr val="dk1"/>
              </a:buClr>
              <a:buSzPts val="1400"/>
              <a:buFont typeface="Lexend Medium"/>
              <a:buAutoNum type="arabicPeriod"/>
            </a:pPr>
            <a:r>
              <a:rPr lang="en">
                <a:solidFill>
                  <a:schemeClr val="dk1"/>
                </a:solidFill>
                <a:latin typeface="Lexend Medium"/>
                <a:ea typeface="Lexend Medium"/>
                <a:cs typeface="Lexend Medium"/>
                <a:sym typeface="Lexend Medium"/>
              </a:rPr>
              <a:t>Function calls are also like jumping to a different location of the binary code where the instructions corresponding the function are stored. Here the difference is that, the compiler, inserts code to push the local variables, return address of the caller of the function in a stack segment of the program memory along with the function call parameters. When the function returns back to the caller using a special type of unconditional jump, the variables are restored from the stack.</a:t>
            </a:r>
            <a:endParaRPr>
              <a:solidFill>
                <a:schemeClr val="dk1"/>
              </a:solidFill>
              <a:latin typeface="Lexend Medium"/>
              <a:ea typeface="Lexend Medium"/>
              <a:cs typeface="Lexend Medium"/>
              <a:sym typeface="Lexend Medium"/>
            </a:endParaRPr>
          </a:p>
          <a:p>
            <a:pPr indent="0" lvl="0" marL="0" rtl="0" algn="l">
              <a:spcBef>
                <a:spcPts val="0"/>
              </a:spcBef>
              <a:spcAft>
                <a:spcPts val="0"/>
              </a:spcAft>
              <a:buNone/>
            </a:pPr>
            <a:r>
              <a:t/>
            </a:r>
            <a:endParaRPr>
              <a:solidFill>
                <a:schemeClr val="dk1"/>
              </a:solidFill>
              <a:latin typeface="Lexend Medium"/>
              <a:ea typeface="Lexend Medium"/>
              <a:cs typeface="Lexend Medium"/>
              <a:sym typeface="Lexend Medium"/>
            </a:endParaRPr>
          </a:p>
          <a:p>
            <a:pPr indent="0" lvl="0" marL="0" rtl="0" algn="l">
              <a:spcBef>
                <a:spcPts val="0"/>
              </a:spcBef>
              <a:spcAft>
                <a:spcPts val="0"/>
              </a:spcAft>
              <a:buNone/>
            </a:pPr>
            <a:r>
              <a:t/>
            </a:r>
            <a:endParaRPr>
              <a:solidFill>
                <a:schemeClr val="dk1"/>
              </a:solidFill>
              <a:latin typeface="Lexend Medium"/>
              <a:ea typeface="Lexend Medium"/>
              <a:cs typeface="Lexend Medium"/>
              <a:sym typeface="Lexend Medium"/>
            </a:endParaRPr>
          </a:p>
        </p:txBody>
      </p:sp>
      <p:sp>
        <p:nvSpPr>
          <p:cNvPr id="119" name="Google Shape;119;p17"/>
          <p:cNvSpPr txBox="1"/>
          <p:nvPr/>
        </p:nvSpPr>
        <p:spPr>
          <a:xfrm>
            <a:off x="6754650" y="4755900"/>
            <a:ext cx="2337000" cy="38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rPr>
              <a:t>Prepared By: Sukarna Sarker</a:t>
            </a:r>
            <a:endParaRPr b="1" sz="12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p18" title="array_load_store_steps_clean.gif"/>
          <p:cNvPicPr preferRelativeResize="0"/>
          <p:nvPr/>
        </p:nvPicPr>
        <p:blipFill>
          <a:blip r:embed="rId3">
            <a:alphaModFix/>
          </a:blip>
          <a:stretch>
            <a:fillRect/>
          </a:stretch>
        </p:blipFill>
        <p:spPr>
          <a:xfrm>
            <a:off x="-497975" y="935850"/>
            <a:ext cx="6899487" cy="4271101"/>
          </a:xfrm>
          <a:prstGeom prst="rect">
            <a:avLst/>
          </a:prstGeom>
          <a:noFill/>
          <a:ln>
            <a:noFill/>
          </a:ln>
        </p:spPr>
      </p:pic>
      <p:pic>
        <p:nvPicPr>
          <p:cNvPr id="125" name="Google Shape;125;p18"/>
          <p:cNvPicPr preferRelativeResize="0"/>
          <p:nvPr/>
        </p:nvPicPr>
        <p:blipFill rotWithShape="1">
          <a:blip r:embed="rId4">
            <a:alphaModFix/>
          </a:blip>
          <a:srcRect b="0" l="0" r="0" t="0"/>
          <a:stretch/>
        </p:blipFill>
        <p:spPr>
          <a:xfrm>
            <a:off x="8507451" y="76200"/>
            <a:ext cx="560349" cy="514126"/>
          </a:xfrm>
          <a:prstGeom prst="rect">
            <a:avLst/>
          </a:prstGeom>
          <a:noFill/>
          <a:ln>
            <a:noFill/>
          </a:ln>
        </p:spPr>
      </p:pic>
      <p:sp>
        <p:nvSpPr>
          <p:cNvPr id="126" name="Google Shape;126;p18"/>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0" i="0" lang="en" sz="1000" u="none" cap="none" strike="noStrike">
                <a:solidFill>
                  <a:srgbClr val="595959"/>
                </a:solidFill>
                <a:latin typeface="Arial"/>
                <a:ea typeface="Arial"/>
                <a:cs typeface="Arial"/>
                <a:sym typeface="Arial"/>
              </a:rPr>
              <a:t>‹#›</a:t>
            </a:fld>
            <a:endParaRPr b="0" i="0" sz="1000" u="none" cap="none" strike="noStrike">
              <a:solidFill>
                <a:srgbClr val="595959"/>
              </a:solidFill>
              <a:latin typeface="Arial"/>
              <a:ea typeface="Arial"/>
              <a:cs typeface="Arial"/>
              <a:sym typeface="Arial"/>
            </a:endParaRPr>
          </a:p>
        </p:txBody>
      </p:sp>
      <p:grpSp>
        <p:nvGrpSpPr>
          <p:cNvPr id="127" name="Google Shape;127;p18"/>
          <p:cNvGrpSpPr/>
          <p:nvPr/>
        </p:nvGrpSpPr>
        <p:grpSpPr>
          <a:xfrm>
            <a:off x="50480" y="122879"/>
            <a:ext cx="277873" cy="68400"/>
            <a:chOff x="411700" y="2416840"/>
            <a:chExt cx="277873" cy="68400"/>
          </a:xfrm>
        </p:grpSpPr>
        <p:sp>
          <p:nvSpPr>
            <p:cNvPr id="128" name="Google Shape;128;p18"/>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18"/>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18"/>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1" name="Google Shape;131;p18"/>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4F4F4F"/>
                </a:solidFill>
                <a:latin typeface="Lexend Light"/>
                <a:ea typeface="Lexend Light"/>
                <a:cs typeface="Lexend Light"/>
                <a:sym typeface="Lexend Light"/>
              </a:rPr>
              <a:t>Department of Computer Science and Engineering</a:t>
            </a:r>
            <a:endParaRPr b="1" i="0" sz="900" u="none" cap="none" strike="noStrike">
              <a:solidFill>
                <a:srgbClr val="4F4F4F"/>
              </a:solidFill>
              <a:latin typeface="Lexend"/>
              <a:ea typeface="Lexend"/>
              <a:cs typeface="Lexend"/>
              <a:sym typeface="Lexend"/>
            </a:endParaRPr>
          </a:p>
        </p:txBody>
      </p:sp>
      <p:sp>
        <p:nvSpPr>
          <p:cNvPr id="132" name="Google Shape;132;p18"/>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4F4F4F"/>
                </a:solidFill>
                <a:latin typeface="Lexend"/>
                <a:ea typeface="Lexend"/>
                <a:cs typeface="Lexend"/>
                <a:sym typeface="Lexend"/>
              </a:rPr>
              <a:t>CSE</a:t>
            </a:r>
            <a:r>
              <a:rPr b="1" lang="en" sz="900">
                <a:solidFill>
                  <a:srgbClr val="4F4F4F"/>
                </a:solidFill>
                <a:latin typeface="Lexend"/>
                <a:ea typeface="Lexend"/>
                <a:cs typeface="Lexend"/>
                <a:sym typeface="Lexend"/>
              </a:rPr>
              <a:t>420</a:t>
            </a:r>
            <a:r>
              <a:rPr b="1" i="0" lang="en" sz="900" u="none" cap="none" strike="noStrike">
                <a:solidFill>
                  <a:srgbClr val="4F4F4F"/>
                </a:solidFill>
                <a:latin typeface="Lexend"/>
                <a:ea typeface="Lexend"/>
                <a:cs typeface="Lexend"/>
                <a:sym typeface="Lexend"/>
              </a:rPr>
              <a:t> - </a:t>
            </a:r>
            <a:r>
              <a:rPr b="1" lang="en" sz="900">
                <a:solidFill>
                  <a:srgbClr val="4F4F4F"/>
                </a:solidFill>
                <a:latin typeface="Lexend"/>
                <a:ea typeface="Lexend"/>
                <a:cs typeface="Lexend"/>
                <a:sym typeface="Lexend"/>
              </a:rPr>
              <a:t>Compiler Design</a:t>
            </a:r>
            <a:endParaRPr b="0" i="0" sz="900" u="none" cap="none" strike="noStrike">
              <a:solidFill>
                <a:srgbClr val="4F4F4F"/>
              </a:solidFill>
              <a:latin typeface="Lexend"/>
              <a:ea typeface="Lexend"/>
              <a:cs typeface="Lexend"/>
              <a:sym typeface="Lexend"/>
            </a:endParaRPr>
          </a:p>
        </p:txBody>
      </p:sp>
      <p:sp>
        <p:nvSpPr>
          <p:cNvPr id="133" name="Google Shape;133;p18"/>
          <p:cNvSpPr txBox="1"/>
          <p:nvPr/>
        </p:nvSpPr>
        <p:spPr>
          <a:xfrm>
            <a:off x="263775" y="1421250"/>
            <a:ext cx="8441400" cy="110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Lexend"/>
              <a:ea typeface="Lexend"/>
              <a:cs typeface="Lexend"/>
              <a:sym typeface="Lexend"/>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Lexend"/>
              <a:ea typeface="Lexend"/>
              <a:cs typeface="Lexend"/>
              <a:sym typeface="Lexend"/>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Lexend"/>
              <a:ea typeface="Lexend"/>
              <a:cs typeface="Lexend"/>
              <a:sym typeface="Lexend"/>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Lexend"/>
              <a:ea typeface="Lexend"/>
              <a:cs typeface="Lexend"/>
              <a:sym typeface="Lexend"/>
            </a:endParaRPr>
          </a:p>
        </p:txBody>
      </p:sp>
      <p:sp>
        <p:nvSpPr>
          <p:cNvPr id="134" name="Google Shape;134;p18"/>
          <p:cNvSpPr txBox="1"/>
          <p:nvPr/>
        </p:nvSpPr>
        <p:spPr>
          <a:xfrm>
            <a:off x="18750" y="-160200"/>
            <a:ext cx="9106500" cy="427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Lexend Medium"/>
              <a:ea typeface="Lexend Medium"/>
              <a:cs typeface="Lexend Medium"/>
              <a:sym typeface="Lexend Medium"/>
            </a:endParaRPr>
          </a:p>
          <a:p>
            <a:pPr indent="-317500" lvl="0" marL="457200" rtl="0" algn="l">
              <a:spcBef>
                <a:spcPts val="0"/>
              </a:spcBef>
              <a:spcAft>
                <a:spcPts val="0"/>
              </a:spcAft>
              <a:buClr>
                <a:schemeClr val="lt1"/>
              </a:buClr>
              <a:buSzPts val="1400"/>
              <a:buFont typeface="Lexend Medium"/>
              <a:buAutoNum type="arabicPeriod"/>
            </a:pPr>
            <a:r>
              <a:t/>
            </a:r>
            <a:endParaRPr>
              <a:solidFill>
                <a:schemeClr val="dk1"/>
              </a:solidFill>
              <a:latin typeface="Lexend Medium"/>
              <a:ea typeface="Lexend Medium"/>
              <a:cs typeface="Lexend Medium"/>
              <a:sym typeface="Lexend Medium"/>
            </a:endParaRPr>
          </a:p>
          <a:p>
            <a:pPr indent="-317500" lvl="0" marL="457200" rtl="0" algn="l">
              <a:spcBef>
                <a:spcPts val="0"/>
              </a:spcBef>
              <a:spcAft>
                <a:spcPts val="0"/>
              </a:spcAft>
              <a:buClr>
                <a:schemeClr val="lt1"/>
              </a:buClr>
              <a:buSzPts val="1400"/>
              <a:buFont typeface="Lexend Medium"/>
              <a:buAutoNum type="arabicPeriod"/>
            </a:pPr>
            <a:r>
              <a:t/>
            </a:r>
            <a:endParaRPr>
              <a:solidFill>
                <a:schemeClr val="dk1"/>
              </a:solidFill>
              <a:latin typeface="Lexend Medium"/>
              <a:ea typeface="Lexend Medium"/>
              <a:cs typeface="Lexend Medium"/>
              <a:sym typeface="Lexend Medium"/>
            </a:endParaRPr>
          </a:p>
          <a:p>
            <a:pPr indent="-317500" lvl="0" marL="457200" rtl="0" algn="l">
              <a:spcBef>
                <a:spcPts val="0"/>
              </a:spcBef>
              <a:spcAft>
                <a:spcPts val="0"/>
              </a:spcAft>
              <a:buClr>
                <a:schemeClr val="lt1"/>
              </a:buClr>
              <a:buSzPts val="1400"/>
              <a:buFont typeface="Lexend Medium"/>
              <a:buAutoNum type="arabicPeriod"/>
            </a:pPr>
            <a:r>
              <a:t/>
            </a:r>
            <a:endParaRPr>
              <a:solidFill>
                <a:schemeClr val="dk1"/>
              </a:solidFill>
              <a:latin typeface="Lexend Medium"/>
              <a:ea typeface="Lexend Medium"/>
              <a:cs typeface="Lexend Medium"/>
              <a:sym typeface="Lexend Medium"/>
            </a:endParaRPr>
          </a:p>
          <a:p>
            <a:pPr indent="-317500" lvl="0" marL="457200" rtl="0" algn="l">
              <a:spcBef>
                <a:spcPts val="0"/>
              </a:spcBef>
              <a:spcAft>
                <a:spcPts val="0"/>
              </a:spcAft>
              <a:buClr>
                <a:schemeClr val="dk1"/>
              </a:buClr>
              <a:buSzPts val="1400"/>
              <a:buFont typeface="Lexend Medium"/>
              <a:buAutoNum type="arabicPeriod"/>
            </a:pPr>
            <a:r>
              <a:rPr lang="en">
                <a:solidFill>
                  <a:schemeClr val="dk1"/>
                </a:solidFill>
                <a:latin typeface="Lexend Medium"/>
                <a:ea typeface="Lexend Medium"/>
                <a:cs typeface="Lexend Medium"/>
                <a:sym typeface="Lexend Medium"/>
              </a:rPr>
              <a:t>Multidimensional array accesses are translated into linear array index accesses using the array type information. Then simple load/store instructions are used</a:t>
            </a:r>
            <a:endParaRPr>
              <a:solidFill>
                <a:schemeClr val="dk1"/>
              </a:solidFill>
              <a:latin typeface="Lexend Medium"/>
              <a:ea typeface="Lexend Medium"/>
              <a:cs typeface="Lexend Medium"/>
              <a:sym typeface="Lexend Medium"/>
            </a:endParaRPr>
          </a:p>
          <a:p>
            <a:pPr indent="0" lvl="0" marL="0" rtl="0" algn="l">
              <a:spcBef>
                <a:spcPts val="0"/>
              </a:spcBef>
              <a:spcAft>
                <a:spcPts val="0"/>
              </a:spcAft>
              <a:buNone/>
            </a:pPr>
            <a:r>
              <a:t/>
            </a:r>
            <a:endParaRPr>
              <a:solidFill>
                <a:schemeClr val="dk1"/>
              </a:solidFill>
              <a:latin typeface="Lexend Medium"/>
              <a:ea typeface="Lexend Medium"/>
              <a:cs typeface="Lexend Medium"/>
              <a:sym typeface="Lexend Medium"/>
            </a:endParaRPr>
          </a:p>
          <a:p>
            <a:pPr indent="0" lvl="0" marL="0" rtl="0" algn="l">
              <a:spcBef>
                <a:spcPts val="0"/>
              </a:spcBef>
              <a:spcAft>
                <a:spcPts val="0"/>
              </a:spcAft>
              <a:buNone/>
            </a:pPr>
            <a:r>
              <a:t/>
            </a:r>
            <a:endParaRPr>
              <a:solidFill>
                <a:schemeClr val="dk1"/>
              </a:solidFill>
              <a:latin typeface="Lexend Medium"/>
              <a:ea typeface="Lexend Medium"/>
              <a:cs typeface="Lexend Medium"/>
              <a:sym typeface="Lexend Medium"/>
            </a:endParaRPr>
          </a:p>
        </p:txBody>
      </p:sp>
      <p:sp>
        <p:nvSpPr>
          <p:cNvPr id="135" name="Google Shape;135;p18"/>
          <p:cNvSpPr txBox="1"/>
          <p:nvPr/>
        </p:nvSpPr>
        <p:spPr>
          <a:xfrm>
            <a:off x="5631600" y="1159200"/>
            <a:ext cx="3512400" cy="163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Lexend Medium"/>
                <a:ea typeface="Lexend Medium"/>
                <a:cs typeface="Lexend Medium"/>
                <a:sym typeface="Lexend Medium"/>
              </a:rPr>
              <a:t>LOAD instruction :Reads data from memory (using an address) and Places it into a CPU register.</a:t>
            </a:r>
            <a:endParaRPr>
              <a:solidFill>
                <a:schemeClr val="dk1"/>
              </a:solidFill>
              <a:latin typeface="Lexend Medium"/>
              <a:ea typeface="Lexend Medium"/>
              <a:cs typeface="Lexend Medium"/>
              <a:sym typeface="Lexend Medium"/>
            </a:endParaRPr>
          </a:p>
          <a:p>
            <a:pPr indent="0" lvl="0" marL="0" rtl="0" algn="l">
              <a:spcBef>
                <a:spcPts val="0"/>
              </a:spcBef>
              <a:spcAft>
                <a:spcPts val="0"/>
              </a:spcAft>
              <a:buNone/>
            </a:pPr>
            <a:r>
              <a:t/>
            </a:r>
            <a:endParaRPr>
              <a:solidFill>
                <a:schemeClr val="dk1"/>
              </a:solidFill>
              <a:latin typeface="Lexend Medium"/>
              <a:ea typeface="Lexend Medium"/>
              <a:cs typeface="Lexend Medium"/>
              <a:sym typeface="Lexend Medium"/>
            </a:endParaRPr>
          </a:p>
          <a:p>
            <a:pPr indent="0" lvl="0" marL="0" rtl="0" algn="l">
              <a:spcBef>
                <a:spcPts val="0"/>
              </a:spcBef>
              <a:spcAft>
                <a:spcPts val="0"/>
              </a:spcAft>
              <a:buNone/>
            </a:pPr>
            <a:r>
              <a:rPr lang="en">
                <a:solidFill>
                  <a:schemeClr val="dk1"/>
                </a:solidFill>
                <a:latin typeface="Lexend Medium"/>
                <a:ea typeface="Lexend Medium"/>
                <a:cs typeface="Lexend Medium"/>
                <a:sym typeface="Lexend Medium"/>
              </a:rPr>
              <a:t>STORE instruction :Takes data from a CPU register and writes it into memory (at a given address)</a:t>
            </a:r>
            <a:endParaRPr>
              <a:solidFill>
                <a:schemeClr val="dk1"/>
              </a:solidFill>
              <a:latin typeface="Lexend Medium"/>
              <a:ea typeface="Lexend Medium"/>
              <a:cs typeface="Lexend Medium"/>
              <a:sym typeface="Lexend Medium"/>
            </a:endParaRPr>
          </a:p>
          <a:p>
            <a:pPr indent="0" lvl="0" marL="0" rtl="0" algn="l">
              <a:spcBef>
                <a:spcPts val="0"/>
              </a:spcBef>
              <a:spcAft>
                <a:spcPts val="0"/>
              </a:spcAft>
              <a:buNone/>
            </a:pPr>
            <a:r>
              <a:t/>
            </a:r>
            <a:endParaRPr>
              <a:solidFill>
                <a:schemeClr val="dk1"/>
              </a:solidFill>
              <a:latin typeface="Lexend Medium"/>
              <a:ea typeface="Lexend Medium"/>
              <a:cs typeface="Lexend Medium"/>
              <a:sym typeface="Lexend Medium"/>
            </a:endParaRPr>
          </a:p>
          <a:p>
            <a:pPr indent="0" lvl="0" marL="0" rtl="0" algn="l">
              <a:spcBef>
                <a:spcPts val="0"/>
              </a:spcBef>
              <a:spcAft>
                <a:spcPts val="0"/>
              </a:spcAft>
              <a:buClr>
                <a:schemeClr val="dk1"/>
              </a:buClr>
              <a:buSzPts val="1100"/>
              <a:buFont typeface="Arial"/>
              <a:buNone/>
            </a:pPr>
            <a:r>
              <a:t/>
            </a:r>
            <a:endParaRPr>
              <a:solidFill>
                <a:schemeClr val="dk1"/>
              </a:solidFill>
              <a:latin typeface="Lexend Medium"/>
              <a:ea typeface="Lexend Medium"/>
              <a:cs typeface="Lexend Medium"/>
              <a:sym typeface="Lexend Medium"/>
            </a:endParaRPr>
          </a:p>
          <a:p>
            <a:pPr indent="0" lvl="0" marL="0" rtl="0" algn="l">
              <a:spcBef>
                <a:spcPts val="0"/>
              </a:spcBef>
              <a:spcAft>
                <a:spcPts val="0"/>
              </a:spcAft>
              <a:buNone/>
            </a:pPr>
            <a:r>
              <a:t/>
            </a:r>
            <a:endParaRPr sz="1800">
              <a:solidFill>
                <a:schemeClr val="dk2"/>
              </a:solidFill>
            </a:endParaRPr>
          </a:p>
        </p:txBody>
      </p:sp>
      <p:sp>
        <p:nvSpPr>
          <p:cNvPr id="136" name="Google Shape;136;p18"/>
          <p:cNvSpPr txBox="1"/>
          <p:nvPr/>
        </p:nvSpPr>
        <p:spPr>
          <a:xfrm>
            <a:off x="6754650" y="4755900"/>
            <a:ext cx="2337000" cy="38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rPr>
              <a:t>Prepared By: Sukarna Sarker</a:t>
            </a:r>
            <a:endParaRPr b="1" sz="12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pic>
        <p:nvPicPr>
          <p:cNvPr id="141" name="Google Shape;141;p19"/>
          <p:cNvPicPr preferRelativeResize="0"/>
          <p:nvPr/>
        </p:nvPicPr>
        <p:blipFill rotWithShape="1">
          <a:blip r:embed="rId3">
            <a:alphaModFix/>
          </a:blip>
          <a:srcRect b="0" l="0" r="0" t="0"/>
          <a:stretch/>
        </p:blipFill>
        <p:spPr>
          <a:xfrm>
            <a:off x="8507451" y="76200"/>
            <a:ext cx="560349" cy="514126"/>
          </a:xfrm>
          <a:prstGeom prst="rect">
            <a:avLst/>
          </a:prstGeom>
          <a:noFill/>
          <a:ln>
            <a:noFill/>
          </a:ln>
        </p:spPr>
      </p:pic>
      <p:sp>
        <p:nvSpPr>
          <p:cNvPr id="142" name="Google Shape;142;p19"/>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0" i="0" lang="en" sz="1000" u="none" cap="none" strike="noStrike">
                <a:solidFill>
                  <a:srgbClr val="595959"/>
                </a:solidFill>
                <a:latin typeface="Arial"/>
                <a:ea typeface="Arial"/>
                <a:cs typeface="Arial"/>
                <a:sym typeface="Arial"/>
              </a:rPr>
              <a:t>‹#›</a:t>
            </a:fld>
            <a:endParaRPr b="0" i="0" sz="1000" u="none" cap="none" strike="noStrike">
              <a:solidFill>
                <a:srgbClr val="595959"/>
              </a:solidFill>
              <a:latin typeface="Arial"/>
              <a:ea typeface="Arial"/>
              <a:cs typeface="Arial"/>
              <a:sym typeface="Arial"/>
            </a:endParaRPr>
          </a:p>
        </p:txBody>
      </p:sp>
      <p:grpSp>
        <p:nvGrpSpPr>
          <p:cNvPr id="143" name="Google Shape;143;p19"/>
          <p:cNvGrpSpPr/>
          <p:nvPr/>
        </p:nvGrpSpPr>
        <p:grpSpPr>
          <a:xfrm>
            <a:off x="50480" y="122879"/>
            <a:ext cx="277873" cy="68400"/>
            <a:chOff x="411700" y="2416840"/>
            <a:chExt cx="277873" cy="68400"/>
          </a:xfrm>
        </p:grpSpPr>
        <p:sp>
          <p:nvSpPr>
            <p:cNvPr id="144" name="Google Shape;144;p19"/>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p19"/>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19"/>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7" name="Google Shape;147;p19"/>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4F4F4F"/>
                </a:solidFill>
                <a:latin typeface="Lexend Light"/>
                <a:ea typeface="Lexend Light"/>
                <a:cs typeface="Lexend Light"/>
                <a:sym typeface="Lexend Light"/>
              </a:rPr>
              <a:t>Department of Computer Science and Engineering</a:t>
            </a:r>
            <a:endParaRPr b="1" i="0" sz="900" u="none" cap="none" strike="noStrike">
              <a:solidFill>
                <a:srgbClr val="4F4F4F"/>
              </a:solidFill>
              <a:latin typeface="Lexend"/>
              <a:ea typeface="Lexend"/>
              <a:cs typeface="Lexend"/>
              <a:sym typeface="Lexend"/>
            </a:endParaRPr>
          </a:p>
        </p:txBody>
      </p:sp>
      <p:sp>
        <p:nvSpPr>
          <p:cNvPr id="148" name="Google Shape;148;p19"/>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4F4F4F"/>
                </a:solidFill>
                <a:latin typeface="Lexend"/>
                <a:ea typeface="Lexend"/>
                <a:cs typeface="Lexend"/>
                <a:sym typeface="Lexend"/>
              </a:rPr>
              <a:t>CSE</a:t>
            </a:r>
            <a:r>
              <a:rPr b="1" lang="en" sz="900">
                <a:solidFill>
                  <a:srgbClr val="4F4F4F"/>
                </a:solidFill>
                <a:latin typeface="Lexend"/>
                <a:ea typeface="Lexend"/>
                <a:cs typeface="Lexend"/>
                <a:sym typeface="Lexend"/>
              </a:rPr>
              <a:t>420</a:t>
            </a:r>
            <a:r>
              <a:rPr b="1" i="0" lang="en" sz="900" u="none" cap="none" strike="noStrike">
                <a:solidFill>
                  <a:srgbClr val="4F4F4F"/>
                </a:solidFill>
                <a:latin typeface="Lexend"/>
                <a:ea typeface="Lexend"/>
                <a:cs typeface="Lexend"/>
                <a:sym typeface="Lexend"/>
              </a:rPr>
              <a:t> - </a:t>
            </a:r>
            <a:r>
              <a:rPr b="1" lang="en" sz="900">
                <a:solidFill>
                  <a:srgbClr val="4F4F4F"/>
                </a:solidFill>
                <a:latin typeface="Lexend"/>
                <a:ea typeface="Lexend"/>
                <a:cs typeface="Lexend"/>
                <a:sym typeface="Lexend"/>
              </a:rPr>
              <a:t>Compiler Design</a:t>
            </a:r>
            <a:endParaRPr b="0" i="0" sz="900" u="none" cap="none" strike="noStrike">
              <a:solidFill>
                <a:srgbClr val="4F4F4F"/>
              </a:solidFill>
              <a:latin typeface="Lexend"/>
              <a:ea typeface="Lexend"/>
              <a:cs typeface="Lexend"/>
              <a:sym typeface="Lexend"/>
            </a:endParaRPr>
          </a:p>
        </p:txBody>
      </p:sp>
      <p:sp>
        <p:nvSpPr>
          <p:cNvPr id="149" name="Google Shape;149;p19"/>
          <p:cNvSpPr txBox="1"/>
          <p:nvPr/>
        </p:nvSpPr>
        <p:spPr>
          <a:xfrm>
            <a:off x="263775" y="1421250"/>
            <a:ext cx="8441400" cy="110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Lexend"/>
              <a:ea typeface="Lexend"/>
              <a:cs typeface="Lexend"/>
              <a:sym typeface="Lexend"/>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Lexend"/>
              <a:ea typeface="Lexend"/>
              <a:cs typeface="Lexend"/>
              <a:sym typeface="Lexend"/>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Lexend"/>
              <a:ea typeface="Lexend"/>
              <a:cs typeface="Lexend"/>
              <a:sym typeface="Lexend"/>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Lexend"/>
              <a:ea typeface="Lexend"/>
              <a:cs typeface="Lexend"/>
              <a:sym typeface="Lexend"/>
            </a:endParaRPr>
          </a:p>
        </p:txBody>
      </p:sp>
      <p:sp>
        <p:nvSpPr>
          <p:cNvPr id="150" name="Google Shape;150;p19"/>
          <p:cNvSpPr txBox="1"/>
          <p:nvPr/>
        </p:nvSpPr>
        <p:spPr>
          <a:xfrm>
            <a:off x="0" y="1344300"/>
            <a:ext cx="91440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Lexend Medium"/>
                <a:ea typeface="Lexend Medium"/>
                <a:cs typeface="Lexend Medium"/>
                <a:sym typeface="Lexend Medium"/>
              </a:rPr>
              <a:t>However, if we look into modern-day object-oriented programming languages, we see a lot of interesting features, such as, user defined types/classes, class member functions, interfaces and abstract classes, field and method inheritance, method polymorphism, public/private/protected visibility control. How do these features get translated in machine code then? There are some standard techniques to process OOP features in compilers. Here we will investigate just one to resolve the mystery of OOP. </a:t>
            </a:r>
            <a:endParaRPr>
              <a:latin typeface="Lexend Medium"/>
              <a:ea typeface="Lexend Medium"/>
              <a:cs typeface="Lexend Medium"/>
              <a:sym typeface="Lexend Medium"/>
            </a:endParaRPr>
          </a:p>
        </p:txBody>
      </p:sp>
      <p:sp>
        <p:nvSpPr>
          <p:cNvPr id="151" name="Google Shape;151;p19"/>
          <p:cNvSpPr txBox="1"/>
          <p:nvPr/>
        </p:nvSpPr>
        <p:spPr>
          <a:xfrm>
            <a:off x="6754650" y="4755900"/>
            <a:ext cx="2337000" cy="38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rPr>
              <a:t>Prepared By: Sukarna Sarker</a:t>
            </a:r>
            <a:endParaRPr b="1" sz="12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id="156" name="Google Shape;156;p20"/>
          <p:cNvPicPr preferRelativeResize="0"/>
          <p:nvPr/>
        </p:nvPicPr>
        <p:blipFill rotWithShape="1">
          <a:blip r:embed="rId3">
            <a:alphaModFix/>
          </a:blip>
          <a:srcRect b="0" l="0" r="0" t="0"/>
          <a:stretch/>
        </p:blipFill>
        <p:spPr>
          <a:xfrm>
            <a:off x="8507451" y="76200"/>
            <a:ext cx="560349" cy="514126"/>
          </a:xfrm>
          <a:prstGeom prst="rect">
            <a:avLst/>
          </a:prstGeom>
          <a:noFill/>
          <a:ln>
            <a:noFill/>
          </a:ln>
        </p:spPr>
      </p:pic>
      <p:sp>
        <p:nvSpPr>
          <p:cNvPr id="157" name="Google Shape;157;p20"/>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0" i="0" lang="en" sz="1000" u="none" cap="none" strike="noStrike">
                <a:solidFill>
                  <a:srgbClr val="595959"/>
                </a:solidFill>
                <a:latin typeface="Arial"/>
                <a:ea typeface="Arial"/>
                <a:cs typeface="Arial"/>
                <a:sym typeface="Arial"/>
              </a:rPr>
              <a:t>‹#›</a:t>
            </a:fld>
            <a:endParaRPr b="0" i="0" sz="1000" u="none" cap="none" strike="noStrike">
              <a:solidFill>
                <a:srgbClr val="595959"/>
              </a:solidFill>
              <a:latin typeface="Arial"/>
              <a:ea typeface="Arial"/>
              <a:cs typeface="Arial"/>
              <a:sym typeface="Arial"/>
            </a:endParaRPr>
          </a:p>
        </p:txBody>
      </p:sp>
      <p:grpSp>
        <p:nvGrpSpPr>
          <p:cNvPr id="158" name="Google Shape;158;p20"/>
          <p:cNvGrpSpPr/>
          <p:nvPr/>
        </p:nvGrpSpPr>
        <p:grpSpPr>
          <a:xfrm>
            <a:off x="50480" y="122879"/>
            <a:ext cx="277873" cy="68400"/>
            <a:chOff x="411700" y="2416840"/>
            <a:chExt cx="277873" cy="68400"/>
          </a:xfrm>
        </p:grpSpPr>
        <p:sp>
          <p:nvSpPr>
            <p:cNvPr id="159" name="Google Shape;159;p20"/>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20"/>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20"/>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62" name="Google Shape;162;p20"/>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4F4F4F"/>
                </a:solidFill>
                <a:latin typeface="Lexend Light"/>
                <a:ea typeface="Lexend Light"/>
                <a:cs typeface="Lexend Light"/>
                <a:sym typeface="Lexend Light"/>
              </a:rPr>
              <a:t>Department of Computer Science and Engineering</a:t>
            </a:r>
            <a:endParaRPr b="1" i="0" sz="900" u="none" cap="none" strike="noStrike">
              <a:solidFill>
                <a:srgbClr val="4F4F4F"/>
              </a:solidFill>
              <a:latin typeface="Lexend"/>
              <a:ea typeface="Lexend"/>
              <a:cs typeface="Lexend"/>
              <a:sym typeface="Lexend"/>
            </a:endParaRPr>
          </a:p>
        </p:txBody>
      </p:sp>
      <p:sp>
        <p:nvSpPr>
          <p:cNvPr id="163" name="Google Shape;163;p20"/>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4F4F4F"/>
                </a:solidFill>
                <a:latin typeface="Lexend"/>
                <a:ea typeface="Lexend"/>
                <a:cs typeface="Lexend"/>
                <a:sym typeface="Lexend"/>
              </a:rPr>
              <a:t>CSE</a:t>
            </a:r>
            <a:r>
              <a:rPr b="1" lang="en" sz="900">
                <a:solidFill>
                  <a:srgbClr val="4F4F4F"/>
                </a:solidFill>
                <a:latin typeface="Lexend"/>
                <a:ea typeface="Lexend"/>
                <a:cs typeface="Lexend"/>
                <a:sym typeface="Lexend"/>
              </a:rPr>
              <a:t>420</a:t>
            </a:r>
            <a:r>
              <a:rPr b="1" i="0" lang="en" sz="900" u="none" cap="none" strike="noStrike">
                <a:solidFill>
                  <a:srgbClr val="4F4F4F"/>
                </a:solidFill>
                <a:latin typeface="Lexend"/>
                <a:ea typeface="Lexend"/>
                <a:cs typeface="Lexend"/>
                <a:sym typeface="Lexend"/>
              </a:rPr>
              <a:t> - </a:t>
            </a:r>
            <a:r>
              <a:rPr b="1" lang="en" sz="900">
                <a:solidFill>
                  <a:srgbClr val="4F4F4F"/>
                </a:solidFill>
                <a:latin typeface="Lexend"/>
                <a:ea typeface="Lexend"/>
                <a:cs typeface="Lexend"/>
                <a:sym typeface="Lexend"/>
              </a:rPr>
              <a:t>Compiler Design</a:t>
            </a:r>
            <a:endParaRPr b="0" i="0" sz="900" u="none" cap="none" strike="noStrike">
              <a:solidFill>
                <a:srgbClr val="4F4F4F"/>
              </a:solidFill>
              <a:latin typeface="Lexend"/>
              <a:ea typeface="Lexend"/>
              <a:cs typeface="Lexend"/>
              <a:sym typeface="Lexend"/>
            </a:endParaRPr>
          </a:p>
        </p:txBody>
      </p:sp>
      <p:sp>
        <p:nvSpPr>
          <p:cNvPr id="164" name="Google Shape;164;p20"/>
          <p:cNvSpPr txBox="1"/>
          <p:nvPr/>
        </p:nvSpPr>
        <p:spPr>
          <a:xfrm>
            <a:off x="263775" y="1421250"/>
            <a:ext cx="8441400" cy="110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Lexend"/>
              <a:ea typeface="Lexend"/>
              <a:cs typeface="Lexend"/>
              <a:sym typeface="Lexend"/>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Lexend"/>
              <a:ea typeface="Lexend"/>
              <a:cs typeface="Lexend"/>
              <a:sym typeface="Lexend"/>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Lexend"/>
              <a:ea typeface="Lexend"/>
              <a:cs typeface="Lexend"/>
              <a:sym typeface="Lexend"/>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Lexend"/>
              <a:ea typeface="Lexend"/>
              <a:cs typeface="Lexend"/>
              <a:sym typeface="Lexend"/>
            </a:endParaRPr>
          </a:p>
        </p:txBody>
      </p:sp>
      <p:sp>
        <p:nvSpPr>
          <p:cNvPr id="165" name="Google Shape;165;p20"/>
          <p:cNvSpPr txBox="1"/>
          <p:nvPr/>
        </p:nvSpPr>
        <p:spPr>
          <a:xfrm>
            <a:off x="50475" y="534025"/>
            <a:ext cx="91440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latin typeface="Lexend Medium"/>
                <a:ea typeface="Lexend Medium"/>
                <a:cs typeface="Lexend Medium"/>
                <a:sym typeface="Lexend Medium"/>
              </a:rPr>
              <a:t>Fields of User Defined Types</a:t>
            </a:r>
            <a:endParaRPr sz="1800">
              <a:latin typeface="Lexend Medium"/>
              <a:ea typeface="Lexend Medium"/>
              <a:cs typeface="Lexend Medium"/>
              <a:sym typeface="Lexend Medium"/>
            </a:endParaRPr>
          </a:p>
        </p:txBody>
      </p:sp>
      <p:sp>
        <p:nvSpPr>
          <p:cNvPr id="166" name="Google Shape;166;p20"/>
          <p:cNvSpPr txBox="1"/>
          <p:nvPr/>
        </p:nvSpPr>
        <p:spPr>
          <a:xfrm>
            <a:off x="83400" y="885425"/>
            <a:ext cx="8977200" cy="34677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lang="en" sz="1800">
                <a:solidFill>
                  <a:schemeClr val="dk1"/>
                </a:solidFill>
              </a:rPr>
              <a:t>Note that user defined types were already available in structural programming languages such as Cobol and C under various names such as structure or record. Actually, without type-specific methods, that are supported in user defined classes of Java/C++/C#, custom types with specific properties are a mere variable grouping feature. They get translated into single-dimensional array accesses in the generated</a:t>
            </a:r>
            <a:endParaRPr sz="1800">
              <a:solidFill>
                <a:schemeClr val="dk1"/>
              </a:solidFill>
            </a:endParaRPr>
          </a:p>
          <a:p>
            <a:pPr indent="0" lvl="0" marL="0" rtl="0" algn="just">
              <a:spcBef>
                <a:spcPts val="0"/>
              </a:spcBef>
              <a:spcAft>
                <a:spcPts val="0"/>
              </a:spcAft>
              <a:buClr>
                <a:schemeClr val="dk1"/>
              </a:buClr>
              <a:buSzPts val="1100"/>
              <a:buFont typeface="Arial"/>
              <a:buNone/>
            </a:pPr>
            <a:r>
              <a:rPr lang="en" sz="1800">
                <a:solidFill>
                  <a:schemeClr val="dk1"/>
                </a:solidFill>
              </a:rPr>
              <a:t>binary code. Let us understand the compilation techniques with the below example of a C structure.</a:t>
            </a:r>
            <a:endParaRPr sz="1800">
              <a:solidFill>
                <a:schemeClr val="dk1"/>
              </a:solidFill>
            </a:endParaRPr>
          </a:p>
          <a:p>
            <a:pPr indent="0" lvl="0" marL="0" rtl="0" algn="l">
              <a:spcBef>
                <a:spcPts val="0"/>
              </a:spcBef>
              <a:spcAft>
                <a:spcPts val="0"/>
              </a:spcAft>
              <a:buNone/>
            </a:pPr>
            <a:r>
              <a:t/>
            </a:r>
            <a:endParaRPr sz="1800">
              <a:solidFill>
                <a:schemeClr val="dk2"/>
              </a:solidFill>
            </a:endParaRPr>
          </a:p>
        </p:txBody>
      </p:sp>
      <p:sp>
        <p:nvSpPr>
          <p:cNvPr id="167" name="Google Shape;167;p20"/>
          <p:cNvSpPr txBox="1"/>
          <p:nvPr/>
        </p:nvSpPr>
        <p:spPr>
          <a:xfrm>
            <a:off x="6754650" y="4755900"/>
            <a:ext cx="2337000" cy="38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rPr>
              <a:t>Prepared By: Sukarna Sarker</a:t>
            </a:r>
            <a:endParaRPr b="1" sz="12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pic>
        <p:nvPicPr>
          <p:cNvPr id="172" name="Google Shape;172;p21"/>
          <p:cNvPicPr preferRelativeResize="0"/>
          <p:nvPr/>
        </p:nvPicPr>
        <p:blipFill rotWithShape="1">
          <a:blip r:embed="rId3">
            <a:alphaModFix/>
          </a:blip>
          <a:srcRect b="0" l="0" r="0" t="0"/>
          <a:stretch/>
        </p:blipFill>
        <p:spPr>
          <a:xfrm>
            <a:off x="8507451" y="76200"/>
            <a:ext cx="560349" cy="514126"/>
          </a:xfrm>
          <a:prstGeom prst="rect">
            <a:avLst/>
          </a:prstGeom>
          <a:noFill/>
          <a:ln>
            <a:noFill/>
          </a:ln>
        </p:spPr>
      </p:pic>
      <p:sp>
        <p:nvSpPr>
          <p:cNvPr id="173" name="Google Shape;173;p21"/>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0" i="0" lang="en" sz="1000" u="none" cap="none" strike="noStrike">
                <a:solidFill>
                  <a:srgbClr val="595959"/>
                </a:solidFill>
                <a:latin typeface="Arial"/>
                <a:ea typeface="Arial"/>
                <a:cs typeface="Arial"/>
                <a:sym typeface="Arial"/>
              </a:rPr>
              <a:t>‹#›</a:t>
            </a:fld>
            <a:endParaRPr b="0" i="0" sz="1000" u="none" cap="none" strike="noStrike">
              <a:solidFill>
                <a:srgbClr val="595959"/>
              </a:solidFill>
              <a:latin typeface="Arial"/>
              <a:ea typeface="Arial"/>
              <a:cs typeface="Arial"/>
              <a:sym typeface="Arial"/>
            </a:endParaRPr>
          </a:p>
        </p:txBody>
      </p:sp>
      <p:grpSp>
        <p:nvGrpSpPr>
          <p:cNvPr id="174" name="Google Shape;174;p21"/>
          <p:cNvGrpSpPr/>
          <p:nvPr/>
        </p:nvGrpSpPr>
        <p:grpSpPr>
          <a:xfrm>
            <a:off x="50480" y="122879"/>
            <a:ext cx="277873" cy="68400"/>
            <a:chOff x="411700" y="2416840"/>
            <a:chExt cx="277873" cy="68400"/>
          </a:xfrm>
        </p:grpSpPr>
        <p:sp>
          <p:nvSpPr>
            <p:cNvPr id="175" name="Google Shape;175;p21"/>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21"/>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21"/>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78" name="Google Shape;178;p21"/>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4F4F4F"/>
                </a:solidFill>
                <a:latin typeface="Lexend Light"/>
                <a:ea typeface="Lexend Light"/>
                <a:cs typeface="Lexend Light"/>
                <a:sym typeface="Lexend Light"/>
              </a:rPr>
              <a:t>Department of Computer Science and Engineering</a:t>
            </a:r>
            <a:endParaRPr b="1" i="0" sz="900" u="none" cap="none" strike="noStrike">
              <a:solidFill>
                <a:srgbClr val="4F4F4F"/>
              </a:solidFill>
              <a:latin typeface="Lexend"/>
              <a:ea typeface="Lexend"/>
              <a:cs typeface="Lexend"/>
              <a:sym typeface="Lexend"/>
            </a:endParaRPr>
          </a:p>
        </p:txBody>
      </p:sp>
      <p:sp>
        <p:nvSpPr>
          <p:cNvPr id="179" name="Google Shape;179;p21"/>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4F4F4F"/>
                </a:solidFill>
                <a:latin typeface="Lexend"/>
                <a:ea typeface="Lexend"/>
                <a:cs typeface="Lexend"/>
                <a:sym typeface="Lexend"/>
              </a:rPr>
              <a:t>CSE</a:t>
            </a:r>
            <a:r>
              <a:rPr b="1" lang="en" sz="900">
                <a:solidFill>
                  <a:srgbClr val="4F4F4F"/>
                </a:solidFill>
                <a:latin typeface="Lexend"/>
                <a:ea typeface="Lexend"/>
                <a:cs typeface="Lexend"/>
                <a:sym typeface="Lexend"/>
              </a:rPr>
              <a:t>420</a:t>
            </a:r>
            <a:r>
              <a:rPr b="1" i="0" lang="en" sz="900" u="none" cap="none" strike="noStrike">
                <a:solidFill>
                  <a:srgbClr val="4F4F4F"/>
                </a:solidFill>
                <a:latin typeface="Lexend"/>
                <a:ea typeface="Lexend"/>
                <a:cs typeface="Lexend"/>
                <a:sym typeface="Lexend"/>
              </a:rPr>
              <a:t> - </a:t>
            </a:r>
            <a:r>
              <a:rPr b="1" lang="en" sz="900">
                <a:solidFill>
                  <a:srgbClr val="4F4F4F"/>
                </a:solidFill>
                <a:latin typeface="Lexend"/>
                <a:ea typeface="Lexend"/>
                <a:cs typeface="Lexend"/>
                <a:sym typeface="Lexend"/>
              </a:rPr>
              <a:t>Compiler Design</a:t>
            </a:r>
            <a:endParaRPr b="0" i="0" sz="900" u="none" cap="none" strike="noStrike">
              <a:solidFill>
                <a:srgbClr val="4F4F4F"/>
              </a:solidFill>
              <a:latin typeface="Lexend"/>
              <a:ea typeface="Lexend"/>
              <a:cs typeface="Lexend"/>
              <a:sym typeface="Lexend"/>
            </a:endParaRPr>
          </a:p>
        </p:txBody>
      </p:sp>
      <p:sp>
        <p:nvSpPr>
          <p:cNvPr id="180" name="Google Shape;180;p21"/>
          <p:cNvSpPr txBox="1"/>
          <p:nvPr/>
        </p:nvSpPr>
        <p:spPr>
          <a:xfrm>
            <a:off x="0" y="102413"/>
            <a:ext cx="91440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latin typeface="Lexend Medium"/>
                <a:ea typeface="Lexend Medium"/>
                <a:cs typeface="Lexend Medium"/>
                <a:sym typeface="Lexend Medium"/>
              </a:rPr>
              <a:t>Fields of User Defined Types</a:t>
            </a:r>
            <a:endParaRPr sz="1800">
              <a:latin typeface="Lexend Medium"/>
              <a:ea typeface="Lexend Medium"/>
              <a:cs typeface="Lexend Medium"/>
              <a:sym typeface="Lexend Medium"/>
            </a:endParaRPr>
          </a:p>
        </p:txBody>
      </p:sp>
      <p:sp>
        <p:nvSpPr>
          <p:cNvPr id="181" name="Google Shape;181;p21"/>
          <p:cNvSpPr txBox="1"/>
          <p:nvPr/>
        </p:nvSpPr>
        <p:spPr>
          <a:xfrm>
            <a:off x="138300" y="343913"/>
            <a:ext cx="2723400" cy="20376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lang="en">
                <a:solidFill>
                  <a:schemeClr val="dk1"/>
                </a:solidFill>
                <a:latin typeface="Lexend"/>
                <a:ea typeface="Lexend"/>
                <a:cs typeface="Lexend"/>
                <a:sym typeface="Lexend"/>
              </a:rPr>
              <a:t>struct Student { </a:t>
            </a:r>
            <a:endParaRPr>
              <a:solidFill>
                <a:schemeClr val="dk1"/>
              </a:solidFill>
              <a:latin typeface="Lexend"/>
              <a:ea typeface="Lexend"/>
              <a:cs typeface="Lexend"/>
              <a:sym typeface="Lexend"/>
            </a:endParaRPr>
          </a:p>
          <a:p>
            <a:pPr indent="457200" lvl="0" marL="0" rtl="0" algn="just">
              <a:spcBef>
                <a:spcPts val="0"/>
              </a:spcBef>
              <a:spcAft>
                <a:spcPts val="0"/>
              </a:spcAft>
              <a:buClr>
                <a:schemeClr val="dk1"/>
              </a:buClr>
              <a:buSzPts val="1100"/>
              <a:buFont typeface="Arial"/>
              <a:buNone/>
            </a:pPr>
            <a:r>
              <a:rPr lang="en">
                <a:solidFill>
                  <a:schemeClr val="dk1"/>
                </a:solidFill>
                <a:latin typeface="Lexend"/>
                <a:ea typeface="Lexend"/>
                <a:cs typeface="Lexend"/>
                <a:sym typeface="Lexend"/>
              </a:rPr>
              <a:t>int studentId; </a:t>
            </a:r>
            <a:endParaRPr>
              <a:solidFill>
                <a:schemeClr val="dk1"/>
              </a:solidFill>
              <a:latin typeface="Lexend"/>
              <a:ea typeface="Lexend"/>
              <a:cs typeface="Lexend"/>
              <a:sym typeface="Lexend"/>
            </a:endParaRPr>
          </a:p>
          <a:p>
            <a:pPr indent="457200" lvl="0" marL="0" rtl="0" algn="just">
              <a:spcBef>
                <a:spcPts val="0"/>
              </a:spcBef>
              <a:spcAft>
                <a:spcPts val="0"/>
              </a:spcAft>
              <a:buClr>
                <a:schemeClr val="dk1"/>
              </a:buClr>
              <a:buSzPts val="1100"/>
              <a:buFont typeface="Arial"/>
              <a:buNone/>
            </a:pPr>
            <a:r>
              <a:rPr lang="en">
                <a:solidFill>
                  <a:schemeClr val="dk1"/>
                </a:solidFill>
                <a:latin typeface="Lexend"/>
                <a:ea typeface="Lexend"/>
                <a:cs typeface="Lexend"/>
                <a:sym typeface="Lexend"/>
              </a:rPr>
              <a:t>float cgpa; </a:t>
            </a:r>
            <a:endParaRPr>
              <a:solidFill>
                <a:schemeClr val="dk1"/>
              </a:solidFill>
              <a:latin typeface="Lexend"/>
              <a:ea typeface="Lexend"/>
              <a:cs typeface="Lexend"/>
              <a:sym typeface="Lexend"/>
            </a:endParaRPr>
          </a:p>
          <a:p>
            <a:pPr indent="457200" lvl="0" marL="0" rtl="0" algn="just">
              <a:spcBef>
                <a:spcPts val="0"/>
              </a:spcBef>
              <a:spcAft>
                <a:spcPts val="0"/>
              </a:spcAft>
              <a:buClr>
                <a:schemeClr val="dk1"/>
              </a:buClr>
              <a:buSzPts val="1100"/>
              <a:buFont typeface="Arial"/>
              <a:buNone/>
            </a:pPr>
            <a:r>
              <a:rPr lang="en">
                <a:solidFill>
                  <a:schemeClr val="dk1"/>
                </a:solidFill>
                <a:latin typeface="Lexend"/>
                <a:ea typeface="Lexend"/>
                <a:cs typeface="Lexend"/>
                <a:sym typeface="Lexend"/>
              </a:rPr>
              <a:t>int batch; </a:t>
            </a:r>
            <a:endParaRPr>
              <a:solidFill>
                <a:schemeClr val="dk1"/>
              </a:solidFill>
              <a:latin typeface="Lexend"/>
              <a:ea typeface="Lexend"/>
              <a:cs typeface="Lexend"/>
              <a:sym typeface="Lexend"/>
            </a:endParaRPr>
          </a:p>
          <a:p>
            <a:pPr indent="457200" lvl="0" marL="0" rtl="0" algn="just">
              <a:spcBef>
                <a:spcPts val="0"/>
              </a:spcBef>
              <a:spcAft>
                <a:spcPts val="0"/>
              </a:spcAft>
              <a:buClr>
                <a:schemeClr val="dk1"/>
              </a:buClr>
              <a:buSzPts val="1100"/>
              <a:buFont typeface="Arial"/>
              <a:buNone/>
            </a:pPr>
            <a:r>
              <a:rPr lang="en">
                <a:solidFill>
                  <a:schemeClr val="dk1"/>
                </a:solidFill>
                <a:latin typeface="Lexend"/>
                <a:ea typeface="Lexend"/>
                <a:cs typeface="Lexend"/>
                <a:sym typeface="Lexend"/>
              </a:rPr>
              <a:t>char[20] fullName;</a:t>
            </a:r>
            <a:endParaRPr>
              <a:solidFill>
                <a:schemeClr val="dk1"/>
              </a:solidFill>
              <a:latin typeface="Lexend"/>
              <a:ea typeface="Lexend"/>
              <a:cs typeface="Lexend"/>
              <a:sym typeface="Lexend"/>
            </a:endParaRPr>
          </a:p>
          <a:p>
            <a:pPr indent="0" lvl="0" marL="0" rtl="0" algn="just">
              <a:spcBef>
                <a:spcPts val="0"/>
              </a:spcBef>
              <a:spcAft>
                <a:spcPts val="0"/>
              </a:spcAft>
              <a:buClr>
                <a:schemeClr val="dk1"/>
              </a:buClr>
              <a:buSzPts val="1100"/>
              <a:buFont typeface="Arial"/>
              <a:buNone/>
            </a:pPr>
            <a:r>
              <a:rPr lang="en">
                <a:solidFill>
                  <a:schemeClr val="dk1"/>
                </a:solidFill>
                <a:latin typeface="Lexend"/>
                <a:ea typeface="Lexend"/>
                <a:cs typeface="Lexend"/>
                <a:sym typeface="Lexend"/>
              </a:rPr>
              <a:t>    }</a:t>
            </a:r>
            <a:endParaRPr>
              <a:solidFill>
                <a:schemeClr val="dk1"/>
              </a:solidFill>
              <a:latin typeface="Lexend"/>
              <a:ea typeface="Lexend"/>
              <a:cs typeface="Lexend"/>
              <a:sym typeface="Lexend"/>
            </a:endParaRPr>
          </a:p>
          <a:p>
            <a:pPr indent="0" lvl="0" marL="0" rtl="0" algn="l">
              <a:spcBef>
                <a:spcPts val="0"/>
              </a:spcBef>
              <a:spcAft>
                <a:spcPts val="0"/>
              </a:spcAft>
              <a:buNone/>
            </a:pPr>
            <a:r>
              <a:t/>
            </a:r>
            <a:endParaRPr sz="1800">
              <a:solidFill>
                <a:schemeClr val="dk2"/>
              </a:solidFill>
            </a:endParaRPr>
          </a:p>
        </p:txBody>
      </p:sp>
      <p:sp>
        <p:nvSpPr>
          <p:cNvPr id="182" name="Google Shape;182;p21"/>
          <p:cNvSpPr txBox="1"/>
          <p:nvPr/>
        </p:nvSpPr>
        <p:spPr>
          <a:xfrm>
            <a:off x="0" y="1740450"/>
            <a:ext cx="91440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Lexend"/>
                <a:ea typeface="Lexend"/>
                <a:cs typeface="Lexend"/>
                <a:sym typeface="Lexend"/>
              </a:rPr>
              <a:t>When a typical C compiler sees a structure definition like the above, it creates a symbol table for the structure. We know a symbol table retains information about the type, width, and offset of its variable entries. Consequently, the symbol table for the above structure may look like as follows.</a:t>
            </a:r>
            <a:endParaRPr>
              <a:latin typeface="Lexend"/>
              <a:ea typeface="Lexend"/>
              <a:cs typeface="Lexend"/>
              <a:sym typeface="Lexend"/>
            </a:endParaRPr>
          </a:p>
        </p:txBody>
      </p:sp>
      <p:graphicFrame>
        <p:nvGraphicFramePr>
          <p:cNvPr id="183" name="Google Shape;183;p21"/>
          <p:cNvGraphicFramePr/>
          <p:nvPr/>
        </p:nvGraphicFramePr>
        <p:xfrm>
          <a:off x="212700" y="2733775"/>
          <a:ext cx="3000000" cy="3000000"/>
        </p:xfrm>
        <a:graphic>
          <a:graphicData uri="http://schemas.openxmlformats.org/drawingml/2006/table">
            <a:tbl>
              <a:tblPr>
                <a:noFill/>
                <a:tableStyleId>{488F9DF4-EE4B-4068-BD8B-F2B007583E1D}</a:tableStyleId>
              </a:tblPr>
              <a:tblGrid>
                <a:gridCol w="2213775"/>
                <a:gridCol w="2213775"/>
                <a:gridCol w="2213775"/>
                <a:gridCol w="2213775"/>
              </a:tblGrid>
              <a:tr h="381000">
                <a:tc>
                  <a:txBody>
                    <a:bodyPr/>
                    <a:lstStyle/>
                    <a:p>
                      <a:pPr indent="0" lvl="0" marL="0" rtl="0" algn="ctr">
                        <a:spcBef>
                          <a:spcPts val="0"/>
                        </a:spcBef>
                        <a:spcAft>
                          <a:spcPts val="0"/>
                        </a:spcAft>
                        <a:buNone/>
                      </a:pPr>
                      <a:r>
                        <a:rPr lang="en" sz="1200">
                          <a:latin typeface="Lexend"/>
                          <a:ea typeface="Lexend"/>
                          <a:cs typeface="Lexend"/>
                          <a:sym typeface="Lexend"/>
                        </a:rPr>
                        <a:t>Name</a:t>
                      </a:r>
                      <a:endParaRPr sz="12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Lexend"/>
                          <a:ea typeface="Lexend"/>
                          <a:cs typeface="Lexend"/>
                          <a:sym typeface="Lexend"/>
                        </a:rPr>
                        <a:t>Type</a:t>
                      </a:r>
                      <a:endParaRPr sz="12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Lexend"/>
                          <a:ea typeface="Lexend"/>
                          <a:cs typeface="Lexend"/>
                          <a:sym typeface="Lexend"/>
                        </a:rPr>
                        <a:t>Width</a:t>
                      </a:r>
                      <a:endParaRPr sz="12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Lexend"/>
                          <a:ea typeface="Lexend"/>
                          <a:cs typeface="Lexend"/>
                          <a:sym typeface="Lexend"/>
                        </a:rPr>
                        <a:t>Offset</a:t>
                      </a:r>
                      <a:endParaRPr sz="12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12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184" name="Google Shape;184;p21"/>
          <p:cNvSpPr txBox="1"/>
          <p:nvPr/>
        </p:nvSpPr>
        <p:spPr>
          <a:xfrm>
            <a:off x="6754650" y="4755900"/>
            <a:ext cx="2337000" cy="38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rPr>
              <a:t>Prepared By: Sukarna Sarker</a:t>
            </a:r>
            <a:endParaRPr b="1" sz="12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pic>
        <p:nvPicPr>
          <p:cNvPr id="189" name="Google Shape;189;p22"/>
          <p:cNvPicPr preferRelativeResize="0"/>
          <p:nvPr/>
        </p:nvPicPr>
        <p:blipFill rotWithShape="1">
          <a:blip r:embed="rId3">
            <a:alphaModFix/>
          </a:blip>
          <a:srcRect b="0" l="0" r="0" t="0"/>
          <a:stretch/>
        </p:blipFill>
        <p:spPr>
          <a:xfrm>
            <a:off x="8507451" y="76200"/>
            <a:ext cx="560349" cy="514126"/>
          </a:xfrm>
          <a:prstGeom prst="rect">
            <a:avLst/>
          </a:prstGeom>
          <a:noFill/>
          <a:ln>
            <a:noFill/>
          </a:ln>
        </p:spPr>
      </p:pic>
      <p:sp>
        <p:nvSpPr>
          <p:cNvPr id="190" name="Google Shape;190;p22"/>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0" i="0" lang="en" sz="1000" u="none" cap="none" strike="noStrike">
                <a:solidFill>
                  <a:srgbClr val="595959"/>
                </a:solidFill>
                <a:latin typeface="Arial"/>
                <a:ea typeface="Arial"/>
                <a:cs typeface="Arial"/>
                <a:sym typeface="Arial"/>
              </a:rPr>
              <a:t>‹#›</a:t>
            </a:fld>
            <a:endParaRPr b="0" i="0" sz="1000" u="none" cap="none" strike="noStrike">
              <a:solidFill>
                <a:srgbClr val="595959"/>
              </a:solidFill>
              <a:latin typeface="Arial"/>
              <a:ea typeface="Arial"/>
              <a:cs typeface="Arial"/>
              <a:sym typeface="Arial"/>
            </a:endParaRPr>
          </a:p>
        </p:txBody>
      </p:sp>
      <p:grpSp>
        <p:nvGrpSpPr>
          <p:cNvPr id="191" name="Google Shape;191;p22"/>
          <p:cNvGrpSpPr/>
          <p:nvPr/>
        </p:nvGrpSpPr>
        <p:grpSpPr>
          <a:xfrm>
            <a:off x="50480" y="122879"/>
            <a:ext cx="277873" cy="68400"/>
            <a:chOff x="411700" y="2416840"/>
            <a:chExt cx="277873" cy="68400"/>
          </a:xfrm>
        </p:grpSpPr>
        <p:sp>
          <p:nvSpPr>
            <p:cNvPr id="192" name="Google Shape;192;p22"/>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p22"/>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22"/>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95" name="Google Shape;195;p22"/>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4F4F4F"/>
                </a:solidFill>
                <a:latin typeface="Lexend Light"/>
                <a:ea typeface="Lexend Light"/>
                <a:cs typeface="Lexend Light"/>
                <a:sym typeface="Lexend Light"/>
              </a:rPr>
              <a:t>Department of Computer Science and Engineering</a:t>
            </a:r>
            <a:endParaRPr b="1" i="0" sz="900" u="none" cap="none" strike="noStrike">
              <a:solidFill>
                <a:srgbClr val="4F4F4F"/>
              </a:solidFill>
              <a:latin typeface="Lexend"/>
              <a:ea typeface="Lexend"/>
              <a:cs typeface="Lexend"/>
              <a:sym typeface="Lexend"/>
            </a:endParaRPr>
          </a:p>
        </p:txBody>
      </p:sp>
      <p:sp>
        <p:nvSpPr>
          <p:cNvPr id="196" name="Google Shape;196;p22"/>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4F4F4F"/>
                </a:solidFill>
                <a:latin typeface="Lexend"/>
                <a:ea typeface="Lexend"/>
                <a:cs typeface="Lexend"/>
                <a:sym typeface="Lexend"/>
              </a:rPr>
              <a:t>CSE</a:t>
            </a:r>
            <a:r>
              <a:rPr b="1" lang="en" sz="900">
                <a:solidFill>
                  <a:srgbClr val="4F4F4F"/>
                </a:solidFill>
                <a:latin typeface="Lexend"/>
                <a:ea typeface="Lexend"/>
                <a:cs typeface="Lexend"/>
                <a:sym typeface="Lexend"/>
              </a:rPr>
              <a:t>420</a:t>
            </a:r>
            <a:r>
              <a:rPr b="1" i="0" lang="en" sz="900" u="none" cap="none" strike="noStrike">
                <a:solidFill>
                  <a:srgbClr val="4F4F4F"/>
                </a:solidFill>
                <a:latin typeface="Lexend"/>
                <a:ea typeface="Lexend"/>
                <a:cs typeface="Lexend"/>
                <a:sym typeface="Lexend"/>
              </a:rPr>
              <a:t> - </a:t>
            </a:r>
            <a:r>
              <a:rPr b="1" lang="en" sz="900">
                <a:solidFill>
                  <a:srgbClr val="4F4F4F"/>
                </a:solidFill>
                <a:latin typeface="Lexend"/>
                <a:ea typeface="Lexend"/>
                <a:cs typeface="Lexend"/>
                <a:sym typeface="Lexend"/>
              </a:rPr>
              <a:t>Compiler Design</a:t>
            </a:r>
            <a:endParaRPr b="0" i="0" sz="900" u="none" cap="none" strike="noStrike">
              <a:solidFill>
                <a:srgbClr val="4F4F4F"/>
              </a:solidFill>
              <a:latin typeface="Lexend"/>
              <a:ea typeface="Lexend"/>
              <a:cs typeface="Lexend"/>
              <a:sym typeface="Lexend"/>
            </a:endParaRPr>
          </a:p>
        </p:txBody>
      </p:sp>
      <p:sp>
        <p:nvSpPr>
          <p:cNvPr id="197" name="Google Shape;197;p22"/>
          <p:cNvSpPr txBox="1"/>
          <p:nvPr/>
        </p:nvSpPr>
        <p:spPr>
          <a:xfrm>
            <a:off x="0" y="102413"/>
            <a:ext cx="91440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latin typeface="Lexend Medium"/>
                <a:ea typeface="Lexend Medium"/>
                <a:cs typeface="Lexend Medium"/>
                <a:sym typeface="Lexend Medium"/>
              </a:rPr>
              <a:t>Fields of User Defined Types</a:t>
            </a:r>
            <a:endParaRPr sz="1800">
              <a:latin typeface="Lexend Medium"/>
              <a:ea typeface="Lexend Medium"/>
              <a:cs typeface="Lexend Medium"/>
              <a:sym typeface="Lexend Medium"/>
            </a:endParaRPr>
          </a:p>
        </p:txBody>
      </p:sp>
      <p:sp>
        <p:nvSpPr>
          <p:cNvPr id="198" name="Google Shape;198;p22"/>
          <p:cNvSpPr txBox="1"/>
          <p:nvPr/>
        </p:nvSpPr>
        <p:spPr>
          <a:xfrm>
            <a:off x="84550" y="191263"/>
            <a:ext cx="2723400" cy="20376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lang="en">
                <a:solidFill>
                  <a:schemeClr val="dk1"/>
                </a:solidFill>
                <a:latin typeface="Lexend"/>
                <a:ea typeface="Lexend"/>
                <a:cs typeface="Lexend"/>
                <a:sym typeface="Lexend"/>
              </a:rPr>
              <a:t>struct Student { </a:t>
            </a:r>
            <a:endParaRPr>
              <a:solidFill>
                <a:schemeClr val="dk1"/>
              </a:solidFill>
              <a:latin typeface="Lexend"/>
              <a:ea typeface="Lexend"/>
              <a:cs typeface="Lexend"/>
              <a:sym typeface="Lexend"/>
            </a:endParaRPr>
          </a:p>
          <a:p>
            <a:pPr indent="457200" lvl="0" marL="0" rtl="0" algn="just">
              <a:spcBef>
                <a:spcPts val="0"/>
              </a:spcBef>
              <a:spcAft>
                <a:spcPts val="0"/>
              </a:spcAft>
              <a:buClr>
                <a:schemeClr val="dk1"/>
              </a:buClr>
              <a:buSzPts val="1100"/>
              <a:buFont typeface="Arial"/>
              <a:buNone/>
            </a:pPr>
            <a:r>
              <a:rPr lang="en">
                <a:solidFill>
                  <a:schemeClr val="dk1"/>
                </a:solidFill>
                <a:latin typeface="Lexend"/>
                <a:ea typeface="Lexend"/>
                <a:cs typeface="Lexend"/>
                <a:sym typeface="Lexend"/>
              </a:rPr>
              <a:t>int studentId; </a:t>
            </a:r>
            <a:endParaRPr>
              <a:solidFill>
                <a:schemeClr val="dk1"/>
              </a:solidFill>
              <a:latin typeface="Lexend"/>
              <a:ea typeface="Lexend"/>
              <a:cs typeface="Lexend"/>
              <a:sym typeface="Lexend"/>
            </a:endParaRPr>
          </a:p>
          <a:p>
            <a:pPr indent="457200" lvl="0" marL="0" rtl="0" algn="just">
              <a:spcBef>
                <a:spcPts val="0"/>
              </a:spcBef>
              <a:spcAft>
                <a:spcPts val="0"/>
              </a:spcAft>
              <a:buClr>
                <a:schemeClr val="dk1"/>
              </a:buClr>
              <a:buSzPts val="1100"/>
              <a:buFont typeface="Arial"/>
              <a:buNone/>
            </a:pPr>
            <a:r>
              <a:rPr lang="en">
                <a:solidFill>
                  <a:schemeClr val="dk1"/>
                </a:solidFill>
                <a:latin typeface="Lexend"/>
                <a:ea typeface="Lexend"/>
                <a:cs typeface="Lexend"/>
                <a:sym typeface="Lexend"/>
              </a:rPr>
              <a:t>float cgpa; </a:t>
            </a:r>
            <a:endParaRPr>
              <a:solidFill>
                <a:schemeClr val="dk1"/>
              </a:solidFill>
              <a:latin typeface="Lexend"/>
              <a:ea typeface="Lexend"/>
              <a:cs typeface="Lexend"/>
              <a:sym typeface="Lexend"/>
            </a:endParaRPr>
          </a:p>
          <a:p>
            <a:pPr indent="457200" lvl="0" marL="0" rtl="0" algn="just">
              <a:spcBef>
                <a:spcPts val="0"/>
              </a:spcBef>
              <a:spcAft>
                <a:spcPts val="0"/>
              </a:spcAft>
              <a:buClr>
                <a:schemeClr val="dk1"/>
              </a:buClr>
              <a:buSzPts val="1100"/>
              <a:buFont typeface="Arial"/>
              <a:buNone/>
            </a:pPr>
            <a:r>
              <a:rPr lang="en">
                <a:solidFill>
                  <a:schemeClr val="dk1"/>
                </a:solidFill>
                <a:latin typeface="Lexend"/>
                <a:ea typeface="Lexend"/>
                <a:cs typeface="Lexend"/>
                <a:sym typeface="Lexend"/>
              </a:rPr>
              <a:t>int batch; </a:t>
            </a:r>
            <a:endParaRPr>
              <a:solidFill>
                <a:schemeClr val="dk1"/>
              </a:solidFill>
              <a:latin typeface="Lexend"/>
              <a:ea typeface="Lexend"/>
              <a:cs typeface="Lexend"/>
              <a:sym typeface="Lexend"/>
            </a:endParaRPr>
          </a:p>
          <a:p>
            <a:pPr indent="457200" lvl="0" marL="0" rtl="0" algn="just">
              <a:spcBef>
                <a:spcPts val="0"/>
              </a:spcBef>
              <a:spcAft>
                <a:spcPts val="0"/>
              </a:spcAft>
              <a:buClr>
                <a:schemeClr val="dk1"/>
              </a:buClr>
              <a:buSzPts val="1100"/>
              <a:buFont typeface="Arial"/>
              <a:buNone/>
            </a:pPr>
            <a:r>
              <a:rPr lang="en">
                <a:solidFill>
                  <a:schemeClr val="dk1"/>
                </a:solidFill>
                <a:latin typeface="Lexend"/>
                <a:ea typeface="Lexend"/>
                <a:cs typeface="Lexend"/>
                <a:sym typeface="Lexend"/>
              </a:rPr>
              <a:t>char[20] fullName;</a:t>
            </a:r>
            <a:endParaRPr>
              <a:solidFill>
                <a:schemeClr val="dk1"/>
              </a:solidFill>
              <a:latin typeface="Lexend"/>
              <a:ea typeface="Lexend"/>
              <a:cs typeface="Lexend"/>
              <a:sym typeface="Lexend"/>
            </a:endParaRPr>
          </a:p>
          <a:p>
            <a:pPr indent="0" lvl="0" marL="0" rtl="0" algn="just">
              <a:spcBef>
                <a:spcPts val="0"/>
              </a:spcBef>
              <a:spcAft>
                <a:spcPts val="0"/>
              </a:spcAft>
              <a:buClr>
                <a:schemeClr val="dk1"/>
              </a:buClr>
              <a:buSzPts val="1100"/>
              <a:buFont typeface="Arial"/>
              <a:buNone/>
            </a:pPr>
            <a:r>
              <a:rPr lang="en">
                <a:solidFill>
                  <a:schemeClr val="dk1"/>
                </a:solidFill>
                <a:latin typeface="Lexend"/>
                <a:ea typeface="Lexend"/>
                <a:cs typeface="Lexend"/>
                <a:sym typeface="Lexend"/>
              </a:rPr>
              <a:t>    }</a:t>
            </a:r>
            <a:endParaRPr>
              <a:solidFill>
                <a:schemeClr val="dk1"/>
              </a:solidFill>
              <a:latin typeface="Lexend"/>
              <a:ea typeface="Lexend"/>
              <a:cs typeface="Lexend"/>
              <a:sym typeface="Lexend"/>
            </a:endParaRPr>
          </a:p>
          <a:p>
            <a:pPr indent="0" lvl="0" marL="0" rtl="0" algn="l">
              <a:spcBef>
                <a:spcPts val="0"/>
              </a:spcBef>
              <a:spcAft>
                <a:spcPts val="0"/>
              </a:spcAft>
              <a:buNone/>
            </a:pPr>
            <a:r>
              <a:t/>
            </a:r>
            <a:endParaRPr sz="1800">
              <a:solidFill>
                <a:schemeClr val="dk2"/>
              </a:solidFill>
            </a:endParaRPr>
          </a:p>
        </p:txBody>
      </p:sp>
      <p:sp>
        <p:nvSpPr>
          <p:cNvPr id="199" name="Google Shape;199;p22"/>
          <p:cNvSpPr txBox="1"/>
          <p:nvPr/>
        </p:nvSpPr>
        <p:spPr>
          <a:xfrm>
            <a:off x="84550" y="3410200"/>
            <a:ext cx="8936700" cy="156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Lexend"/>
                <a:ea typeface="Lexend"/>
                <a:cs typeface="Lexend"/>
                <a:sym typeface="Lexend"/>
              </a:rPr>
              <a:t>Later, suppose you created a student object inside your code and assigned it to a variable name ‘adam’ and have the following statement in your program. </a:t>
            </a:r>
            <a:endParaRPr>
              <a:solidFill>
                <a:schemeClr val="dk1"/>
              </a:solidFill>
              <a:latin typeface="Lexend"/>
              <a:ea typeface="Lexend"/>
              <a:cs typeface="Lexend"/>
              <a:sym typeface="Lexend"/>
            </a:endParaRPr>
          </a:p>
          <a:p>
            <a:pPr indent="0" lvl="0" marL="0" rtl="0" algn="l">
              <a:spcBef>
                <a:spcPts val="0"/>
              </a:spcBef>
              <a:spcAft>
                <a:spcPts val="0"/>
              </a:spcAft>
              <a:buNone/>
            </a:pPr>
            <a:r>
              <a:rPr lang="en">
                <a:solidFill>
                  <a:schemeClr val="dk1"/>
                </a:solidFill>
                <a:latin typeface="Lexend"/>
                <a:ea typeface="Lexend"/>
                <a:cs typeface="Lexend"/>
                <a:sym typeface="Lexend"/>
              </a:rPr>
              <a:t>                           adam.cgpa = 3.85;</a:t>
            </a:r>
            <a:endParaRPr>
              <a:solidFill>
                <a:schemeClr val="dk1"/>
              </a:solidFill>
              <a:latin typeface="Lexend"/>
              <a:ea typeface="Lexend"/>
              <a:cs typeface="Lexend"/>
              <a:sym typeface="Lexend"/>
            </a:endParaRPr>
          </a:p>
          <a:p>
            <a:pPr indent="0" lvl="0" marL="0" rtl="0" algn="l">
              <a:spcBef>
                <a:spcPts val="0"/>
              </a:spcBef>
              <a:spcAft>
                <a:spcPts val="0"/>
              </a:spcAft>
              <a:buNone/>
            </a:pPr>
            <a:r>
              <a:t/>
            </a:r>
            <a:endParaRPr>
              <a:solidFill>
                <a:schemeClr val="dk1"/>
              </a:solidFill>
              <a:latin typeface="Lexend"/>
              <a:ea typeface="Lexend"/>
              <a:cs typeface="Lexend"/>
              <a:sym typeface="Lexend"/>
            </a:endParaRPr>
          </a:p>
        </p:txBody>
      </p:sp>
      <p:graphicFrame>
        <p:nvGraphicFramePr>
          <p:cNvPr id="200" name="Google Shape;200;p22"/>
          <p:cNvGraphicFramePr/>
          <p:nvPr/>
        </p:nvGraphicFramePr>
        <p:xfrm>
          <a:off x="84550" y="1623250"/>
          <a:ext cx="3000000" cy="3000000"/>
        </p:xfrm>
        <a:graphic>
          <a:graphicData uri="http://schemas.openxmlformats.org/drawingml/2006/table">
            <a:tbl>
              <a:tblPr>
                <a:noFill/>
                <a:tableStyleId>{488F9DF4-EE4B-4068-BD8B-F2B007583E1D}</a:tableStyleId>
              </a:tblPr>
              <a:tblGrid>
                <a:gridCol w="2234175"/>
                <a:gridCol w="2234175"/>
                <a:gridCol w="2234175"/>
                <a:gridCol w="2234175"/>
              </a:tblGrid>
              <a:tr h="312350">
                <a:tc>
                  <a:txBody>
                    <a:bodyPr/>
                    <a:lstStyle/>
                    <a:p>
                      <a:pPr indent="0" lvl="0" marL="0" rtl="0" algn="ctr">
                        <a:spcBef>
                          <a:spcPts val="0"/>
                        </a:spcBef>
                        <a:spcAft>
                          <a:spcPts val="0"/>
                        </a:spcAft>
                        <a:buNone/>
                      </a:pPr>
                      <a:r>
                        <a:rPr lang="en" sz="1200">
                          <a:latin typeface="Lexend"/>
                          <a:ea typeface="Lexend"/>
                          <a:cs typeface="Lexend"/>
                          <a:sym typeface="Lexend"/>
                        </a:rPr>
                        <a:t>Name</a:t>
                      </a:r>
                      <a:endParaRPr sz="12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Lexend"/>
                          <a:ea typeface="Lexend"/>
                          <a:cs typeface="Lexend"/>
                          <a:sym typeface="Lexend"/>
                        </a:rPr>
                        <a:t>Type</a:t>
                      </a:r>
                      <a:endParaRPr sz="12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Lexend"/>
                          <a:ea typeface="Lexend"/>
                          <a:cs typeface="Lexend"/>
                          <a:sym typeface="Lexend"/>
                        </a:rPr>
                        <a:t>Width</a:t>
                      </a:r>
                      <a:endParaRPr sz="12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Lexend"/>
                          <a:ea typeface="Lexend"/>
                          <a:cs typeface="Lexend"/>
                          <a:sym typeface="Lexend"/>
                        </a:rPr>
                        <a:t>Offset</a:t>
                      </a:r>
                      <a:endParaRPr sz="12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12350">
                <a:tc>
                  <a:txBody>
                    <a:bodyPr/>
                    <a:lstStyle/>
                    <a:p>
                      <a:pPr indent="0" lvl="0" marL="0" rtl="0" algn="ctr">
                        <a:spcBef>
                          <a:spcPts val="0"/>
                        </a:spcBef>
                        <a:spcAft>
                          <a:spcPts val="0"/>
                        </a:spcAft>
                        <a:buNone/>
                      </a:pPr>
                      <a:r>
                        <a:rPr lang="en" sz="1200">
                          <a:latin typeface="Lexend"/>
                          <a:ea typeface="Lexend"/>
                          <a:cs typeface="Lexend"/>
                          <a:sym typeface="Lexend"/>
                        </a:rPr>
                        <a:t>studentid</a:t>
                      </a:r>
                      <a:endParaRPr sz="12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Lexend"/>
                          <a:ea typeface="Lexend"/>
                          <a:cs typeface="Lexend"/>
                          <a:sym typeface="Lexend"/>
                        </a:rPr>
                        <a:t>int</a:t>
                      </a:r>
                      <a:endParaRPr sz="12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Lexend"/>
                          <a:ea typeface="Lexend"/>
                          <a:cs typeface="Lexend"/>
                          <a:sym typeface="Lexend"/>
                        </a:rPr>
                        <a:t>4</a:t>
                      </a:r>
                      <a:endParaRPr sz="12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Lexend"/>
                          <a:ea typeface="Lexend"/>
                          <a:cs typeface="Lexend"/>
                          <a:sym typeface="Lexend"/>
                        </a:rPr>
                        <a:t>0</a:t>
                      </a:r>
                      <a:endParaRPr sz="12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12350">
                <a:tc>
                  <a:txBody>
                    <a:bodyPr/>
                    <a:lstStyle/>
                    <a:p>
                      <a:pPr indent="0" lvl="0" marL="0" rtl="0" algn="ctr">
                        <a:spcBef>
                          <a:spcPts val="0"/>
                        </a:spcBef>
                        <a:spcAft>
                          <a:spcPts val="0"/>
                        </a:spcAft>
                        <a:buNone/>
                      </a:pPr>
                      <a:r>
                        <a:rPr lang="en" sz="1200">
                          <a:latin typeface="Lexend"/>
                          <a:ea typeface="Lexend"/>
                          <a:cs typeface="Lexend"/>
                          <a:sym typeface="Lexend"/>
                        </a:rPr>
                        <a:t>cgpa</a:t>
                      </a:r>
                      <a:endParaRPr sz="12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D9EAD3"/>
                    </a:solidFill>
                  </a:tcPr>
                </a:tc>
                <a:tc>
                  <a:txBody>
                    <a:bodyPr/>
                    <a:lstStyle/>
                    <a:p>
                      <a:pPr indent="0" lvl="0" marL="0" rtl="0" algn="ctr">
                        <a:spcBef>
                          <a:spcPts val="0"/>
                        </a:spcBef>
                        <a:spcAft>
                          <a:spcPts val="0"/>
                        </a:spcAft>
                        <a:buNone/>
                      </a:pPr>
                      <a:r>
                        <a:rPr lang="en" sz="1200">
                          <a:latin typeface="Lexend"/>
                          <a:ea typeface="Lexend"/>
                          <a:cs typeface="Lexend"/>
                          <a:sym typeface="Lexend"/>
                        </a:rPr>
                        <a:t>float</a:t>
                      </a:r>
                      <a:endParaRPr sz="12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D9EAD3"/>
                    </a:solidFill>
                  </a:tcPr>
                </a:tc>
                <a:tc>
                  <a:txBody>
                    <a:bodyPr/>
                    <a:lstStyle/>
                    <a:p>
                      <a:pPr indent="0" lvl="0" marL="0" rtl="0" algn="ctr">
                        <a:spcBef>
                          <a:spcPts val="0"/>
                        </a:spcBef>
                        <a:spcAft>
                          <a:spcPts val="0"/>
                        </a:spcAft>
                        <a:buNone/>
                      </a:pPr>
                      <a:r>
                        <a:rPr lang="en" sz="1200">
                          <a:latin typeface="Lexend"/>
                          <a:ea typeface="Lexend"/>
                          <a:cs typeface="Lexend"/>
                          <a:sym typeface="Lexend"/>
                        </a:rPr>
                        <a:t>8</a:t>
                      </a:r>
                      <a:endParaRPr sz="12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D9EAD3"/>
                    </a:solidFill>
                  </a:tcPr>
                </a:tc>
                <a:tc>
                  <a:txBody>
                    <a:bodyPr/>
                    <a:lstStyle/>
                    <a:p>
                      <a:pPr indent="0" lvl="0" marL="0" rtl="0" algn="ctr">
                        <a:spcBef>
                          <a:spcPts val="0"/>
                        </a:spcBef>
                        <a:spcAft>
                          <a:spcPts val="0"/>
                        </a:spcAft>
                        <a:buNone/>
                      </a:pPr>
                      <a:r>
                        <a:rPr lang="en" sz="1200">
                          <a:latin typeface="Lexend"/>
                          <a:ea typeface="Lexend"/>
                          <a:cs typeface="Lexend"/>
                          <a:sym typeface="Lexend"/>
                        </a:rPr>
                        <a:t>4</a:t>
                      </a:r>
                      <a:endParaRPr sz="12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D9EAD3"/>
                    </a:solidFill>
                  </a:tcPr>
                </a:tc>
              </a:tr>
              <a:tr h="312350">
                <a:tc>
                  <a:txBody>
                    <a:bodyPr/>
                    <a:lstStyle/>
                    <a:p>
                      <a:pPr indent="0" lvl="0" marL="0" rtl="0" algn="ctr">
                        <a:spcBef>
                          <a:spcPts val="0"/>
                        </a:spcBef>
                        <a:spcAft>
                          <a:spcPts val="0"/>
                        </a:spcAft>
                        <a:buNone/>
                      </a:pPr>
                      <a:r>
                        <a:rPr lang="en" sz="1200">
                          <a:latin typeface="Lexend"/>
                          <a:ea typeface="Lexend"/>
                          <a:cs typeface="Lexend"/>
                          <a:sym typeface="Lexend"/>
                        </a:rPr>
                        <a:t>batch</a:t>
                      </a:r>
                      <a:endParaRPr sz="12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Lexend"/>
                          <a:ea typeface="Lexend"/>
                          <a:cs typeface="Lexend"/>
                          <a:sym typeface="Lexend"/>
                        </a:rPr>
                        <a:t>int</a:t>
                      </a:r>
                      <a:endParaRPr sz="12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Lexend"/>
                          <a:ea typeface="Lexend"/>
                          <a:cs typeface="Lexend"/>
                          <a:sym typeface="Lexend"/>
                        </a:rPr>
                        <a:t>4</a:t>
                      </a:r>
                      <a:endParaRPr sz="12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Lexend"/>
                          <a:ea typeface="Lexend"/>
                          <a:cs typeface="Lexend"/>
                          <a:sym typeface="Lexend"/>
                        </a:rPr>
                        <a:t>12</a:t>
                      </a:r>
                      <a:endParaRPr sz="12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12350">
                <a:tc>
                  <a:txBody>
                    <a:bodyPr/>
                    <a:lstStyle/>
                    <a:p>
                      <a:pPr indent="0" lvl="0" marL="0" rtl="0" algn="ctr">
                        <a:spcBef>
                          <a:spcPts val="0"/>
                        </a:spcBef>
                        <a:spcAft>
                          <a:spcPts val="0"/>
                        </a:spcAft>
                        <a:buNone/>
                      </a:pPr>
                      <a:r>
                        <a:rPr lang="en" sz="1200">
                          <a:latin typeface="Lexend"/>
                          <a:ea typeface="Lexend"/>
                          <a:cs typeface="Lexend"/>
                          <a:sym typeface="Lexend"/>
                        </a:rPr>
                        <a:t>fullName</a:t>
                      </a:r>
                      <a:endParaRPr sz="12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Lexend"/>
                          <a:ea typeface="Lexend"/>
                          <a:cs typeface="Lexend"/>
                          <a:sym typeface="Lexend"/>
                        </a:rPr>
                        <a:t>array(20,char)</a:t>
                      </a:r>
                      <a:endParaRPr sz="12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Lexend"/>
                          <a:ea typeface="Lexend"/>
                          <a:cs typeface="Lexend"/>
                          <a:sym typeface="Lexend"/>
                        </a:rPr>
                        <a:t>40</a:t>
                      </a:r>
                      <a:endParaRPr sz="12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Lexend"/>
                          <a:ea typeface="Lexend"/>
                          <a:cs typeface="Lexend"/>
                          <a:sym typeface="Lexend"/>
                        </a:rPr>
                        <a:t>16</a:t>
                      </a:r>
                      <a:endParaRPr sz="12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201" name="Google Shape;201;p22"/>
          <p:cNvSpPr txBox="1"/>
          <p:nvPr/>
        </p:nvSpPr>
        <p:spPr>
          <a:xfrm>
            <a:off x="6754650" y="4755900"/>
            <a:ext cx="2337000" cy="38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rPr>
              <a:t>Prepared By: Sukarna Sarker</a:t>
            </a:r>
            <a:endParaRPr b="1" sz="12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pic>
        <p:nvPicPr>
          <p:cNvPr id="206" name="Google Shape;206;p23"/>
          <p:cNvPicPr preferRelativeResize="0"/>
          <p:nvPr/>
        </p:nvPicPr>
        <p:blipFill rotWithShape="1">
          <a:blip r:embed="rId3">
            <a:alphaModFix/>
          </a:blip>
          <a:srcRect b="0" l="0" r="0" t="0"/>
          <a:stretch/>
        </p:blipFill>
        <p:spPr>
          <a:xfrm>
            <a:off x="8507451" y="76200"/>
            <a:ext cx="560349" cy="514126"/>
          </a:xfrm>
          <a:prstGeom prst="rect">
            <a:avLst/>
          </a:prstGeom>
          <a:noFill/>
          <a:ln>
            <a:noFill/>
          </a:ln>
        </p:spPr>
      </p:pic>
      <p:sp>
        <p:nvSpPr>
          <p:cNvPr id="207" name="Google Shape;207;p23"/>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0" i="0" lang="en" sz="1000" u="none" cap="none" strike="noStrike">
                <a:solidFill>
                  <a:srgbClr val="595959"/>
                </a:solidFill>
                <a:latin typeface="Arial"/>
                <a:ea typeface="Arial"/>
                <a:cs typeface="Arial"/>
                <a:sym typeface="Arial"/>
              </a:rPr>
              <a:t>‹#›</a:t>
            </a:fld>
            <a:endParaRPr b="0" i="0" sz="1000" u="none" cap="none" strike="noStrike">
              <a:solidFill>
                <a:srgbClr val="595959"/>
              </a:solidFill>
              <a:latin typeface="Arial"/>
              <a:ea typeface="Arial"/>
              <a:cs typeface="Arial"/>
              <a:sym typeface="Arial"/>
            </a:endParaRPr>
          </a:p>
        </p:txBody>
      </p:sp>
      <p:grpSp>
        <p:nvGrpSpPr>
          <p:cNvPr id="208" name="Google Shape;208;p23"/>
          <p:cNvGrpSpPr/>
          <p:nvPr/>
        </p:nvGrpSpPr>
        <p:grpSpPr>
          <a:xfrm>
            <a:off x="50480" y="122879"/>
            <a:ext cx="277873" cy="68400"/>
            <a:chOff x="411700" y="2416840"/>
            <a:chExt cx="277873" cy="68400"/>
          </a:xfrm>
        </p:grpSpPr>
        <p:sp>
          <p:nvSpPr>
            <p:cNvPr id="209" name="Google Shape;209;p23"/>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23"/>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 name="Google Shape;211;p23"/>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12" name="Google Shape;212;p23"/>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4F4F4F"/>
                </a:solidFill>
                <a:latin typeface="Lexend Light"/>
                <a:ea typeface="Lexend Light"/>
                <a:cs typeface="Lexend Light"/>
                <a:sym typeface="Lexend Light"/>
              </a:rPr>
              <a:t>Department of Computer Science and Engineering</a:t>
            </a:r>
            <a:endParaRPr b="1" i="0" sz="900" u="none" cap="none" strike="noStrike">
              <a:solidFill>
                <a:srgbClr val="4F4F4F"/>
              </a:solidFill>
              <a:latin typeface="Lexend"/>
              <a:ea typeface="Lexend"/>
              <a:cs typeface="Lexend"/>
              <a:sym typeface="Lexend"/>
            </a:endParaRPr>
          </a:p>
        </p:txBody>
      </p:sp>
      <p:sp>
        <p:nvSpPr>
          <p:cNvPr id="213" name="Google Shape;213;p23"/>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4F4F4F"/>
                </a:solidFill>
                <a:latin typeface="Lexend"/>
                <a:ea typeface="Lexend"/>
                <a:cs typeface="Lexend"/>
                <a:sym typeface="Lexend"/>
              </a:rPr>
              <a:t>CSE</a:t>
            </a:r>
            <a:r>
              <a:rPr b="1" lang="en" sz="900">
                <a:solidFill>
                  <a:srgbClr val="4F4F4F"/>
                </a:solidFill>
                <a:latin typeface="Lexend"/>
                <a:ea typeface="Lexend"/>
                <a:cs typeface="Lexend"/>
                <a:sym typeface="Lexend"/>
              </a:rPr>
              <a:t>420</a:t>
            </a:r>
            <a:r>
              <a:rPr b="1" i="0" lang="en" sz="900" u="none" cap="none" strike="noStrike">
                <a:solidFill>
                  <a:srgbClr val="4F4F4F"/>
                </a:solidFill>
                <a:latin typeface="Lexend"/>
                <a:ea typeface="Lexend"/>
                <a:cs typeface="Lexend"/>
                <a:sym typeface="Lexend"/>
              </a:rPr>
              <a:t> - </a:t>
            </a:r>
            <a:r>
              <a:rPr b="1" lang="en" sz="900">
                <a:solidFill>
                  <a:srgbClr val="4F4F4F"/>
                </a:solidFill>
                <a:latin typeface="Lexend"/>
                <a:ea typeface="Lexend"/>
                <a:cs typeface="Lexend"/>
                <a:sym typeface="Lexend"/>
              </a:rPr>
              <a:t>Compiler Design</a:t>
            </a:r>
            <a:endParaRPr b="0" i="0" sz="900" u="none" cap="none" strike="noStrike">
              <a:solidFill>
                <a:srgbClr val="4F4F4F"/>
              </a:solidFill>
              <a:latin typeface="Lexend"/>
              <a:ea typeface="Lexend"/>
              <a:cs typeface="Lexend"/>
              <a:sym typeface="Lexend"/>
            </a:endParaRPr>
          </a:p>
        </p:txBody>
      </p:sp>
      <p:sp>
        <p:nvSpPr>
          <p:cNvPr id="214" name="Google Shape;214;p23"/>
          <p:cNvSpPr txBox="1"/>
          <p:nvPr/>
        </p:nvSpPr>
        <p:spPr>
          <a:xfrm>
            <a:off x="0" y="102413"/>
            <a:ext cx="91440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latin typeface="Lexend Medium"/>
                <a:ea typeface="Lexend Medium"/>
                <a:cs typeface="Lexend Medium"/>
                <a:sym typeface="Lexend Medium"/>
              </a:rPr>
              <a:t>Fields of User Defined Types</a:t>
            </a:r>
            <a:endParaRPr sz="1800">
              <a:latin typeface="Lexend Medium"/>
              <a:ea typeface="Lexend Medium"/>
              <a:cs typeface="Lexend Medium"/>
              <a:sym typeface="Lexend Medium"/>
            </a:endParaRPr>
          </a:p>
        </p:txBody>
      </p:sp>
      <p:sp>
        <p:nvSpPr>
          <p:cNvPr id="215" name="Google Shape;215;p23"/>
          <p:cNvSpPr txBox="1"/>
          <p:nvPr/>
        </p:nvSpPr>
        <p:spPr>
          <a:xfrm>
            <a:off x="84550" y="102413"/>
            <a:ext cx="2723400" cy="20376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lang="en">
                <a:solidFill>
                  <a:schemeClr val="dk1"/>
                </a:solidFill>
                <a:latin typeface="Lexend"/>
                <a:ea typeface="Lexend"/>
                <a:cs typeface="Lexend"/>
                <a:sym typeface="Lexend"/>
              </a:rPr>
              <a:t>struct Student { </a:t>
            </a:r>
            <a:endParaRPr>
              <a:solidFill>
                <a:schemeClr val="dk1"/>
              </a:solidFill>
              <a:latin typeface="Lexend"/>
              <a:ea typeface="Lexend"/>
              <a:cs typeface="Lexend"/>
              <a:sym typeface="Lexend"/>
            </a:endParaRPr>
          </a:p>
          <a:p>
            <a:pPr indent="457200" lvl="0" marL="0" rtl="0" algn="just">
              <a:spcBef>
                <a:spcPts val="0"/>
              </a:spcBef>
              <a:spcAft>
                <a:spcPts val="0"/>
              </a:spcAft>
              <a:buClr>
                <a:schemeClr val="dk1"/>
              </a:buClr>
              <a:buSzPts val="1100"/>
              <a:buFont typeface="Arial"/>
              <a:buNone/>
            </a:pPr>
            <a:r>
              <a:rPr lang="en">
                <a:solidFill>
                  <a:schemeClr val="dk1"/>
                </a:solidFill>
                <a:latin typeface="Lexend"/>
                <a:ea typeface="Lexend"/>
                <a:cs typeface="Lexend"/>
                <a:sym typeface="Lexend"/>
              </a:rPr>
              <a:t>int studentId; </a:t>
            </a:r>
            <a:endParaRPr>
              <a:solidFill>
                <a:schemeClr val="dk1"/>
              </a:solidFill>
              <a:latin typeface="Lexend"/>
              <a:ea typeface="Lexend"/>
              <a:cs typeface="Lexend"/>
              <a:sym typeface="Lexend"/>
            </a:endParaRPr>
          </a:p>
          <a:p>
            <a:pPr indent="457200" lvl="0" marL="0" rtl="0" algn="just">
              <a:spcBef>
                <a:spcPts val="0"/>
              </a:spcBef>
              <a:spcAft>
                <a:spcPts val="0"/>
              </a:spcAft>
              <a:buClr>
                <a:schemeClr val="dk1"/>
              </a:buClr>
              <a:buSzPts val="1100"/>
              <a:buFont typeface="Arial"/>
              <a:buNone/>
            </a:pPr>
            <a:r>
              <a:rPr lang="en">
                <a:solidFill>
                  <a:schemeClr val="dk1"/>
                </a:solidFill>
                <a:latin typeface="Lexend"/>
                <a:ea typeface="Lexend"/>
                <a:cs typeface="Lexend"/>
                <a:sym typeface="Lexend"/>
              </a:rPr>
              <a:t>float cgpa; </a:t>
            </a:r>
            <a:endParaRPr>
              <a:solidFill>
                <a:schemeClr val="dk1"/>
              </a:solidFill>
              <a:latin typeface="Lexend"/>
              <a:ea typeface="Lexend"/>
              <a:cs typeface="Lexend"/>
              <a:sym typeface="Lexend"/>
            </a:endParaRPr>
          </a:p>
          <a:p>
            <a:pPr indent="457200" lvl="0" marL="0" rtl="0" algn="just">
              <a:spcBef>
                <a:spcPts val="0"/>
              </a:spcBef>
              <a:spcAft>
                <a:spcPts val="0"/>
              </a:spcAft>
              <a:buClr>
                <a:schemeClr val="dk1"/>
              </a:buClr>
              <a:buSzPts val="1100"/>
              <a:buFont typeface="Arial"/>
              <a:buNone/>
            </a:pPr>
            <a:r>
              <a:rPr lang="en">
                <a:solidFill>
                  <a:schemeClr val="dk1"/>
                </a:solidFill>
                <a:latin typeface="Lexend"/>
                <a:ea typeface="Lexend"/>
                <a:cs typeface="Lexend"/>
                <a:sym typeface="Lexend"/>
              </a:rPr>
              <a:t>int batch; </a:t>
            </a:r>
            <a:endParaRPr>
              <a:solidFill>
                <a:schemeClr val="dk1"/>
              </a:solidFill>
              <a:latin typeface="Lexend"/>
              <a:ea typeface="Lexend"/>
              <a:cs typeface="Lexend"/>
              <a:sym typeface="Lexend"/>
            </a:endParaRPr>
          </a:p>
          <a:p>
            <a:pPr indent="457200" lvl="0" marL="0" rtl="0" algn="just">
              <a:spcBef>
                <a:spcPts val="0"/>
              </a:spcBef>
              <a:spcAft>
                <a:spcPts val="0"/>
              </a:spcAft>
              <a:buClr>
                <a:schemeClr val="dk1"/>
              </a:buClr>
              <a:buSzPts val="1100"/>
              <a:buFont typeface="Arial"/>
              <a:buNone/>
            </a:pPr>
            <a:r>
              <a:rPr lang="en">
                <a:solidFill>
                  <a:schemeClr val="dk1"/>
                </a:solidFill>
                <a:latin typeface="Lexend"/>
                <a:ea typeface="Lexend"/>
                <a:cs typeface="Lexend"/>
                <a:sym typeface="Lexend"/>
              </a:rPr>
              <a:t>char[20] fullName;</a:t>
            </a:r>
            <a:endParaRPr>
              <a:solidFill>
                <a:schemeClr val="dk1"/>
              </a:solidFill>
              <a:latin typeface="Lexend"/>
              <a:ea typeface="Lexend"/>
              <a:cs typeface="Lexend"/>
              <a:sym typeface="Lexend"/>
            </a:endParaRPr>
          </a:p>
          <a:p>
            <a:pPr indent="0" lvl="0" marL="0" rtl="0" algn="just">
              <a:spcBef>
                <a:spcPts val="0"/>
              </a:spcBef>
              <a:spcAft>
                <a:spcPts val="0"/>
              </a:spcAft>
              <a:buClr>
                <a:schemeClr val="dk1"/>
              </a:buClr>
              <a:buSzPts val="1100"/>
              <a:buFont typeface="Arial"/>
              <a:buNone/>
            </a:pPr>
            <a:r>
              <a:rPr lang="en">
                <a:solidFill>
                  <a:schemeClr val="dk1"/>
                </a:solidFill>
                <a:latin typeface="Lexend"/>
                <a:ea typeface="Lexend"/>
                <a:cs typeface="Lexend"/>
                <a:sym typeface="Lexend"/>
              </a:rPr>
              <a:t>    }</a:t>
            </a:r>
            <a:endParaRPr>
              <a:solidFill>
                <a:schemeClr val="dk1"/>
              </a:solidFill>
              <a:latin typeface="Lexend"/>
              <a:ea typeface="Lexend"/>
              <a:cs typeface="Lexend"/>
              <a:sym typeface="Lexend"/>
            </a:endParaRPr>
          </a:p>
          <a:p>
            <a:pPr indent="0" lvl="0" marL="0" rtl="0" algn="l">
              <a:spcBef>
                <a:spcPts val="0"/>
              </a:spcBef>
              <a:spcAft>
                <a:spcPts val="0"/>
              </a:spcAft>
              <a:buNone/>
            </a:pPr>
            <a:r>
              <a:t/>
            </a:r>
            <a:endParaRPr sz="1800">
              <a:solidFill>
                <a:schemeClr val="dk2"/>
              </a:solidFill>
            </a:endParaRPr>
          </a:p>
        </p:txBody>
      </p:sp>
      <p:sp>
        <p:nvSpPr>
          <p:cNvPr id="216" name="Google Shape;216;p23"/>
          <p:cNvSpPr txBox="1"/>
          <p:nvPr/>
        </p:nvSpPr>
        <p:spPr>
          <a:xfrm>
            <a:off x="84550" y="3341575"/>
            <a:ext cx="8936700" cy="156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Lexend"/>
                <a:ea typeface="Lexend"/>
                <a:cs typeface="Lexend"/>
                <a:sym typeface="Lexend"/>
              </a:rPr>
              <a:t>What will happen to the following statement?</a:t>
            </a:r>
            <a:endParaRPr>
              <a:solidFill>
                <a:schemeClr val="dk1"/>
              </a:solidFill>
              <a:latin typeface="Lexend"/>
              <a:ea typeface="Lexend"/>
              <a:cs typeface="Lexend"/>
              <a:sym typeface="Lexend"/>
            </a:endParaRPr>
          </a:p>
          <a:p>
            <a:pPr indent="0" lvl="0" marL="0" rtl="0" algn="l">
              <a:spcBef>
                <a:spcPts val="0"/>
              </a:spcBef>
              <a:spcAft>
                <a:spcPts val="0"/>
              </a:spcAft>
              <a:buNone/>
            </a:pPr>
            <a:r>
              <a:rPr lang="en">
                <a:solidFill>
                  <a:schemeClr val="dk1"/>
                </a:solidFill>
                <a:latin typeface="Lexend"/>
                <a:ea typeface="Lexend"/>
                <a:cs typeface="Lexend"/>
                <a:sym typeface="Lexend"/>
              </a:rPr>
              <a:t>ch = adam.fullName</a:t>
            </a:r>
            <a:r>
              <a:rPr lang="en">
                <a:solidFill>
                  <a:schemeClr val="dk1"/>
                </a:solidFill>
                <a:latin typeface="Lexend"/>
                <a:ea typeface="Lexend"/>
                <a:cs typeface="Lexend"/>
                <a:sym typeface="Lexend"/>
              </a:rPr>
              <a:t>[10]</a:t>
            </a:r>
            <a:r>
              <a:rPr lang="en">
                <a:solidFill>
                  <a:schemeClr val="dk1"/>
                </a:solidFill>
                <a:latin typeface="Lexend"/>
                <a:ea typeface="Lexend"/>
                <a:cs typeface="Lexend"/>
                <a:sym typeface="Lexend"/>
              </a:rPr>
              <a:t>;</a:t>
            </a:r>
            <a:endParaRPr>
              <a:solidFill>
                <a:schemeClr val="dk1"/>
              </a:solidFill>
              <a:latin typeface="Lexend"/>
              <a:ea typeface="Lexend"/>
              <a:cs typeface="Lexend"/>
              <a:sym typeface="Lexend"/>
            </a:endParaRPr>
          </a:p>
          <a:p>
            <a:pPr indent="0" lvl="0" marL="0" rtl="0" algn="l">
              <a:spcBef>
                <a:spcPts val="0"/>
              </a:spcBef>
              <a:spcAft>
                <a:spcPts val="0"/>
              </a:spcAft>
              <a:buNone/>
            </a:pPr>
            <a:r>
              <a:t/>
            </a:r>
            <a:endParaRPr>
              <a:solidFill>
                <a:schemeClr val="dk1"/>
              </a:solidFill>
              <a:latin typeface="Lexend"/>
              <a:ea typeface="Lexend"/>
              <a:cs typeface="Lexend"/>
              <a:sym typeface="Lexend"/>
            </a:endParaRPr>
          </a:p>
        </p:txBody>
      </p:sp>
      <p:graphicFrame>
        <p:nvGraphicFramePr>
          <p:cNvPr id="217" name="Google Shape;217;p23"/>
          <p:cNvGraphicFramePr/>
          <p:nvPr/>
        </p:nvGraphicFramePr>
        <p:xfrm>
          <a:off x="84550" y="1512938"/>
          <a:ext cx="3000000" cy="3000000"/>
        </p:xfrm>
        <a:graphic>
          <a:graphicData uri="http://schemas.openxmlformats.org/drawingml/2006/table">
            <a:tbl>
              <a:tblPr>
                <a:noFill/>
                <a:tableStyleId>{488F9DF4-EE4B-4068-BD8B-F2B007583E1D}</a:tableStyleId>
              </a:tblPr>
              <a:tblGrid>
                <a:gridCol w="2234175"/>
                <a:gridCol w="2234175"/>
                <a:gridCol w="2234175"/>
                <a:gridCol w="2234175"/>
              </a:tblGrid>
              <a:tr h="312350">
                <a:tc>
                  <a:txBody>
                    <a:bodyPr/>
                    <a:lstStyle/>
                    <a:p>
                      <a:pPr indent="0" lvl="0" marL="0" rtl="0" algn="ctr">
                        <a:spcBef>
                          <a:spcPts val="0"/>
                        </a:spcBef>
                        <a:spcAft>
                          <a:spcPts val="0"/>
                        </a:spcAft>
                        <a:buNone/>
                      </a:pPr>
                      <a:r>
                        <a:rPr lang="en" sz="1200">
                          <a:latin typeface="Lexend"/>
                          <a:ea typeface="Lexend"/>
                          <a:cs typeface="Lexend"/>
                          <a:sym typeface="Lexend"/>
                        </a:rPr>
                        <a:t>Name</a:t>
                      </a:r>
                      <a:endParaRPr sz="12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Lexend"/>
                          <a:ea typeface="Lexend"/>
                          <a:cs typeface="Lexend"/>
                          <a:sym typeface="Lexend"/>
                        </a:rPr>
                        <a:t>Type</a:t>
                      </a:r>
                      <a:endParaRPr sz="12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Lexend"/>
                          <a:ea typeface="Lexend"/>
                          <a:cs typeface="Lexend"/>
                          <a:sym typeface="Lexend"/>
                        </a:rPr>
                        <a:t>Width</a:t>
                      </a:r>
                      <a:endParaRPr sz="12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Lexend"/>
                          <a:ea typeface="Lexend"/>
                          <a:cs typeface="Lexend"/>
                          <a:sym typeface="Lexend"/>
                        </a:rPr>
                        <a:t>Offset</a:t>
                      </a:r>
                      <a:endParaRPr sz="12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12350">
                <a:tc>
                  <a:txBody>
                    <a:bodyPr/>
                    <a:lstStyle/>
                    <a:p>
                      <a:pPr indent="0" lvl="0" marL="0" rtl="0" algn="ctr">
                        <a:spcBef>
                          <a:spcPts val="0"/>
                        </a:spcBef>
                        <a:spcAft>
                          <a:spcPts val="0"/>
                        </a:spcAft>
                        <a:buNone/>
                      </a:pPr>
                      <a:r>
                        <a:rPr lang="en" sz="1200">
                          <a:latin typeface="Lexend"/>
                          <a:ea typeface="Lexend"/>
                          <a:cs typeface="Lexend"/>
                          <a:sym typeface="Lexend"/>
                        </a:rPr>
                        <a:t>studentid</a:t>
                      </a:r>
                      <a:endParaRPr sz="12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Lexend"/>
                          <a:ea typeface="Lexend"/>
                          <a:cs typeface="Lexend"/>
                          <a:sym typeface="Lexend"/>
                        </a:rPr>
                        <a:t>int</a:t>
                      </a:r>
                      <a:endParaRPr sz="12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Lexend"/>
                          <a:ea typeface="Lexend"/>
                          <a:cs typeface="Lexend"/>
                          <a:sym typeface="Lexend"/>
                        </a:rPr>
                        <a:t>4</a:t>
                      </a:r>
                      <a:endParaRPr sz="12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Lexend"/>
                          <a:ea typeface="Lexend"/>
                          <a:cs typeface="Lexend"/>
                          <a:sym typeface="Lexend"/>
                        </a:rPr>
                        <a:t>0</a:t>
                      </a:r>
                      <a:endParaRPr sz="12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12350">
                <a:tc>
                  <a:txBody>
                    <a:bodyPr/>
                    <a:lstStyle/>
                    <a:p>
                      <a:pPr indent="0" lvl="0" marL="0" rtl="0" algn="ctr">
                        <a:spcBef>
                          <a:spcPts val="0"/>
                        </a:spcBef>
                        <a:spcAft>
                          <a:spcPts val="0"/>
                        </a:spcAft>
                        <a:buNone/>
                      </a:pPr>
                      <a:r>
                        <a:rPr lang="en" sz="1200">
                          <a:latin typeface="Lexend"/>
                          <a:ea typeface="Lexend"/>
                          <a:cs typeface="Lexend"/>
                          <a:sym typeface="Lexend"/>
                        </a:rPr>
                        <a:t>cgpa</a:t>
                      </a:r>
                      <a:endParaRPr sz="12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200">
                          <a:latin typeface="Lexend"/>
                          <a:ea typeface="Lexend"/>
                          <a:cs typeface="Lexend"/>
                          <a:sym typeface="Lexend"/>
                        </a:rPr>
                        <a:t>float</a:t>
                      </a:r>
                      <a:endParaRPr sz="12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200">
                          <a:latin typeface="Lexend"/>
                          <a:ea typeface="Lexend"/>
                          <a:cs typeface="Lexend"/>
                          <a:sym typeface="Lexend"/>
                        </a:rPr>
                        <a:t>8</a:t>
                      </a:r>
                      <a:endParaRPr sz="12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200">
                          <a:latin typeface="Lexend"/>
                          <a:ea typeface="Lexend"/>
                          <a:cs typeface="Lexend"/>
                          <a:sym typeface="Lexend"/>
                        </a:rPr>
                        <a:t>4</a:t>
                      </a:r>
                      <a:endParaRPr sz="12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312350">
                <a:tc>
                  <a:txBody>
                    <a:bodyPr/>
                    <a:lstStyle/>
                    <a:p>
                      <a:pPr indent="0" lvl="0" marL="0" rtl="0" algn="ctr">
                        <a:spcBef>
                          <a:spcPts val="0"/>
                        </a:spcBef>
                        <a:spcAft>
                          <a:spcPts val="0"/>
                        </a:spcAft>
                        <a:buNone/>
                      </a:pPr>
                      <a:r>
                        <a:rPr lang="en" sz="1200">
                          <a:latin typeface="Lexend"/>
                          <a:ea typeface="Lexend"/>
                          <a:cs typeface="Lexend"/>
                          <a:sym typeface="Lexend"/>
                        </a:rPr>
                        <a:t>batch</a:t>
                      </a:r>
                      <a:endParaRPr sz="12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Lexend"/>
                          <a:ea typeface="Lexend"/>
                          <a:cs typeface="Lexend"/>
                          <a:sym typeface="Lexend"/>
                        </a:rPr>
                        <a:t>int</a:t>
                      </a:r>
                      <a:endParaRPr sz="12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Lexend"/>
                          <a:ea typeface="Lexend"/>
                          <a:cs typeface="Lexend"/>
                          <a:sym typeface="Lexend"/>
                        </a:rPr>
                        <a:t>4</a:t>
                      </a:r>
                      <a:endParaRPr sz="12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Lexend"/>
                          <a:ea typeface="Lexend"/>
                          <a:cs typeface="Lexend"/>
                          <a:sym typeface="Lexend"/>
                        </a:rPr>
                        <a:t>12</a:t>
                      </a:r>
                      <a:endParaRPr sz="12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12350">
                <a:tc>
                  <a:txBody>
                    <a:bodyPr/>
                    <a:lstStyle/>
                    <a:p>
                      <a:pPr indent="0" lvl="0" marL="0" rtl="0" algn="ctr">
                        <a:spcBef>
                          <a:spcPts val="0"/>
                        </a:spcBef>
                        <a:spcAft>
                          <a:spcPts val="0"/>
                        </a:spcAft>
                        <a:buNone/>
                      </a:pPr>
                      <a:r>
                        <a:rPr lang="en" sz="1200">
                          <a:latin typeface="Lexend"/>
                          <a:ea typeface="Lexend"/>
                          <a:cs typeface="Lexend"/>
                          <a:sym typeface="Lexend"/>
                        </a:rPr>
                        <a:t>fullName</a:t>
                      </a:r>
                      <a:endParaRPr sz="12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D9EAD3"/>
                    </a:solidFill>
                  </a:tcPr>
                </a:tc>
                <a:tc>
                  <a:txBody>
                    <a:bodyPr/>
                    <a:lstStyle/>
                    <a:p>
                      <a:pPr indent="0" lvl="0" marL="0" rtl="0" algn="ctr">
                        <a:spcBef>
                          <a:spcPts val="0"/>
                        </a:spcBef>
                        <a:spcAft>
                          <a:spcPts val="0"/>
                        </a:spcAft>
                        <a:buNone/>
                      </a:pPr>
                      <a:r>
                        <a:rPr lang="en" sz="1200">
                          <a:latin typeface="Lexend"/>
                          <a:ea typeface="Lexend"/>
                          <a:cs typeface="Lexend"/>
                          <a:sym typeface="Lexend"/>
                        </a:rPr>
                        <a:t>array(20,char)</a:t>
                      </a:r>
                      <a:endParaRPr sz="12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D9EAD3"/>
                    </a:solidFill>
                  </a:tcPr>
                </a:tc>
                <a:tc>
                  <a:txBody>
                    <a:bodyPr/>
                    <a:lstStyle/>
                    <a:p>
                      <a:pPr indent="0" lvl="0" marL="0" rtl="0" algn="ctr">
                        <a:spcBef>
                          <a:spcPts val="0"/>
                        </a:spcBef>
                        <a:spcAft>
                          <a:spcPts val="0"/>
                        </a:spcAft>
                        <a:buNone/>
                      </a:pPr>
                      <a:r>
                        <a:rPr lang="en" sz="1200">
                          <a:latin typeface="Lexend"/>
                          <a:ea typeface="Lexend"/>
                          <a:cs typeface="Lexend"/>
                          <a:sym typeface="Lexend"/>
                        </a:rPr>
                        <a:t>40</a:t>
                      </a:r>
                      <a:endParaRPr sz="12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D9EAD3"/>
                    </a:solidFill>
                  </a:tcPr>
                </a:tc>
                <a:tc>
                  <a:txBody>
                    <a:bodyPr/>
                    <a:lstStyle/>
                    <a:p>
                      <a:pPr indent="0" lvl="0" marL="0" rtl="0" algn="ctr">
                        <a:spcBef>
                          <a:spcPts val="0"/>
                        </a:spcBef>
                        <a:spcAft>
                          <a:spcPts val="0"/>
                        </a:spcAft>
                        <a:buNone/>
                      </a:pPr>
                      <a:r>
                        <a:rPr lang="en" sz="1200">
                          <a:latin typeface="Lexend"/>
                          <a:ea typeface="Lexend"/>
                          <a:cs typeface="Lexend"/>
                          <a:sym typeface="Lexend"/>
                        </a:rPr>
                        <a:t>16</a:t>
                      </a:r>
                      <a:endParaRPr sz="12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D9EAD3"/>
                    </a:solidFill>
                  </a:tcPr>
                </a:tc>
              </a:tr>
            </a:tbl>
          </a:graphicData>
        </a:graphic>
      </p:graphicFrame>
      <p:sp>
        <p:nvSpPr>
          <p:cNvPr id="218" name="Google Shape;218;p23"/>
          <p:cNvSpPr txBox="1"/>
          <p:nvPr/>
        </p:nvSpPr>
        <p:spPr>
          <a:xfrm>
            <a:off x="6754650" y="4755900"/>
            <a:ext cx="2337000" cy="38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rPr>
              <a:t>Prepared By: Sukarna Sarker</a:t>
            </a:r>
            <a:endParaRPr b="1" sz="12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pic>
        <p:nvPicPr>
          <p:cNvPr id="223" name="Google Shape;223;p24"/>
          <p:cNvPicPr preferRelativeResize="0"/>
          <p:nvPr/>
        </p:nvPicPr>
        <p:blipFill rotWithShape="1">
          <a:blip r:embed="rId3">
            <a:alphaModFix/>
          </a:blip>
          <a:srcRect b="0" l="0" r="0" t="0"/>
          <a:stretch/>
        </p:blipFill>
        <p:spPr>
          <a:xfrm>
            <a:off x="8507451" y="76200"/>
            <a:ext cx="560349" cy="514126"/>
          </a:xfrm>
          <a:prstGeom prst="rect">
            <a:avLst/>
          </a:prstGeom>
          <a:noFill/>
          <a:ln>
            <a:noFill/>
          </a:ln>
        </p:spPr>
      </p:pic>
      <p:sp>
        <p:nvSpPr>
          <p:cNvPr id="224" name="Google Shape;224;p24"/>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0" i="0" lang="en" sz="1000" u="none" cap="none" strike="noStrike">
                <a:solidFill>
                  <a:srgbClr val="595959"/>
                </a:solidFill>
                <a:latin typeface="Arial"/>
                <a:ea typeface="Arial"/>
                <a:cs typeface="Arial"/>
                <a:sym typeface="Arial"/>
              </a:rPr>
              <a:t>‹#›</a:t>
            </a:fld>
            <a:endParaRPr b="0" i="0" sz="1000" u="none" cap="none" strike="noStrike">
              <a:solidFill>
                <a:srgbClr val="595959"/>
              </a:solidFill>
              <a:latin typeface="Arial"/>
              <a:ea typeface="Arial"/>
              <a:cs typeface="Arial"/>
              <a:sym typeface="Arial"/>
            </a:endParaRPr>
          </a:p>
        </p:txBody>
      </p:sp>
      <p:grpSp>
        <p:nvGrpSpPr>
          <p:cNvPr id="225" name="Google Shape;225;p24"/>
          <p:cNvGrpSpPr/>
          <p:nvPr/>
        </p:nvGrpSpPr>
        <p:grpSpPr>
          <a:xfrm>
            <a:off x="50480" y="122879"/>
            <a:ext cx="277873" cy="68400"/>
            <a:chOff x="411700" y="2416840"/>
            <a:chExt cx="277873" cy="68400"/>
          </a:xfrm>
        </p:grpSpPr>
        <p:sp>
          <p:nvSpPr>
            <p:cNvPr id="226" name="Google Shape;226;p24"/>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24"/>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p24"/>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29" name="Google Shape;229;p24"/>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4F4F4F"/>
                </a:solidFill>
                <a:latin typeface="Lexend Light"/>
                <a:ea typeface="Lexend Light"/>
                <a:cs typeface="Lexend Light"/>
                <a:sym typeface="Lexend Light"/>
              </a:rPr>
              <a:t>Department of Computer Science and Engineering</a:t>
            </a:r>
            <a:endParaRPr b="1" i="0" sz="900" u="none" cap="none" strike="noStrike">
              <a:solidFill>
                <a:srgbClr val="4F4F4F"/>
              </a:solidFill>
              <a:latin typeface="Lexend"/>
              <a:ea typeface="Lexend"/>
              <a:cs typeface="Lexend"/>
              <a:sym typeface="Lexend"/>
            </a:endParaRPr>
          </a:p>
        </p:txBody>
      </p:sp>
      <p:sp>
        <p:nvSpPr>
          <p:cNvPr id="230" name="Google Shape;230;p24"/>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4F4F4F"/>
                </a:solidFill>
                <a:latin typeface="Lexend"/>
                <a:ea typeface="Lexend"/>
                <a:cs typeface="Lexend"/>
                <a:sym typeface="Lexend"/>
              </a:rPr>
              <a:t>CSE</a:t>
            </a:r>
            <a:r>
              <a:rPr b="1" lang="en" sz="900">
                <a:solidFill>
                  <a:srgbClr val="4F4F4F"/>
                </a:solidFill>
                <a:latin typeface="Lexend"/>
                <a:ea typeface="Lexend"/>
                <a:cs typeface="Lexend"/>
                <a:sym typeface="Lexend"/>
              </a:rPr>
              <a:t>420</a:t>
            </a:r>
            <a:r>
              <a:rPr b="1" i="0" lang="en" sz="900" u="none" cap="none" strike="noStrike">
                <a:solidFill>
                  <a:srgbClr val="4F4F4F"/>
                </a:solidFill>
                <a:latin typeface="Lexend"/>
                <a:ea typeface="Lexend"/>
                <a:cs typeface="Lexend"/>
                <a:sym typeface="Lexend"/>
              </a:rPr>
              <a:t> - </a:t>
            </a:r>
            <a:r>
              <a:rPr b="1" lang="en" sz="900">
                <a:solidFill>
                  <a:srgbClr val="4F4F4F"/>
                </a:solidFill>
                <a:latin typeface="Lexend"/>
                <a:ea typeface="Lexend"/>
                <a:cs typeface="Lexend"/>
                <a:sym typeface="Lexend"/>
              </a:rPr>
              <a:t>Compiler Design</a:t>
            </a:r>
            <a:endParaRPr b="0" i="0" sz="900" u="none" cap="none" strike="noStrike">
              <a:solidFill>
                <a:srgbClr val="4F4F4F"/>
              </a:solidFill>
              <a:latin typeface="Lexend"/>
              <a:ea typeface="Lexend"/>
              <a:cs typeface="Lexend"/>
              <a:sym typeface="Lexend"/>
            </a:endParaRPr>
          </a:p>
        </p:txBody>
      </p:sp>
      <p:sp>
        <p:nvSpPr>
          <p:cNvPr id="231" name="Google Shape;231;p24"/>
          <p:cNvSpPr txBox="1"/>
          <p:nvPr/>
        </p:nvSpPr>
        <p:spPr>
          <a:xfrm>
            <a:off x="0" y="102413"/>
            <a:ext cx="91440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latin typeface="Lexend Medium"/>
                <a:ea typeface="Lexend Medium"/>
                <a:cs typeface="Lexend Medium"/>
                <a:sym typeface="Lexend Medium"/>
              </a:rPr>
              <a:t>Fields of User Defined Types</a:t>
            </a:r>
            <a:endParaRPr sz="1800">
              <a:latin typeface="Lexend Medium"/>
              <a:ea typeface="Lexend Medium"/>
              <a:cs typeface="Lexend Medium"/>
              <a:sym typeface="Lexend Medium"/>
            </a:endParaRPr>
          </a:p>
        </p:txBody>
      </p:sp>
      <p:sp>
        <p:nvSpPr>
          <p:cNvPr id="232" name="Google Shape;232;p24"/>
          <p:cNvSpPr txBox="1"/>
          <p:nvPr/>
        </p:nvSpPr>
        <p:spPr>
          <a:xfrm>
            <a:off x="135175" y="590325"/>
            <a:ext cx="9144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Now,a</a:t>
            </a:r>
            <a:r>
              <a:rPr lang="en"/>
              <a:t>ssume a Course structure has an instructor property, which is a Teacher type structure as follows:</a:t>
            </a:r>
            <a:endParaRPr/>
          </a:p>
        </p:txBody>
      </p:sp>
      <p:sp>
        <p:nvSpPr>
          <p:cNvPr id="233" name="Google Shape;233;p24"/>
          <p:cNvSpPr txBox="1"/>
          <p:nvPr/>
        </p:nvSpPr>
        <p:spPr>
          <a:xfrm>
            <a:off x="710575" y="990525"/>
            <a:ext cx="2325000" cy="137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struct Teacher { </a:t>
            </a:r>
            <a:endParaRPr>
              <a:solidFill>
                <a:schemeClr val="dk1"/>
              </a:solidFill>
            </a:endParaRPr>
          </a:p>
          <a:p>
            <a:pPr indent="457200" lvl="0" marL="0" rtl="0" algn="l">
              <a:spcBef>
                <a:spcPts val="0"/>
              </a:spcBef>
              <a:spcAft>
                <a:spcPts val="0"/>
              </a:spcAft>
              <a:buClr>
                <a:schemeClr val="dk1"/>
              </a:buClr>
              <a:buSzPts val="1100"/>
              <a:buFont typeface="Arial"/>
              <a:buNone/>
            </a:pPr>
            <a:r>
              <a:rPr lang="en">
                <a:solidFill>
                  <a:schemeClr val="dk1"/>
                </a:solidFill>
              </a:rPr>
              <a:t>int employeeId; </a:t>
            </a:r>
            <a:endParaRPr>
              <a:solidFill>
                <a:schemeClr val="dk1"/>
              </a:solidFill>
            </a:endParaRPr>
          </a:p>
          <a:p>
            <a:pPr indent="457200" lvl="0" marL="0" rtl="0" algn="l">
              <a:spcBef>
                <a:spcPts val="0"/>
              </a:spcBef>
              <a:spcAft>
                <a:spcPts val="0"/>
              </a:spcAft>
              <a:buClr>
                <a:schemeClr val="dk1"/>
              </a:buClr>
              <a:buSzPts val="1100"/>
              <a:buFont typeface="Arial"/>
              <a:buNone/>
            </a:pPr>
            <a:r>
              <a:rPr lang="en">
                <a:solidFill>
                  <a:schemeClr val="dk1"/>
                </a:solidFill>
              </a:rPr>
              <a:t>char[3] initials; </a:t>
            </a:r>
            <a:endParaRPr>
              <a:solidFill>
                <a:schemeClr val="dk1"/>
              </a:solidFill>
            </a:endParaRPr>
          </a:p>
          <a:p>
            <a:pPr indent="457200" lvl="0" marL="0" rtl="0" algn="l">
              <a:spcBef>
                <a:spcPts val="0"/>
              </a:spcBef>
              <a:spcAft>
                <a:spcPts val="0"/>
              </a:spcAft>
              <a:buClr>
                <a:schemeClr val="dk1"/>
              </a:buClr>
              <a:buSzPts val="1100"/>
              <a:buFont typeface="Arial"/>
              <a:buNone/>
            </a:pPr>
            <a:r>
              <a:rPr lang="en">
                <a:solidFill>
                  <a:schemeClr val="dk1"/>
                </a:solidFill>
              </a:rPr>
              <a:t>char[20] name;</a:t>
            </a:r>
            <a:endParaRPr>
              <a:solidFill>
                <a:schemeClr val="dk1"/>
              </a:solidFill>
            </a:endParaRPr>
          </a:p>
          <a:p>
            <a:pPr indent="457200" lvl="0" marL="0" rtl="0" algn="l">
              <a:spcBef>
                <a:spcPts val="0"/>
              </a:spcBef>
              <a:spcAft>
                <a:spcPts val="0"/>
              </a:spcAft>
              <a:buClr>
                <a:schemeClr val="dk1"/>
              </a:buClr>
              <a:buSzPts val="1100"/>
              <a:buFont typeface="Arial"/>
              <a:buNone/>
            </a:pPr>
            <a:r>
              <a:rPr lang="en">
                <a:solidFill>
                  <a:schemeClr val="dk1"/>
                </a:solidFill>
              </a:rPr>
              <a:t> char[15] position; </a:t>
            </a:r>
            <a:endParaRPr>
              <a:solidFill>
                <a:schemeClr val="dk1"/>
              </a:solidFill>
            </a:endParaRPr>
          </a:p>
          <a:p>
            <a:pPr indent="457200" lvl="0" marL="0" rtl="0" algn="l">
              <a:spcBef>
                <a:spcPts val="0"/>
              </a:spcBef>
              <a:spcAft>
                <a:spcPts val="0"/>
              </a:spcAft>
              <a:buClr>
                <a:schemeClr val="dk1"/>
              </a:buClr>
              <a:buSzPts val="1100"/>
              <a:buFont typeface="Arial"/>
              <a:buNone/>
            </a:pPr>
            <a:r>
              <a:rPr lang="en">
                <a:solidFill>
                  <a:schemeClr val="dk1"/>
                </a:solidFill>
              </a:rPr>
              <a:t>} </a:t>
            </a:r>
            <a:endParaRPr sz="1800">
              <a:solidFill>
                <a:schemeClr val="dk2"/>
              </a:solidFill>
            </a:endParaRPr>
          </a:p>
        </p:txBody>
      </p:sp>
      <p:sp>
        <p:nvSpPr>
          <p:cNvPr id="234" name="Google Shape;234;p24"/>
          <p:cNvSpPr txBox="1"/>
          <p:nvPr/>
        </p:nvSpPr>
        <p:spPr>
          <a:xfrm>
            <a:off x="4664375" y="2670400"/>
            <a:ext cx="2888700" cy="19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235" name="Google Shape;235;p24"/>
          <p:cNvSpPr txBox="1"/>
          <p:nvPr/>
        </p:nvSpPr>
        <p:spPr>
          <a:xfrm>
            <a:off x="5650825" y="965838"/>
            <a:ext cx="2712600" cy="120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struct Course { </a:t>
            </a:r>
            <a:endParaRPr>
              <a:solidFill>
                <a:schemeClr val="dk1"/>
              </a:solidFill>
            </a:endParaRPr>
          </a:p>
          <a:p>
            <a:pPr indent="457200" lvl="0" marL="0" rtl="0" algn="l">
              <a:spcBef>
                <a:spcPts val="0"/>
              </a:spcBef>
              <a:spcAft>
                <a:spcPts val="0"/>
              </a:spcAft>
              <a:buNone/>
            </a:pPr>
            <a:r>
              <a:rPr lang="en">
                <a:solidFill>
                  <a:schemeClr val="dk1"/>
                </a:solidFill>
              </a:rPr>
              <a:t>int code; </a:t>
            </a:r>
            <a:endParaRPr>
              <a:solidFill>
                <a:schemeClr val="dk1"/>
              </a:solidFill>
            </a:endParaRPr>
          </a:p>
          <a:p>
            <a:pPr indent="457200" lvl="0" marL="0" rtl="0" algn="l">
              <a:spcBef>
                <a:spcPts val="0"/>
              </a:spcBef>
              <a:spcAft>
                <a:spcPts val="0"/>
              </a:spcAft>
              <a:buNone/>
            </a:pPr>
            <a:r>
              <a:rPr lang="en">
                <a:solidFill>
                  <a:schemeClr val="dk1"/>
                </a:solidFill>
              </a:rPr>
              <a:t>char[20] name; </a:t>
            </a:r>
            <a:endParaRPr>
              <a:solidFill>
                <a:schemeClr val="dk1"/>
              </a:solidFill>
            </a:endParaRPr>
          </a:p>
          <a:p>
            <a:pPr indent="457200" lvl="0" marL="0" rtl="0" algn="l">
              <a:spcBef>
                <a:spcPts val="0"/>
              </a:spcBef>
              <a:spcAft>
                <a:spcPts val="0"/>
              </a:spcAft>
              <a:buNone/>
            </a:pPr>
            <a:r>
              <a:rPr lang="en">
                <a:solidFill>
                  <a:schemeClr val="dk1"/>
                </a:solidFill>
              </a:rPr>
              <a:t>Teacher instructor; </a:t>
            </a:r>
            <a:endParaRPr>
              <a:solidFill>
                <a:schemeClr val="dk1"/>
              </a:solidFill>
            </a:endParaRPr>
          </a:p>
          <a:p>
            <a:pPr indent="457200" lvl="0" marL="0" rtl="0" algn="l">
              <a:spcBef>
                <a:spcPts val="0"/>
              </a:spcBef>
              <a:spcAft>
                <a:spcPts val="0"/>
              </a:spcAft>
              <a:buClr>
                <a:schemeClr val="dk1"/>
              </a:buClr>
              <a:buSzPts val="1100"/>
              <a:buFont typeface="Arial"/>
              <a:buNone/>
            </a:pPr>
            <a:r>
              <a:rPr lang="en">
                <a:solidFill>
                  <a:schemeClr val="dk1"/>
                </a:solidFill>
              </a:rPr>
              <a:t>}</a:t>
            </a:r>
            <a:endParaRPr>
              <a:solidFill>
                <a:schemeClr val="dk1"/>
              </a:solidFill>
            </a:endParaRPr>
          </a:p>
          <a:p>
            <a:pPr indent="0" lvl="0" marL="0" rtl="0" algn="l">
              <a:spcBef>
                <a:spcPts val="0"/>
              </a:spcBef>
              <a:spcAft>
                <a:spcPts val="0"/>
              </a:spcAft>
              <a:buNone/>
            </a:pPr>
            <a:r>
              <a:t/>
            </a:r>
            <a:endParaRPr sz="1800">
              <a:solidFill>
                <a:schemeClr val="dk2"/>
              </a:solidFill>
            </a:endParaRPr>
          </a:p>
        </p:txBody>
      </p:sp>
      <p:graphicFrame>
        <p:nvGraphicFramePr>
          <p:cNvPr id="236" name="Google Shape;236;p24"/>
          <p:cNvGraphicFramePr/>
          <p:nvPr/>
        </p:nvGraphicFramePr>
        <p:xfrm>
          <a:off x="5219950" y="2373650"/>
          <a:ext cx="3000000" cy="3000000"/>
        </p:xfrm>
        <a:graphic>
          <a:graphicData uri="http://schemas.openxmlformats.org/drawingml/2006/table">
            <a:tbl>
              <a:tblPr>
                <a:noFill/>
                <a:tableStyleId>{488F9DF4-EE4B-4068-BD8B-F2B007583E1D}</a:tableStyleId>
              </a:tblPr>
              <a:tblGrid>
                <a:gridCol w="1022275"/>
                <a:gridCol w="1371175"/>
                <a:gridCol w="660550"/>
                <a:gridCol w="646900"/>
              </a:tblGrid>
              <a:tr h="369600">
                <a:tc>
                  <a:txBody>
                    <a:bodyPr/>
                    <a:lstStyle/>
                    <a:p>
                      <a:pPr indent="0" lvl="0" marL="0" rtl="0" algn="ctr">
                        <a:spcBef>
                          <a:spcPts val="0"/>
                        </a:spcBef>
                        <a:spcAft>
                          <a:spcPts val="0"/>
                        </a:spcAft>
                        <a:buNone/>
                      </a:pPr>
                      <a:r>
                        <a:rPr lang="en" sz="1200">
                          <a:latin typeface="Lexend"/>
                          <a:ea typeface="Lexend"/>
                          <a:cs typeface="Lexend"/>
                          <a:sym typeface="Lexend"/>
                        </a:rPr>
                        <a:t>Name</a:t>
                      </a:r>
                      <a:endParaRPr sz="12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Lexend"/>
                          <a:ea typeface="Lexend"/>
                          <a:cs typeface="Lexend"/>
                          <a:sym typeface="Lexend"/>
                        </a:rPr>
                        <a:t>Type</a:t>
                      </a:r>
                      <a:endParaRPr sz="12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Lexend"/>
                          <a:ea typeface="Lexend"/>
                          <a:cs typeface="Lexend"/>
                          <a:sym typeface="Lexend"/>
                        </a:rPr>
                        <a:t>Width</a:t>
                      </a:r>
                      <a:endParaRPr sz="12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Lexend"/>
                          <a:ea typeface="Lexend"/>
                          <a:cs typeface="Lexend"/>
                          <a:sym typeface="Lexend"/>
                        </a:rPr>
                        <a:t>Offset</a:t>
                      </a:r>
                      <a:endParaRPr sz="12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4350">
                <a:tc>
                  <a:txBody>
                    <a:bodyPr/>
                    <a:lstStyle/>
                    <a:p>
                      <a:pPr indent="0" lvl="0" marL="0" rtl="0" algn="l">
                        <a:spcBef>
                          <a:spcPts val="0"/>
                        </a:spcBef>
                        <a:spcAft>
                          <a:spcPts val="0"/>
                        </a:spcAft>
                        <a:buNone/>
                      </a:pPr>
                      <a:r>
                        <a:t/>
                      </a:r>
                      <a:endParaRPr/>
                    </a:p>
                  </a:txBody>
                  <a:tcPr marT="91425" marB="91425" marR="91425" marL="91425">
                    <a:lnT cap="flat" cmpd="sng" w="9525">
                      <a:solidFill>
                        <a:schemeClr val="dk1"/>
                      </a:solidFill>
                      <a:prstDash val="solid"/>
                      <a:round/>
                      <a:headEnd len="sm" w="sm" type="none"/>
                      <a:tailEnd len="sm" w="sm" type="none"/>
                    </a:lnT>
                  </a:tcPr>
                </a:tc>
                <a:tc>
                  <a:txBody>
                    <a:bodyPr/>
                    <a:lstStyle/>
                    <a:p>
                      <a:pPr indent="0" lvl="0" marL="0" rtl="0" algn="l">
                        <a:spcBef>
                          <a:spcPts val="0"/>
                        </a:spcBef>
                        <a:spcAft>
                          <a:spcPts val="0"/>
                        </a:spcAft>
                        <a:buNone/>
                      </a:pPr>
                      <a:r>
                        <a:t/>
                      </a:r>
                      <a:endParaRPr/>
                    </a:p>
                  </a:txBody>
                  <a:tcPr marT="91425" marB="91425" marR="91425" marL="91425">
                    <a:lnT cap="flat" cmpd="sng" w="9525">
                      <a:solidFill>
                        <a:schemeClr val="dk1"/>
                      </a:solidFill>
                      <a:prstDash val="solid"/>
                      <a:round/>
                      <a:headEnd len="sm" w="sm" type="none"/>
                      <a:tailEnd len="sm" w="sm" type="none"/>
                    </a:lnT>
                  </a:tcPr>
                </a:tc>
                <a:tc>
                  <a:txBody>
                    <a:bodyPr/>
                    <a:lstStyle/>
                    <a:p>
                      <a:pPr indent="0" lvl="0" marL="0" rtl="0" algn="l">
                        <a:spcBef>
                          <a:spcPts val="0"/>
                        </a:spcBef>
                        <a:spcAft>
                          <a:spcPts val="0"/>
                        </a:spcAft>
                        <a:buNone/>
                      </a:pPr>
                      <a:r>
                        <a:t/>
                      </a:r>
                      <a:endParaRPr/>
                    </a:p>
                  </a:txBody>
                  <a:tcPr marT="91425" marB="91425" marR="91425" marL="91425">
                    <a:lnT cap="flat" cmpd="sng" w="9525">
                      <a:solidFill>
                        <a:schemeClr val="dk1"/>
                      </a:solidFill>
                      <a:prstDash val="solid"/>
                      <a:round/>
                      <a:headEnd len="sm" w="sm" type="none"/>
                      <a:tailEnd len="sm" w="sm" type="none"/>
                    </a:lnT>
                  </a:tcPr>
                </a:tc>
                <a:tc>
                  <a:txBody>
                    <a:bodyPr/>
                    <a:lstStyle/>
                    <a:p>
                      <a:pPr indent="0" lvl="0" marL="0" rtl="0" algn="l">
                        <a:spcBef>
                          <a:spcPts val="0"/>
                        </a:spcBef>
                        <a:spcAft>
                          <a:spcPts val="0"/>
                        </a:spcAft>
                        <a:buNone/>
                      </a:pPr>
                      <a:r>
                        <a:t/>
                      </a:r>
                      <a:endParaRPr/>
                    </a:p>
                  </a:txBody>
                  <a:tcPr marT="91425" marB="91425" marR="91425" marL="91425">
                    <a:lnT cap="flat" cmpd="sng" w="9525">
                      <a:solidFill>
                        <a:schemeClr val="dk1"/>
                      </a:solidFill>
                      <a:prstDash val="solid"/>
                      <a:round/>
                      <a:headEnd len="sm" w="sm" type="none"/>
                      <a:tailEnd len="sm" w="sm" type="none"/>
                    </a:lnT>
                  </a:tcPr>
                </a:tc>
              </a:tr>
              <a:tr h="38435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435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graphicFrame>
        <p:nvGraphicFramePr>
          <p:cNvPr id="237" name="Google Shape;237;p24"/>
          <p:cNvGraphicFramePr/>
          <p:nvPr/>
        </p:nvGraphicFramePr>
        <p:xfrm>
          <a:off x="135175" y="2373638"/>
          <a:ext cx="3000000" cy="3000000"/>
        </p:xfrm>
        <a:graphic>
          <a:graphicData uri="http://schemas.openxmlformats.org/drawingml/2006/table">
            <a:tbl>
              <a:tblPr>
                <a:noFill/>
                <a:tableStyleId>{488F9DF4-EE4B-4068-BD8B-F2B007583E1D}</a:tableStyleId>
              </a:tblPr>
              <a:tblGrid>
                <a:gridCol w="1172675"/>
                <a:gridCol w="1524975"/>
                <a:gridCol w="1078725"/>
                <a:gridCol w="914325"/>
              </a:tblGrid>
              <a:tr h="369600">
                <a:tc>
                  <a:txBody>
                    <a:bodyPr/>
                    <a:lstStyle/>
                    <a:p>
                      <a:pPr indent="0" lvl="0" marL="0" rtl="0" algn="ctr">
                        <a:spcBef>
                          <a:spcPts val="0"/>
                        </a:spcBef>
                        <a:spcAft>
                          <a:spcPts val="0"/>
                        </a:spcAft>
                        <a:buNone/>
                      </a:pPr>
                      <a:r>
                        <a:rPr lang="en" sz="1200">
                          <a:latin typeface="Lexend"/>
                          <a:ea typeface="Lexend"/>
                          <a:cs typeface="Lexend"/>
                          <a:sym typeface="Lexend"/>
                        </a:rPr>
                        <a:t>Name</a:t>
                      </a:r>
                      <a:endParaRPr sz="12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Lexend"/>
                          <a:ea typeface="Lexend"/>
                          <a:cs typeface="Lexend"/>
                          <a:sym typeface="Lexend"/>
                        </a:rPr>
                        <a:t>Type</a:t>
                      </a:r>
                      <a:endParaRPr sz="12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Lexend"/>
                          <a:ea typeface="Lexend"/>
                          <a:cs typeface="Lexend"/>
                          <a:sym typeface="Lexend"/>
                        </a:rPr>
                        <a:t>Width</a:t>
                      </a:r>
                      <a:endParaRPr sz="12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latin typeface="Lexend"/>
                          <a:ea typeface="Lexend"/>
                          <a:cs typeface="Lexend"/>
                          <a:sym typeface="Lexend"/>
                        </a:rPr>
                        <a:t>Offset</a:t>
                      </a:r>
                      <a:endParaRPr sz="12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4350">
                <a:tc>
                  <a:txBody>
                    <a:bodyPr/>
                    <a:lstStyle/>
                    <a:p>
                      <a:pPr indent="0" lvl="0" marL="0" rtl="0" algn="l">
                        <a:spcBef>
                          <a:spcPts val="0"/>
                        </a:spcBef>
                        <a:spcAft>
                          <a:spcPts val="0"/>
                        </a:spcAft>
                        <a:buNone/>
                      </a:pPr>
                      <a:r>
                        <a:t/>
                      </a:r>
                      <a:endParaRPr/>
                    </a:p>
                  </a:txBody>
                  <a:tcPr marT="91425" marB="91425" marR="91425" marL="91425">
                    <a:lnT cap="flat" cmpd="sng" w="9525">
                      <a:solidFill>
                        <a:schemeClr val="dk1"/>
                      </a:solidFill>
                      <a:prstDash val="solid"/>
                      <a:round/>
                      <a:headEnd len="sm" w="sm" type="none"/>
                      <a:tailEnd len="sm" w="sm" type="none"/>
                    </a:lnT>
                  </a:tcPr>
                </a:tc>
                <a:tc>
                  <a:txBody>
                    <a:bodyPr/>
                    <a:lstStyle/>
                    <a:p>
                      <a:pPr indent="0" lvl="0" marL="0" rtl="0" algn="l">
                        <a:spcBef>
                          <a:spcPts val="0"/>
                        </a:spcBef>
                        <a:spcAft>
                          <a:spcPts val="0"/>
                        </a:spcAft>
                        <a:buNone/>
                      </a:pPr>
                      <a:r>
                        <a:t/>
                      </a:r>
                      <a:endParaRPr/>
                    </a:p>
                  </a:txBody>
                  <a:tcPr marT="91425" marB="91425" marR="91425" marL="91425">
                    <a:lnT cap="flat" cmpd="sng" w="9525">
                      <a:solidFill>
                        <a:schemeClr val="dk1"/>
                      </a:solidFill>
                      <a:prstDash val="solid"/>
                      <a:round/>
                      <a:headEnd len="sm" w="sm" type="none"/>
                      <a:tailEnd len="sm" w="sm" type="none"/>
                    </a:lnT>
                  </a:tcPr>
                </a:tc>
                <a:tc>
                  <a:txBody>
                    <a:bodyPr/>
                    <a:lstStyle/>
                    <a:p>
                      <a:pPr indent="0" lvl="0" marL="0" rtl="0" algn="l">
                        <a:spcBef>
                          <a:spcPts val="0"/>
                        </a:spcBef>
                        <a:spcAft>
                          <a:spcPts val="0"/>
                        </a:spcAft>
                        <a:buNone/>
                      </a:pPr>
                      <a:r>
                        <a:t/>
                      </a:r>
                      <a:endParaRPr/>
                    </a:p>
                  </a:txBody>
                  <a:tcPr marT="91425" marB="91425" marR="91425" marL="91425">
                    <a:lnT cap="flat" cmpd="sng" w="9525">
                      <a:solidFill>
                        <a:schemeClr val="dk1"/>
                      </a:solidFill>
                      <a:prstDash val="solid"/>
                      <a:round/>
                      <a:headEnd len="sm" w="sm" type="none"/>
                      <a:tailEnd len="sm" w="sm" type="none"/>
                    </a:lnT>
                  </a:tcPr>
                </a:tc>
                <a:tc>
                  <a:txBody>
                    <a:bodyPr/>
                    <a:lstStyle/>
                    <a:p>
                      <a:pPr indent="0" lvl="0" marL="0" rtl="0" algn="l">
                        <a:spcBef>
                          <a:spcPts val="0"/>
                        </a:spcBef>
                        <a:spcAft>
                          <a:spcPts val="0"/>
                        </a:spcAft>
                        <a:buNone/>
                      </a:pPr>
                      <a:r>
                        <a:t/>
                      </a:r>
                      <a:endParaRPr/>
                    </a:p>
                  </a:txBody>
                  <a:tcPr marT="91425" marB="91425" marR="91425" marL="91425">
                    <a:lnT cap="flat" cmpd="sng" w="9525">
                      <a:solidFill>
                        <a:schemeClr val="dk1"/>
                      </a:solidFill>
                      <a:prstDash val="solid"/>
                      <a:round/>
                      <a:headEnd len="sm" w="sm" type="none"/>
                      <a:tailEnd len="sm" w="sm" type="none"/>
                    </a:lnT>
                  </a:tcPr>
                </a:tc>
              </a:tr>
              <a:tr h="38435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435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435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
        <p:nvSpPr>
          <p:cNvPr id="238" name="Google Shape;238;p24"/>
          <p:cNvSpPr txBox="1"/>
          <p:nvPr/>
        </p:nvSpPr>
        <p:spPr>
          <a:xfrm>
            <a:off x="6754650" y="4755900"/>
            <a:ext cx="2337000" cy="38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rPr>
              <a:t>Prepared By: Sukarna Sarker</a:t>
            </a:r>
            <a:endParaRPr b="1" sz="12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pic>
        <p:nvPicPr>
          <p:cNvPr id="243" name="Google Shape;243;p25"/>
          <p:cNvPicPr preferRelativeResize="0"/>
          <p:nvPr/>
        </p:nvPicPr>
        <p:blipFill rotWithShape="1">
          <a:blip r:embed="rId3">
            <a:alphaModFix/>
          </a:blip>
          <a:srcRect b="0" l="0" r="0" t="0"/>
          <a:stretch/>
        </p:blipFill>
        <p:spPr>
          <a:xfrm>
            <a:off x="8507451" y="76200"/>
            <a:ext cx="560349" cy="514126"/>
          </a:xfrm>
          <a:prstGeom prst="rect">
            <a:avLst/>
          </a:prstGeom>
          <a:noFill/>
          <a:ln>
            <a:noFill/>
          </a:ln>
        </p:spPr>
      </p:pic>
      <p:sp>
        <p:nvSpPr>
          <p:cNvPr id="244" name="Google Shape;244;p25"/>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0" i="0" lang="en" sz="1000" u="none" cap="none" strike="noStrike">
                <a:solidFill>
                  <a:srgbClr val="595959"/>
                </a:solidFill>
                <a:latin typeface="Arial"/>
                <a:ea typeface="Arial"/>
                <a:cs typeface="Arial"/>
                <a:sym typeface="Arial"/>
              </a:rPr>
              <a:t>‹#›</a:t>
            </a:fld>
            <a:endParaRPr b="0" i="0" sz="1000" u="none" cap="none" strike="noStrike">
              <a:solidFill>
                <a:srgbClr val="595959"/>
              </a:solidFill>
              <a:latin typeface="Arial"/>
              <a:ea typeface="Arial"/>
              <a:cs typeface="Arial"/>
              <a:sym typeface="Arial"/>
            </a:endParaRPr>
          </a:p>
        </p:txBody>
      </p:sp>
      <p:grpSp>
        <p:nvGrpSpPr>
          <p:cNvPr id="245" name="Google Shape;245;p25"/>
          <p:cNvGrpSpPr/>
          <p:nvPr/>
        </p:nvGrpSpPr>
        <p:grpSpPr>
          <a:xfrm>
            <a:off x="50480" y="122879"/>
            <a:ext cx="277873" cy="68400"/>
            <a:chOff x="411700" y="2416840"/>
            <a:chExt cx="277873" cy="68400"/>
          </a:xfrm>
        </p:grpSpPr>
        <p:sp>
          <p:nvSpPr>
            <p:cNvPr id="246" name="Google Shape;246;p25"/>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25"/>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p25"/>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49" name="Google Shape;249;p25"/>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4F4F4F"/>
                </a:solidFill>
                <a:latin typeface="Lexend Light"/>
                <a:ea typeface="Lexend Light"/>
                <a:cs typeface="Lexend Light"/>
                <a:sym typeface="Lexend Light"/>
              </a:rPr>
              <a:t>Department of Computer Science and Engineering</a:t>
            </a:r>
            <a:endParaRPr b="1" i="0" sz="900" u="none" cap="none" strike="noStrike">
              <a:solidFill>
                <a:srgbClr val="4F4F4F"/>
              </a:solidFill>
              <a:latin typeface="Lexend"/>
              <a:ea typeface="Lexend"/>
              <a:cs typeface="Lexend"/>
              <a:sym typeface="Lexend"/>
            </a:endParaRPr>
          </a:p>
        </p:txBody>
      </p:sp>
      <p:sp>
        <p:nvSpPr>
          <p:cNvPr id="250" name="Google Shape;250;p25"/>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4F4F4F"/>
                </a:solidFill>
                <a:latin typeface="Lexend"/>
                <a:ea typeface="Lexend"/>
                <a:cs typeface="Lexend"/>
                <a:sym typeface="Lexend"/>
              </a:rPr>
              <a:t>CSE</a:t>
            </a:r>
            <a:r>
              <a:rPr b="1" lang="en" sz="900">
                <a:solidFill>
                  <a:srgbClr val="4F4F4F"/>
                </a:solidFill>
                <a:latin typeface="Lexend"/>
                <a:ea typeface="Lexend"/>
                <a:cs typeface="Lexend"/>
                <a:sym typeface="Lexend"/>
              </a:rPr>
              <a:t>420</a:t>
            </a:r>
            <a:r>
              <a:rPr b="1" i="0" lang="en" sz="900" u="none" cap="none" strike="noStrike">
                <a:solidFill>
                  <a:srgbClr val="4F4F4F"/>
                </a:solidFill>
                <a:latin typeface="Lexend"/>
                <a:ea typeface="Lexend"/>
                <a:cs typeface="Lexend"/>
                <a:sym typeface="Lexend"/>
              </a:rPr>
              <a:t> - </a:t>
            </a:r>
            <a:r>
              <a:rPr b="1" lang="en" sz="900">
                <a:solidFill>
                  <a:srgbClr val="4F4F4F"/>
                </a:solidFill>
                <a:latin typeface="Lexend"/>
                <a:ea typeface="Lexend"/>
                <a:cs typeface="Lexend"/>
                <a:sym typeface="Lexend"/>
              </a:rPr>
              <a:t>Compiler Design</a:t>
            </a:r>
            <a:endParaRPr b="0" i="0" sz="900" u="none" cap="none" strike="noStrike">
              <a:solidFill>
                <a:srgbClr val="4F4F4F"/>
              </a:solidFill>
              <a:latin typeface="Lexend"/>
              <a:ea typeface="Lexend"/>
              <a:cs typeface="Lexend"/>
              <a:sym typeface="Lexend"/>
            </a:endParaRPr>
          </a:p>
        </p:txBody>
      </p:sp>
      <p:sp>
        <p:nvSpPr>
          <p:cNvPr id="251" name="Google Shape;251;p25"/>
          <p:cNvSpPr txBox="1"/>
          <p:nvPr/>
        </p:nvSpPr>
        <p:spPr>
          <a:xfrm>
            <a:off x="0" y="102400"/>
            <a:ext cx="91440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latin typeface="Lexend Medium"/>
                <a:ea typeface="Lexend Medium"/>
                <a:cs typeface="Lexend Medium"/>
                <a:sym typeface="Lexend Medium"/>
              </a:rPr>
              <a:t>Fields of User Defined Types</a:t>
            </a:r>
            <a:endParaRPr sz="1800">
              <a:latin typeface="Lexend Medium"/>
              <a:ea typeface="Lexend Medium"/>
              <a:cs typeface="Lexend Medium"/>
              <a:sym typeface="Lexend Medium"/>
            </a:endParaRPr>
          </a:p>
        </p:txBody>
      </p:sp>
      <p:sp>
        <p:nvSpPr>
          <p:cNvPr id="252" name="Google Shape;252;p25"/>
          <p:cNvSpPr txBox="1"/>
          <p:nvPr/>
        </p:nvSpPr>
        <p:spPr>
          <a:xfrm>
            <a:off x="135175" y="238950"/>
            <a:ext cx="2325000" cy="137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rPr>
              <a:t>struct Teacher { </a:t>
            </a:r>
            <a:endParaRPr b="1" sz="1200">
              <a:solidFill>
                <a:schemeClr val="dk1"/>
              </a:solidFill>
            </a:endParaRPr>
          </a:p>
          <a:p>
            <a:pPr indent="457200" lvl="0" marL="0" rtl="0" algn="l">
              <a:spcBef>
                <a:spcPts val="0"/>
              </a:spcBef>
              <a:spcAft>
                <a:spcPts val="0"/>
              </a:spcAft>
              <a:buNone/>
            </a:pPr>
            <a:r>
              <a:rPr b="1" lang="en" sz="1200">
                <a:solidFill>
                  <a:schemeClr val="dk1"/>
                </a:solidFill>
              </a:rPr>
              <a:t>int employeeId; </a:t>
            </a:r>
            <a:endParaRPr b="1" sz="1200">
              <a:solidFill>
                <a:schemeClr val="dk1"/>
              </a:solidFill>
            </a:endParaRPr>
          </a:p>
          <a:p>
            <a:pPr indent="457200" lvl="0" marL="0" rtl="0" algn="l">
              <a:spcBef>
                <a:spcPts val="0"/>
              </a:spcBef>
              <a:spcAft>
                <a:spcPts val="0"/>
              </a:spcAft>
              <a:buNone/>
            </a:pPr>
            <a:r>
              <a:rPr b="1" lang="en" sz="1200">
                <a:solidFill>
                  <a:schemeClr val="dk1"/>
                </a:solidFill>
              </a:rPr>
              <a:t>char[3] initials; </a:t>
            </a:r>
            <a:endParaRPr b="1" sz="1200">
              <a:solidFill>
                <a:schemeClr val="dk1"/>
              </a:solidFill>
            </a:endParaRPr>
          </a:p>
          <a:p>
            <a:pPr indent="457200" lvl="0" marL="0" rtl="0" algn="l">
              <a:spcBef>
                <a:spcPts val="0"/>
              </a:spcBef>
              <a:spcAft>
                <a:spcPts val="0"/>
              </a:spcAft>
              <a:buNone/>
            </a:pPr>
            <a:r>
              <a:rPr b="1" lang="en" sz="1200">
                <a:solidFill>
                  <a:schemeClr val="dk1"/>
                </a:solidFill>
              </a:rPr>
              <a:t>char[20] name;</a:t>
            </a:r>
            <a:endParaRPr b="1" sz="1200">
              <a:solidFill>
                <a:schemeClr val="dk1"/>
              </a:solidFill>
            </a:endParaRPr>
          </a:p>
          <a:p>
            <a:pPr indent="457200" lvl="0" marL="0" rtl="0" algn="l">
              <a:spcBef>
                <a:spcPts val="0"/>
              </a:spcBef>
              <a:spcAft>
                <a:spcPts val="0"/>
              </a:spcAft>
              <a:buNone/>
            </a:pPr>
            <a:r>
              <a:rPr b="1" lang="en" sz="1200">
                <a:solidFill>
                  <a:schemeClr val="dk1"/>
                </a:solidFill>
              </a:rPr>
              <a:t> char[15] position; </a:t>
            </a:r>
            <a:endParaRPr b="1" sz="1200">
              <a:solidFill>
                <a:schemeClr val="dk1"/>
              </a:solidFill>
            </a:endParaRPr>
          </a:p>
          <a:p>
            <a:pPr indent="457200" lvl="0" marL="0" rtl="0" algn="l">
              <a:spcBef>
                <a:spcPts val="0"/>
              </a:spcBef>
              <a:spcAft>
                <a:spcPts val="0"/>
              </a:spcAft>
              <a:buNone/>
            </a:pPr>
            <a:r>
              <a:rPr b="1" lang="en" sz="1200">
                <a:solidFill>
                  <a:schemeClr val="dk1"/>
                </a:solidFill>
              </a:rPr>
              <a:t>} </a:t>
            </a:r>
            <a:endParaRPr b="1" sz="1600">
              <a:solidFill>
                <a:schemeClr val="dk2"/>
              </a:solidFill>
            </a:endParaRPr>
          </a:p>
        </p:txBody>
      </p:sp>
      <p:sp>
        <p:nvSpPr>
          <p:cNvPr id="253" name="Google Shape;253;p25"/>
          <p:cNvSpPr txBox="1"/>
          <p:nvPr/>
        </p:nvSpPr>
        <p:spPr>
          <a:xfrm>
            <a:off x="0" y="3297675"/>
            <a:ext cx="9144000" cy="169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rPr>
              <a:t>Then suppose you have a cse420 course object in your program and trying to access the initials of the instructor of that course as follows:</a:t>
            </a:r>
            <a:r>
              <a:rPr b="1" i="1" lang="en" sz="1200">
                <a:solidFill>
                  <a:schemeClr val="dk1"/>
                </a:solidFill>
              </a:rPr>
              <a:t> </a:t>
            </a:r>
            <a:r>
              <a:rPr b="1" i="1" lang="en" sz="1200">
                <a:solidFill>
                  <a:schemeClr val="dk1"/>
                </a:solidFill>
              </a:rPr>
              <a:t>initials = cse420.instructor.initials[2]; </a:t>
            </a:r>
            <a:endParaRPr b="1" i="1" sz="1200">
              <a:solidFill>
                <a:schemeClr val="dk1"/>
              </a:solidFill>
            </a:endParaRPr>
          </a:p>
          <a:p>
            <a:pPr indent="0" lvl="0" marL="0" rtl="0" algn="l">
              <a:spcBef>
                <a:spcPts val="0"/>
              </a:spcBef>
              <a:spcAft>
                <a:spcPts val="0"/>
              </a:spcAft>
              <a:buClr>
                <a:schemeClr val="dk1"/>
              </a:buClr>
              <a:buSzPts val="1100"/>
              <a:buFont typeface="Arial"/>
              <a:buNone/>
            </a:pPr>
            <a:r>
              <a:t/>
            </a:r>
            <a:endParaRPr b="1" i="1" sz="1200">
              <a:solidFill>
                <a:schemeClr val="dk1"/>
              </a:solidFill>
            </a:endParaRPr>
          </a:p>
          <a:p>
            <a:pPr indent="0" lvl="0" marL="0" rtl="0" algn="l">
              <a:spcBef>
                <a:spcPts val="0"/>
              </a:spcBef>
              <a:spcAft>
                <a:spcPts val="0"/>
              </a:spcAft>
              <a:buNone/>
            </a:pPr>
            <a:r>
              <a:t/>
            </a:r>
            <a:endParaRPr b="1" i="1" sz="1200">
              <a:solidFill>
                <a:schemeClr val="dk1"/>
              </a:solidFill>
            </a:endParaRPr>
          </a:p>
        </p:txBody>
      </p:sp>
      <p:sp>
        <p:nvSpPr>
          <p:cNvPr id="254" name="Google Shape;254;p25"/>
          <p:cNvSpPr txBox="1"/>
          <p:nvPr/>
        </p:nvSpPr>
        <p:spPr>
          <a:xfrm>
            <a:off x="5427700" y="324138"/>
            <a:ext cx="2712600" cy="120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rPr>
              <a:t>struct Course { </a:t>
            </a:r>
            <a:endParaRPr b="1" sz="1200">
              <a:solidFill>
                <a:schemeClr val="dk1"/>
              </a:solidFill>
            </a:endParaRPr>
          </a:p>
          <a:p>
            <a:pPr indent="457200" lvl="0" marL="0" rtl="0" algn="l">
              <a:spcBef>
                <a:spcPts val="0"/>
              </a:spcBef>
              <a:spcAft>
                <a:spcPts val="0"/>
              </a:spcAft>
              <a:buNone/>
            </a:pPr>
            <a:r>
              <a:rPr b="1" lang="en" sz="1200">
                <a:solidFill>
                  <a:schemeClr val="dk1"/>
                </a:solidFill>
              </a:rPr>
              <a:t>int code; </a:t>
            </a:r>
            <a:endParaRPr b="1" sz="1200">
              <a:solidFill>
                <a:schemeClr val="dk1"/>
              </a:solidFill>
            </a:endParaRPr>
          </a:p>
          <a:p>
            <a:pPr indent="457200" lvl="0" marL="0" rtl="0" algn="l">
              <a:spcBef>
                <a:spcPts val="0"/>
              </a:spcBef>
              <a:spcAft>
                <a:spcPts val="0"/>
              </a:spcAft>
              <a:buNone/>
            </a:pPr>
            <a:r>
              <a:rPr b="1" lang="en" sz="1200">
                <a:solidFill>
                  <a:schemeClr val="dk1"/>
                </a:solidFill>
              </a:rPr>
              <a:t>char[20] name; </a:t>
            </a:r>
            <a:endParaRPr b="1" sz="1200">
              <a:solidFill>
                <a:schemeClr val="dk1"/>
              </a:solidFill>
            </a:endParaRPr>
          </a:p>
          <a:p>
            <a:pPr indent="457200" lvl="0" marL="0" rtl="0" algn="l">
              <a:spcBef>
                <a:spcPts val="0"/>
              </a:spcBef>
              <a:spcAft>
                <a:spcPts val="0"/>
              </a:spcAft>
              <a:buNone/>
            </a:pPr>
            <a:r>
              <a:rPr b="1" lang="en" sz="1200">
                <a:solidFill>
                  <a:schemeClr val="dk1"/>
                </a:solidFill>
              </a:rPr>
              <a:t>Teacher instructor; </a:t>
            </a:r>
            <a:endParaRPr b="1" sz="1200">
              <a:solidFill>
                <a:schemeClr val="dk1"/>
              </a:solidFill>
            </a:endParaRPr>
          </a:p>
          <a:p>
            <a:pPr indent="457200" lvl="0" marL="0" rtl="0" algn="l">
              <a:spcBef>
                <a:spcPts val="0"/>
              </a:spcBef>
              <a:spcAft>
                <a:spcPts val="0"/>
              </a:spcAft>
              <a:buNone/>
            </a:pPr>
            <a:r>
              <a:rPr b="1" lang="en" sz="1200">
                <a:solidFill>
                  <a:schemeClr val="dk1"/>
                </a:solidFill>
              </a:rPr>
              <a:t>}</a:t>
            </a:r>
            <a:endParaRPr b="1" sz="1200">
              <a:solidFill>
                <a:schemeClr val="dk1"/>
              </a:solidFill>
            </a:endParaRPr>
          </a:p>
          <a:p>
            <a:pPr indent="0" lvl="0" marL="0" rtl="0" algn="l">
              <a:spcBef>
                <a:spcPts val="0"/>
              </a:spcBef>
              <a:spcAft>
                <a:spcPts val="0"/>
              </a:spcAft>
              <a:buNone/>
            </a:pPr>
            <a:r>
              <a:t/>
            </a:r>
            <a:endParaRPr sz="1800">
              <a:solidFill>
                <a:schemeClr val="dk2"/>
              </a:solidFill>
            </a:endParaRPr>
          </a:p>
        </p:txBody>
      </p:sp>
      <p:graphicFrame>
        <p:nvGraphicFramePr>
          <p:cNvPr id="255" name="Google Shape;255;p25"/>
          <p:cNvGraphicFramePr/>
          <p:nvPr/>
        </p:nvGraphicFramePr>
        <p:xfrm>
          <a:off x="5173000" y="1469050"/>
          <a:ext cx="3000000" cy="3000000"/>
        </p:xfrm>
        <a:graphic>
          <a:graphicData uri="http://schemas.openxmlformats.org/drawingml/2006/table">
            <a:tbl>
              <a:tblPr>
                <a:noFill/>
                <a:tableStyleId>{488F9DF4-EE4B-4068-BD8B-F2B007583E1D}</a:tableStyleId>
              </a:tblPr>
              <a:tblGrid>
                <a:gridCol w="1022275"/>
                <a:gridCol w="1371175"/>
                <a:gridCol w="660550"/>
                <a:gridCol w="646900"/>
              </a:tblGrid>
              <a:tr h="369600">
                <a:tc>
                  <a:txBody>
                    <a:bodyPr/>
                    <a:lstStyle/>
                    <a:p>
                      <a:pPr indent="0" lvl="0" marL="0" rtl="0" algn="ctr">
                        <a:spcBef>
                          <a:spcPts val="0"/>
                        </a:spcBef>
                        <a:spcAft>
                          <a:spcPts val="0"/>
                        </a:spcAft>
                        <a:buNone/>
                      </a:pPr>
                      <a:r>
                        <a:rPr b="1" lang="en" sz="1200"/>
                        <a:t>Name</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1200"/>
                        <a:t>Type</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1200"/>
                        <a:t>Width</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1200"/>
                        <a:t>Offset</a:t>
                      </a:r>
                      <a:endParaRPr b="1"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4350">
                <a:tc>
                  <a:txBody>
                    <a:bodyPr/>
                    <a:lstStyle/>
                    <a:p>
                      <a:pPr indent="0" lvl="0" marL="0" rtl="0" algn="l">
                        <a:spcBef>
                          <a:spcPts val="0"/>
                        </a:spcBef>
                        <a:spcAft>
                          <a:spcPts val="0"/>
                        </a:spcAft>
                        <a:buNone/>
                      </a:pPr>
                      <a:r>
                        <a:rPr b="1" lang="en" sz="1200"/>
                        <a:t>code</a:t>
                      </a:r>
                      <a:endParaRPr b="1" sz="1200"/>
                    </a:p>
                  </a:txBody>
                  <a:tcPr marT="91425" marB="91425" marR="91425" marL="91425">
                    <a:lnT cap="flat" cmpd="sng" w="9525">
                      <a:solidFill>
                        <a:schemeClr val="dk1"/>
                      </a:solidFill>
                      <a:prstDash val="solid"/>
                      <a:round/>
                      <a:headEnd len="sm" w="sm" type="none"/>
                      <a:tailEnd len="sm" w="sm" type="none"/>
                    </a:lnT>
                  </a:tcPr>
                </a:tc>
                <a:tc>
                  <a:txBody>
                    <a:bodyPr/>
                    <a:lstStyle/>
                    <a:p>
                      <a:pPr indent="0" lvl="0" marL="0" rtl="0" algn="l">
                        <a:spcBef>
                          <a:spcPts val="0"/>
                        </a:spcBef>
                        <a:spcAft>
                          <a:spcPts val="0"/>
                        </a:spcAft>
                        <a:buNone/>
                      </a:pPr>
                      <a:r>
                        <a:rPr b="1" lang="en" sz="1200"/>
                        <a:t>int</a:t>
                      </a:r>
                      <a:endParaRPr b="1" sz="1200"/>
                    </a:p>
                  </a:txBody>
                  <a:tcPr marT="91425" marB="91425" marR="91425" marL="91425">
                    <a:lnT cap="flat" cmpd="sng" w="9525">
                      <a:solidFill>
                        <a:schemeClr val="dk1"/>
                      </a:solidFill>
                      <a:prstDash val="solid"/>
                      <a:round/>
                      <a:headEnd len="sm" w="sm" type="none"/>
                      <a:tailEnd len="sm" w="sm" type="none"/>
                    </a:lnT>
                  </a:tcPr>
                </a:tc>
                <a:tc>
                  <a:txBody>
                    <a:bodyPr/>
                    <a:lstStyle/>
                    <a:p>
                      <a:pPr indent="0" lvl="0" marL="0" rtl="0" algn="l">
                        <a:spcBef>
                          <a:spcPts val="0"/>
                        </a:spcBef>
                        <a:spcAft>
                          <a:spcPts val="0"/>
                        </a:spcAft>
                        <a:buNone/>
                      </a:pPr>
                      <a:r>
                        <a:rPr b="1" lang="en" sz="1200"/>
                        <a:t>4</a:t>
                      </a:r>
                      <a:endParaRPr b="1" sz="1200"/>
                    </a:p>
                  </a:txBody>
                  <a:tcPr marT="91425" marB="91425" marR="91425" marL="91425">
                    <a:lnT cap="flat" cmpd="sng" w="9525">
                      <a:solidFill>
                        <a:schemeClr val="dk1"/>
                      </a:solidFill>
                      <a:prstDash val="solid"/>
                      <a:round/>
                      <a:headEnd len="sm" w="sm" type="none"/>
                      <a:tailEnd len="sm" w="sm" type="none"/>
                    </a:lnT>
                  </a:tcPr>
                </a:tc>
                <a:tc>
                  <a:txBody>
                    <a:bodyPr/>
                    <a:lstStyle/>
                    <a:p>
                      <a:pPr indent="0" lvl="0" marL="0" rtl="0" algn="l">
                        <a:spcBef>
                          <a:spcPts val="0"/>
                        </a:spcBef>
                        <a:spcAft>
                          <a:spcPts val="0"/>
                        </a:spcAft>
                        <a:buNone/>
                      </a:pPr>
                      <a:r>
                        <a:rPr b="1" lang="en" sz="1200"/>
                        <a:t>0</a:t>
                      </a:r>
                      <a:endParaRPr b="1" sz="1200"/>
                    </a:p>
                  </a:txBody>
                  <a:tcPr marT="91425" marB="91425" marR="91425" marL="91425">
                    <a:lnT cap="flat" cmpd="sng" w="9525">
                      <a:solidFill>
                        <a:schemeClr val="dk1"/>
                      </a:solidFill>
                      <a:prstDash val="solid"/>
                      <a:round/>
                      <a:headEnd len="sm" w="sm" type="none"/>
                      <a:tailEnd len="sm" w="sm" type="none"/>
                    </a:lnT>
                  </a:tcPr>
                </a:tc>
              </a:tr>
              <a:tr h="384350">
                <a:tc>
                  <a:txBody>
                    <a:bodyPr/>
                    <a:lstStyle/>
                    <a:p>
                      <a:pPr indent="0" lvl="0" marL="0" rtl="0" algn="l">
                        <a:spcBef>
                          <a:spcPts val="0"/>
                        </a:spcBef>
                        <a:spcAft>
                          <a:spcPts val="0"/>
                        </a:spcAft>
                        <a:buNone/>
                      </a:pPr>
                      <a:r>
                        <a:rPr b="1" lang="en" sz="1200"/>
                        <a:t>name</a:t>
                      </a:r>
                      <a:endParaRPr b="1" sz="1200"/>
                    </a:p>
                  </a:txBody>
                  <a:tcPr marT="91425" marB="91425" marR="91425" marL="91425"/>
                </a:tc>
                <a:tc>
                  <a:txBody>
                    <a:bodyPr/>
                    <a:lstStyle/>
                    <a:p>
                      <a:pPr indent="0" lvl="0" marL="0" rtl="0" algn="l">
                        <a:spcBef>
                          <a:spcPts val="0"/>
                        </a:spcBef>
                        <a:spcAft>
                          <a:spcPts val="0"/>
                        </a:spcAft>
                        <a:buNone/>
                      </a:pPr>
                      <a:r>
                        <a:rPr b="1" lang="en" sz="1200">
                          <a:solidFill>
                            <a:schemeClr val="dk1"/>
                          </a:solidFill>
                        </a:rPr>
                        <a:t>array(20,char)</a:t>
                      </a:r>
                      <a:endParaRPr b="1" sz="1200"/>
                    </a:p>
                  </a:txBody>
                  <a:tcPr marT="91425" marB="91425" marR="91425" marL="91425"/>
                </a:tc>
                <a:tc>
                  <a:txBody>
                    <a:bodyPr/>
                    <a:lstStyle/>
                    <a:p>
                      <a:pPr indent="0" lvl="0" marL="0" rtl="0" algn="l">
                        <a:spcBef>
                          <a:spcPts val="0"/>
                        </a:spcBef>
                        <a:spcAft>
                          <a:spcPts val="0"/>
                        </a:spcAft>
                        <a:buNone/>
                      </a:pPr>
                      <a:r>
                        <a:rPr b="1" lang="en" sz="1200"/>
                        <a:t>40</a:t>
                      </a:r>
                      <a:endParaRPr b="1" sz="1200"/>
                    </a:p>
                  </a:txBody>
                  <a:tcPr marT="91425" marB="91425" marR="91425" marL="91425"/>
                </a:tc>
                <a:tc>
                  <a:txBody>
                    <a:bodyPr/>
                    <a:lstStyle/>
                    <a:p>
                      <a:pPr indent="0" lvl="0" marL="0" rtl="0" algn="l">
                        <a:spcBef>
                          <a:spcPts val="0"/>
                        </a:spcBef>
                        <a:spcAft>
                          <a:spcPts val="0"/>
                        </a:spcAft>
                        <a:buNone/>
                      </a:pPr>
                      <a:r>
                        <a:rPr b="1" lang="en" sz="1200"/>
                        <a:t>4</a:t>
                      </a:r>
                      <a:endParaRPr b="1" sz="1200"/>
                    </a:p>
                  </a:txBody>
                  <a:tcPr marT="91425" marB="91425" marR="91425" marL="91425"/>
                </a:tc>
              </a:tr>
              <a:tr h="384350">
                <a:tc>
                  <a:txBody>
                    <a:bodyPr/>
                    <a:lstStyle/>
                    <a:p>
                      <a:pPr indent="0" lvl="0" marL="0" rtl="0" algn="l">
                        <a:spcBef>
                          <a:spcPts val="0"/>
                        </a:spcBef>
                        <a:spcAft>
                          <a:spcPts val="0"/>
                        </a:spcAft>
                        <a:buNone/>
                      </a:pPr>
                      <a:r>
                        <a:rPr b="1" lang="en" sz="1200"/>
                        <a:t>instructor</a:t>
                      </a:r>
                      <a:endParaRPr b="1" sz="1200"/>
                    </a:p>
                  </a:txBody>
                  <a:tcPr marT="91425" marB="91425" marR="91425" marL="91425"/>
                </a:tc>
                <a:tc>
                  <a:txBody>
                    <a:bodyPr/>
                    <a:lstStyle/>
                    <a:p>
                      <a:pPr indent="0" lvl="0" marL="0" rtl="0" algn="l">
                        <a:spcBef>
                          <a:spcPts val="0"/>
                        </a:spcBef>
                        <a:spcAft>
                          <a:spcPts val="0"/>
                        </a:spcAft>
                        <a:buNone/>
                      </a:pPr>
                      <a:r>
                        <a:rPr b="1" lang="en" sz="1200"/>
                        <a:t>Teacher</a:t>
                      </a:r>
                      <a:endParaRPr b="1" sz="1200"/>
                    </a:p>
                  </a:txBody>
                  <a:tcPr marT="91425" marB="91425" marR="91425" marL="91425"/>
                </a:tc>
                <a:tc>
                  <a:txBody>
                    <a:bodyPr/>
                    <a:lstStyle/>
                    <a:p>
                      <a:pPr indent="0" lvl="0" marL="0" rtl="0" algn="l">
                        <a:spcBef>
                          <a:spcPts val="0"/>
                        </a:spcBef>
                        <a:spcAft>
                          <a:spcPts val="0"/>
                        </a:spcAft>
                        <a:buNone/>
                      </a:pPr>
                      <a:r>
                        <a:rPr b="1" lang="en" sz="1200"/>
                        <a:t>80</a:t>
                      </a:r>
                      <a:endParaRPr b="1" sz="1200"/>
                    </a:p>
                  </a:txBody>
                  <a:tcPr marT="91425" marB="91425" marR="91425" marL="91425"/>
                </a:tc>
                <a:tc>
                  <a:txBody>
                    <a:bodyPr/>
                    <a:lstStyle/>
                    <a:p>
                      <a:pPr indent="0" lvl="0" marL="0" rtl="0" algn="l">
                        <a:spcBef>
                          <a:spcPts val="0"/>
                        </a:spcBef>
                        <a:spcAft>
                          <a:spcPts val="0"/>
                        </a:spcAft>
                        <a:buNone/>
                      </a:pPr>
                      <a:r>
                        <a:rPr b="1" lang="en" sz="1200"/>
                        <a:t>44</a:t>
                      </a:r>
                      <a:endParaRPr b="1" sz="1200"/>
                    </a:p>
                  </a:txBody>
                  <a:tcPr marT="91425" marB="91425" marR="91425" marL="91425"/>
                </a:tc>
              </a:tr>
            </a:tbl>
          </a:graphicData>
        </a:graphic>
      </p:graphicFrame>
      <p:graphicFrame>
        <p:nvGraphicFramePr>
          <p:cNvPr id="256" name="Google Shape;256;p25"/>
          <p:cNvGraphicFramePr/>
          <p:nvPr/>
        </p:nvGraphicFramePr>
        <p:xfrm>
          <a:off x="50475" y="1469038"/>
          <a:ext cx="3000000" cy="3000000"/>
        </p:xfrm>
        <a:graphic>
          <a:graphicData uri="http://schemas.openxmlformats.org/drawingml/2006/table">
            <a:tbl>
              <a:tblPr>
                <a:noFill/>
                <a:tableStyleId>{488F9DF4-EE4B-4068-BD8B-F2B007583E1D}</a:tableStyleId>
              </a:tblPr>
              <a:tblGrid>
                <a:gridCol w="1078725"/>
                <a:gridCol w="1402800"/>
                <a:gridCol w="992300"/>
                <a:gridCol w="841100"/>
              </a:tblGrid>
              <a:tr h="274925">
                <a:tc>
                  <a:txBody>
                    <a:bodyPr/>
                    <a:lstStyle/>
                    <a:p>
                      <a:pPr indent="0" lvl="0" marL="0" rtl="0" algn="ctr">
                        <a:spcBef>
                          <a:spcPts val="0"/>
                        </a:spcBef>
                        <a:spcAft>
                          <a:spcPts val="0"/>
                        </a:spcAft>
                        <a:buNone/>
                      </a:pPr>
                      <a:r>
                        <a:rPr b="1" lang="en" sz="1200">
                          <a:latin typeface="Lexend"/>
                          <a:ea typeface="Lexend"/>
                          <a:cs typeface="Lexend"/>
                          <a:sym typeface="Lexend"/>
                        </a:rPr>
                        <a:t>Name</a:t>
                      </a:r>
                      <a:endParaRPr b="1" sz="12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1200">
                          <a:latin typeface="Lexend"/>
                          <a:ea typeface="Lexend"/>
                          <a:cs typeface="Lexend"/>
                          <a:sym typeface="Lexend"/>
                        </a:rPr>
                        <a:t>Type</a:t>
                      </a:r>
                      <a:endParaRPr b="1" sz="12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1200">
                          <a:latin typeface="Lexend"/>
                          <a:ea typeface="Lexend"/>
                          <a:cs typeface="Lexend"/>
                          <a:sym typeface="Lexend"/>
                        </a:rPr>
                        <a:t>Width</a:t>
                      </a:r>
                      <a:endParaRPr b="1" sz="12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1200">
                          <a:latin typeface="Lexend"/>
                          <a:ea typeface="Lexend"/>
                          <a:cs typeface="Lexend"/>
                          <a:sym typeface="Lexend"/>
                        </a:rPr>
                        <a:t>Offset</a:t>
                      </a:r>
                      <a:endParaRPr b="1" sz="12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74925">
                <a:tc>
                  <a:txBody>
                    <a:bodyPr/>
                    <a:lstStyle/>
                    <a:p>
                      <a:pPr indent="0" lvl="0" marL="0" rtl="0" algn="l">
                        <a:spcBef>
                          <a:spcPts val="0"/>
                        </a:spcBef>
                        <a:spcAft>
                          <a:spcPts val="0"/>
                        </a:spcAft>
                        <a:buNone/>
                      </a:pPr>
                      <a:r>
                        <a:rPr b="1" lang="en" sz="1200">
                          <a:solidFill>
                            <a:schemeClr val="dk1"/>
                          </a:solidFill>
                        </a:rPr>
                        <a:t>employeeId</a:t>
                      </a:r>
                      <a:endParaRPr b="1" sz="1200"/>
                    </a:p>
                  </a:txBody>
                  <a:tcPr marT="91425" marB="91425" marR="91425" marL="91425">
                    <a:lnT cap="flat" cmpd="sng" w="9525">
                      <a:solidFill>
                        <a:schemeClr val="dk1"/>
                      </a:solidFill>
                      <a:prstDash val="solid"/>
                      <a:round/>
                      <a:headEnd len="sm" w="sm" type="none"/>
                      <a:tailEnd len="sm" w="sm" type="none"/>
                    </a:lnT>
                  </a:tcPr>
                </a:tc>
                <a:tc>
                  <a:txBody>
                    <a:bodyPr/>
                    <a:lstStyle/>
                    <a:p>
                      <a:pPr indent="0" lvl="0" marL="0" rtl="0" algn="l">
                        <a:spcBef>
                          <a:spcPts val="0"/>
                        </a:spcBef>
                        <a:spcAft>
                          <a:spcPts val="0"/>
                        </a:spcAft>
                        <a:buNone/>
                      </a:pPr>
                      <a:r>
                        <a:rPr b="1" lang="en" sz="1200"/>
                        <a:t>int</a:t>
                      </a:r>
                      <a:endParaRPr b="1" sz="1200"/>
                    </a:p>
                  </a:txBody>
                  <a:tcPr marT="91425" marB="91425" marR="91425" marL="91425">
                    <a:lnT cap="flat" cmpd="sng" w="9525">
                      <a:solidFill>
                        <a:schemeClr val="dk1"/>
                      </a:solidFill>
                      <a:prstDash val="solid"/>
                      <a:round/>
                      <a:headEnd len="sm" w="sm" type="none"/>
                      <a:tailEnd len="sm" w="sm" type="none"/>
                    </a:lnT>
                  </a:tcPr>
                </a:tc>
                <a:tc>
                  <a:txBody>
                    <a:bodyPr/>
                    <a:lstStyle/>
                    <a:p>
                      <a:pPr indent="0" lvl="0" marL="0" rtl="0" algn="l">
                        <a:spcBef>
                          <a:spcPts val="0"/>
                        </a:spcBef>
                        <a:spcAft>
                          <a:spcPts val="0"/>
                        </a:spcAft>
                        <a:buNone/>
                      </a:pPr>
                      <a:r>
                        <a:rPr b="1" lang="en" sz="1200"/>
                        <a:t>4</a:t>
                      </a:r>
                      <a:endParaRPr b="1" sz="1200"/>
                    </a:p>
                  </a:txBody>
                  <a:tcPr marT="91425" marB="91425" marR="91425" marL="91425">
                    <a:lnT cap="flat" cmpd="sng" w="9525">
                      <a:solidFill>
                        <a:schemeClr val="dk1"/>
                      </a:solidFill>
                      <a:prstDash val="solid"/>
                      <a:round/>
                      <a:headEnd len="sm" w="sm" type="none"/>
                      <a:tailEnd len="sm" w="sm" type="none"/>
                    </a:lnT>
                  </a:tcPr>
                </a:tc>
                <a:tc>
                  <a:txBody>
                    <a:bodyPr/>
                    <a:lstStyle/>
                    <a:p>
                      <a:pPr indent="0" lvl="0" marL="0" rtl="0" algn="l">
                        <a:spcBef>
                          <a:spcPts val="0"/>
                        </a:spcBef>
                        <a:spcAft>
                          <a:spcPts val="0"/>
                        </a:spcAft>
                        <a:buNone/>
                      </a:pPr>
                      <a:r>
                        <a:rPr b="1" lang="en" sz="1200"/>
                        <a:t>0</a:t>
                      </a:r>
                      <a:endParaRPr b="1" sz="1200"/>
                    </a:p>
                  </a:txBody>
                  <a:tcPr marT="91425" marB="91425" marR="91425" marL="91425">
                    <a:lnT cap="flat" cmpd="sng" w="9525">
                      <a:solidFill>
                        <a:schemeClr val="dk1"/>
                      </a:solidFill>
                      <a:prstDash val="solid"/>
                      <a:round/>
                      <a:headEnd len="sm" w="sm" type="none"/>
                      <a:tailEnd len="sm" w="sm" type="none"/>
                    </a:lnT>
                  </a:tcPr>
                </a:tc>
              </a:tr>
              <a:tr h="274925">
                <a:tc>
                  <a:txBody>
                    <a:bodyPr/>
                    <a:lstStyle/>
                    <a:p>
                      <a:pPr indent="0" lvl="0" marL="0" rtl="0" algn="l">
                        <a:spcBef>
                          <a:spcPts val="0"/>
                        </a:spcBef>
                        <a:spcAft>
                          <a:spcPts val="0"/>
                        </a:spcAft>
                        <a:buNone/>
                      </a:pPr>
                      <a:r>
                        <a:rPr b="1" lang="en" sz="1200"/>
                        <a:t>initials</a:t>
                      </a:r>
                      <a:endParaRPr b="1" sz="1200"/>
                    </a:p>
                  </a:txBody>
                  <a:tcPr marT="91425" marB="91425" marR="91425" marL="91425"/>
                </a:tc>
                <a:tc>
                  <a:txBody>
                    <a:bodyPr/>
                    <a:lstStyle/>
                    <a:p>
                      <a:pPr indent="0" lvl="0" marL="0" rtl="0" algn="l">
                        <a:spcBef>
                          <a:spcPts val="0"/>
                        </a:spcBef>
                        <a:spcAft>
                          <a:spcPts val="0"/>
                        </a:spcAft>
                        <a:buNone/>
                      </a:pPr>
                      <a:r>
                        <a:rPr b="1" lang="en" sz="1200">
                          <a:solidFill>
                            <a:schemeClr val="dk1"/>
                          </a:solidFill>
                        </a:rPr>
                        <a:t>array(3,char)</a:t>
                      </a:r>
                      <a:endParaRPr b="1" sz="1200"/>
                    </a:p>
                  </a:txBody>
                  <a:tcPr marT="91425" marB="91425" marR="91425" marL="91425"/>
                </a:tc>
                <a:tc>
                  <a:txBody>
                    <a:bodyPr/>
                    <a:lstStyle/>
                    <a:p>
                      <a:pPr indent="0" lvl="0" marL="0" rtl="0" algn="l">
                        <a:spcBef>
                          <a:spcPts val="0"/>
                        </a:spcBef>
                        <a:spcAft>
                          <a:spcPts val="0"/>
                        </a:spcAft>
                        <a:buNone/>
                      </a:pPr>
                      <a:r>
                        <a:rPr b="1" lang="en" sz="1200"/>
                        <a:t>6</a:t>
                      </a:r>
                      <a:endParaRPr b="1" sz="1200"/>
                    </a:p>
                  </a:txBody>
                  <a:tcPr marT="91425" marB="91425" marR="91425" marL="91425"/>
                </a:tc>
                <a:tc>
                  <a:txBody>
                    <a:bodyPr/>
                    <a:lstStyle/>
                    <a:p>
                      <a:pPr indent="0" lvl="0" marL="0" rtl="0" algn="l">
                        <a:spcBef>
                          <a:spcPts val="0"/>
                        </a:spcBef>
                        <a:spcAft>
                          <a:spcPts val="0"/>
                        </a:spcAft>
                        <a:buNone/>
                      </a:pPr>
                      <a:r>
                        <a:rPr b="1" lang="en" sz="1200"/>
                        <a:t>4</a:t>
                      </a:r>
                      <a:endParaRPr b="1" sz="1200"/>
                    </a:p>
                  </a:txBody>
                  <a:tcPr marT="91425" marB="91425" marR="91425" marL="91425"/>
                </a:tc>
              </a:tr>
              <a:tr h="274925">
                <a:tc>
                  <a:txBody>
                    <a:bodyPr/>
                    <a:lstStyle/>
                    <a:p>
                      <a:pPr indent="0" lvl="0" marL="0" rtl="0" algn="l">
                        <a:spcBef>
                          <a:spcPts val="0"/>
                        </a:spcBef>
                        <a:spcAft>
                          <a:spcPts val="0"/>
                        </a:spcAft>
                        <a:buNone/>
                      </a:pPr>
                      <a:r>
                        <a:rPr b="1" lang="en" sz="1200"/>
                        <a:t>name</a:t>
                      </a:r>
                      <a:endParaRPr b="1" sz="1200"/>
                    </a:p>
                  </a:txBody>
                  <a:tcPr marT="91425" marB="91425" marR="91425" marL="91425"/>
                </a:tc>
                <a:tc>
                  <a:txBody>
                    <a:bodyPr/>
                    <a:lstStyle/>
                    <a:p>
                      <a:pPr indent="0" lvl="0" marL="0" rtl="0" algn="l">
                        <a:spcBef>
                          <a:spcPts val="0"/>
                        </a:spcBef>
                        <a:spcAft>
                          <a:spcPts val="0"/>
                        </a:spcAft>
                        <a:buNone/>
                      </a:pPr>
                      <a:r>
                        <a:rPr b="1" lang="en" sz="1200">
                          <a:solidFill>
                            <a:schemeClr val="dk1"/>
                          </a:solidFill>
                        </a:rPr>
                        <a:t>array(20,char)</a:t>
                      </a:r>
                      <a:endParaRPr b="1" sz="1200">
                        <a:solidFill>
                          <a:schemeClr val="dk1"/>
                        </a:solidFill>
                      </a:endParaRPr>
                    </a:p>
                  </a:txBody>
                  <a:tcPr marT="91425" marB="91425" marR="91425" marL="91425"/>
                </a:tc>
                <a:tc>
                  <a:txBody>
                    <a:bodyPr/>
                    <a:lstStyle/>
                    <a:p>
                      <a:pPr indent="0" lvl="0" marL="0" rtl="0" algn="l">
                        <a:spcBef>
                          <a:spcPts val="0"/>
                        </a:spcBef>
                        <a:spcAft>
                          <a:spcPts val="0"/>
                        </a:spcAft>
                        <a:buNone/>
                      </a:pPr>
                      <a:r>
                        <a:rPr b="1" lang="en" sz="1200"/>
                        <a:t>40</a:t>
                      </a:r>
                      <a:endParaRPr b="1" sz="1200"/>
                    </a:p>
                  </a:txBody>
                  <a:tcPr marT="91425" marB="91425" marR="91425" marL="91425"/>
                </a:tc>
                <a:tc>
                  <a:txBody>
                    <a:bodyPr/>
                    <a:lstStyle/>
                    <a:p>
                      <a:pPr indent="0" lvl="0" marL="0" rtl="0" algn="l">
                        <a:spcBef>
                          <a:spcPts val="0"/>
                        </a:spcBef>
                        <a:spcAft>
                          <a:spcPts val="0"/>
                        </a:spcAft>
                        <a:buNone/>
                      </a:pPr>
                      <a:r>
                        <a:rPr b="1" lang="en" sz="1200"/>
                        <a:t>10</a:t>
                      </a:r>
                      <a:endParaRPr b="1" sz="1200"/>
                    </a:p>
                  </a:txBody>
                  <a:tcPr marT="91425" marB="91425" marR="91425" marL="91425"/>
                </a:tc>
              </a:tr>
              <a:tr h="274925">
                <a:tc>
                  <a:txBody>
                    <a:bodyPr/>
                    <a:lstStyle/>
                    <a:p>
                      <a:pPr indent="0" lvl="0" marL="0" rtl="0" algn="l">
                        <a:spcBef>
                          <a:spcPts val="0"/>
                        </a:spcBef>
                        <a:spcAft>
                          <a:spcPts val="0"/>
                        </a:spcAft>
                        <a:buNone/>
                      </a:pPr>
                      <a:r>
                        <a:rPr b="1" lang="en" sz="1200"/>
                        <a:t>position</a:t>
                      </a:r>
                      <a:endParaRPr b="1" sz="1200"/>
                    </a:p>
                  </a:txBody>
                  <a:tcPr marT="91425" marB="91425" marR="91425" marL="91425"/>
                </a:tc>
                <a:tc>
                  <a:txBody>
                    <a:bodyPr/>
                    <a:lstStyle/>
                    <a:p>
                      <a:pPr indent="0" lvl="0" marL="0" rtl="0" algn="l">
                        <a:spcBef>
                          <a:spcPts val="0"/>
                        </a:spcBef>
                        <a:spcAft>
                          <a:spcPts val="0"/>
                        </a:spcAft>
                        <a:buNone/>
                      </a:pPr>
                      <a:r>
                        <a:rPr b="1" lang="en" sz="1200">
                          <a:solidFill>
                            <a:schemeClr val="dk1"/>
                          </a:solidFill>
                        </a:rPr>
                        <a:t>array(15,char)</a:t>
                      </a:r>
                      <a:endParaRPr b="1" sz="1200"/>
                    </a:p>
                  </a:txBody>
                  <a:tcPr marT="91425" marB="91425" marR="91425" marL="91425"/>
                </a:tc>
                <a:tc>
                  <a:txBody>
                    <a:bodyPr/>
                    <a:lstStyle/>
                    <a:p>
                      <a:pPr indent="0" lvl="0" marL="0" rtl="0" algn="l">
                        <a:spcBef>
                          <a:spcPts val="0"/>
                        </a:spcBef>
                        <a:spcAft>
                          <a:spcPts val="0"/>
                        </a:spcAft>
                        <a:buNone/>
                      </a:pPr>
                      <a:r>
                        <a:rPr b="1" lang="en" sz="1200"/>
                        <a:t>30</a:t>
                      </a:r>
                      <a:endParaRPr b="1" sz="1200"/>
                    </a:p>
                  </a:txBody>
                  <a:tcPr marT="91425" marB="91425" marR="91425" marL="91425"/>
                </a:tc>
                <a:tc>
                  <a:txBody>
                    <a:bodyPr/>
                    <a:lstStyle/>
                    <a:p>
                      <a:pPr indent="0" lvl="0" marL="0" rtl="0" algn="l">
                        <a:spcBef>
                          <a:spcPts val="0"/>
                        </a:spcBef>
                        <a:spcAft>
                          <a:spcPts val="0"/>
                        </a:spcAft>
                        <a:buNone/>
                      </a:pPr>
                      <a:r>
                        <a:rPr b="1" lang="en" sz="1200"/>
                        <a:t>50</a:t>
                      </a:r>
                      <a:endParaRPr b="1" sz="1200"/>
                    </a:p>
                  </a:txBody>
                  <a:tcPr marT="91425" marB="91425" marR="91425" marL="91425"/>
                </a:tc>
              </a:tr>
            </a:tbl>
          </a:graphicData>
        </a:graphic>
      </p:graphicFrame>
      <p:sp>
        <p:nvSpPr>
          <p:cNvPr id="257" name="Google Shape;257;p25"/>
          <p:cNvSpPr txBox="1"/>
          <p:nvPr/>
        </p:nvSpPr>
        <p:spPr>
          <a:xfrm>
            <a:off x="6754650" y="4755900"/>
            <a:ext cx="2337000" cy="38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rPr>
              <a:t>Prepared By: Sukarna Sarker</a:t>
            </a:r>
            <a:endParaRPr b="1" sz="12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pic>
        <p:nvPicPr>
          <p:cNvPr id="262" name="Google Shape;262;p26"/>
          <p:cNvPicPr preferRelativeResize="0"/>
          <p:nvPr/>
        </p:nvPicPr>
        <p:blipFill rotWithShape="1">
          <a:blip r:embed="rId3">
            <a:alphaModFix/>
          </a:blip>
          <a:srcRect b="0" l="0" r="0" t="0"/>
          <a:stretch/>
        </p:blipFill>
        <p:spPr>
          <a:xfrm>
            <a:off x="8507451" y="76200"/>
            <a:ext cx="560349" cy="514126"/>
          </a:xfrm>
          <a:prstGeom prst="rect">
            <a:avLst/>
          </a:prstGeom>
          <a:noFill/>
          <a:ln>
            <a:noFill/>
          </a:ln>
        </p:spPr>
      </p:pic>
      <p:sp>
        <p:nvSpPr>
          <p:cNvPr id="263" name="Google Shape;263;p26"/>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0" i="0" lang="en" sz="1000" u="none" cap="none" strike="noStrike">
                <a:solidFill>
                  <a:srgbClr val="595959"/>
                </a:solidFill>
                <a:latin typeface="Arial"/>
                <a:ea typeface="Arial"/>
                <a:cs typeface="Arial"/>
                <a:sym typeface="Arial"/>
              </a:rPr>
              <a:t>‹#›</a:t>
            </a:fld>
            <a:endParaRPr b="0" i="0" sz="1000" u="none" cap="none" strike="noStrike">
              <a:solidFill>
                <a:srgbClr val="595959"/>
              </a:solidFill>
              <a:latin typeface="Arial"/>
              <a:ea typeface="Arial"/>
              <a:cs typeface="Arial"/>
              <a:sym typeface="Arial"/>
            </a:endParaRPr>
          </a:p>
        </p:txBody>
      </p:sp>
      <p:grpSp>
        <p:nvGrpSpPr>
          <p:cNvPr id="264" name="Google Shape;264;p26"/>
          <p:cNvGrpSpPr/>
          <p:nvPr/>
        </p:nvGrpSpPr>
        <p:grpSpPr>
          <a:xfrm>
            <a:off x="50480" y="122879"/>
            <a:ext cx="277873" cy="68400"/>
            <a:chOff x="411700" y="2416840"/>
            <a:chExt cx="277873" cy="68400"/>
          </a:xfrm>
        </p:grpSpPr>
        <p:sp>
          <p:nvSpPr>
            <p:cNvPr id="265" name="Google Shape;265;p26"/>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p26"/>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p26"/>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68" name="Google Shape;268;p26"/>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4F4F4F"/>
                </a:solidFill>
                <a:latin typeface="Lexend Light"/>
                <a:ea typeface="Lexend Light"/>
                <a:cs typeface="Lexend Light"/>
                <a:sym typeface="Lexend Light"/>
              </a:rPr>
              <a:t>Department of Computer Science and Engineering</a:t>
            </a:r>
            <a:endParaRPr b="1" i="0" sz="900" u="none" cap="none" strike="noStrike">
              <a:solidFill>
                <a:srgbClr val="4F4F4F"/>
              </a:solidFill>
              <a:latin typeface="Lexend"/>
              <a:ea typeface="Lexend"/>
              <a:cs typeface="Lexend"/>
              <a:sym typeface="Lexend"/>
            </a:endParaRPr>
          </a:p>
        </p:txBody>
      </p:sp>
      <p:sp>
        <p:nvSpPr>
          <p:cNvPr id="269" name="Google Shape;269;p26"/>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4F4F4F"/>
                </a:solidFill>
                <a:latin typeface="Lexend"/>
                <a:ea typeface="Lexend"/>
                <a:cs typeface="Lexend"/>
                <a:sym typeface="Lexend"/>
              </a:rPr>
              <a:t>CSE</a:t>
            </a:r>
            <a:r>
              <a:rPr b="1" lang="en" sz="900">
                <a:solidFill>
                  <a:srgbClr val="4F4F4F"/>
                </a:solidFill>
                <a:latin typeface="Lexend"/>
                <a:ea typeface="Lexend"/>
                <a:cs typeface="Lexend"/>
                <a:sym typeface="Lexend"/>
              </a:rPr>
              <a:t>420</a:t>
            </a:r>
            <a:r>
              <a:rPr b="1" i="0" lang="en" sz="900" u="none" cap="none" strike="noStrike">
                <a:solidFill>
                  <a:srgbClr val="4F4F4F"/>
                </a:solidFill>
                <a:latin typeface="Lexend"/>
                <a:ea typeface="Lexend"/>
                <a:cs typeface="Lexend"/>
                <a:sym typeface="Lexend"/>
              </a:rPr>
              <a:t> - </a:t>
            </a:r>
            <a:r>
              <a:rPr b="1" lang="en" sz="900">
                <a:solidFill>
                  <a:srgbClr val="4F4F4F"/>
                </a:solidFill>
                <a:latin typeface="Lexend"/>
                <a:ea typeface="Lexend"/>
                <a:cs typeface="Lexend"/>
                <a:sym typeface="Lexend"/>
              </a:rPr>
              <a:t>Compiler Design</a:t>
            </a:r>
            <a:endParaRPr b="0" i="0" sz="900" u="none" cap="none" strike="noStrike">
              <a:solidFill>
                <a:srgbClr val="4F4F4F"/>
              </a:solidFill>
              <a:latin typeface="Lexend"/>
              <a:ea typeface="Lexend"/>
              <a:cs typeface="Lexend"/>
              <a:sym typeface="Lexend"/>
            </a:endParaRPr>
          </a:p>
        </p:txBody>
      </p:sp>
      <p:sp>
        <p:nvSpPr>
          <p:cNvPr id="270" name="Google Shape;270;p26"/>
          <p:cNvSpPr txBox="1"/>
          <p:nvPr/>
        </p:nvSpPr>
        <p:spPr>
          <a:xfrm>
            <a:off x="0" y="102400"/>
            <a:ext cx="91440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latin typeface="Lexend Medium"/>
                <a:ea typeface="Lexend Medium"/>
                <a:cs typeface="Lexend Medium"/>
                <a:sym typeface="Lexend Medium"/>
              </a:rPr>
              <a:t>Public/Private/Package/Protected Visibility Control</a:t>
            </a:r>
            <a:endParaRPr sz="1800">
              <a:latin typeface="Lexend Medium"/>
              <a:ea typeface="Lexend Medium"/>
              <a:cs typeface="Lexend Medium"/>
              <a:sym typeface="Lexend Medium"/>
            </a:endParaRPr>
          </a:p>
        </p:txBody>
      </p:sp>
      <p:sp>
        <p:nvSpPr>
          <p:cNvPr id="271" name="Google Shape;271;p26"/>
          <p:cNvSpPr txBox="1"/>
          <p:nvPr/>
        </p:nvSpPr>
        <p:spPr>
          <a:xfrm>
            <a:off x="37575" y="580100"/>
            <a:ext cx="9030300" cy="418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800">
                <a:solidFill>
                  <a:schemeClr val="dk1"/>
                </a:solidFill>
              </a:rPr>
              <a:t>There is no such thing as visibility control of variables and methods in the generated binary executable. Visibility control is a strictly design feature of OOP languages that a compiler peels off from the source code after semantic analysis. This means, the OOP compiler checks, during semantic analysis, if the fields and methods are accessible from different statements of your code according to the public, private, package, and protected modifiers you put in different class definitions of your program. If there is any violation in any statements, for example, you are trying to access a private property of Class B from Class A, then you get a semantic error. However, after the semantic analysis is done and the validity of access is ensured, these visibility control features are completely ignored by the compiler as it goes on generating the executable pretending those instructions never existed. Among other things, an OOP compiler may also ignore Final and Constant keywords beside visibility control instructions. Similarly, that you cannot create an instance of an abstract class is also a validation done during semantic analysis and is ignored during later code generation phases.</a:t>
            </a:r>
            <a:endParaRPr sz="1800">
              <a:solidFill>
                <a:schemeClr val="dk1"/>
              </a:solidFill>
            </a:endParaRPr>
          </a:p>
          <a:p>
            <a:pPr indent="0" lvl="0" marL="0" rtl="0" algn="l">
              <a:spcBef>
                <a:spcPts val="0"/>
              </a:spcBef>
              <a:spcAft>
                <a:spcPts val="0"/>
              </a:spcAft>
              <a:buClr>
                <a:schemeClr val="dk1"/>
              </a:buClr>
              <a:buSzPts val="1100"/>
              <a:buFont typeface="Arial"/>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272" name="Google Shape;272;p26"/>
          <p:cNvSpPr txBox="1"/>
          <p:nvPr/>
        </p:nvSpPr>
        <p:spPr>
          <a:xfrm>
            <a:off x="6754650" y="4755900"/>
            <a:ext cx="2337000" cy="38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rPr>
              <a:t>Prepared By: Sukarna Sarker</a:t>
            </a:r>
            <a:endParaRPr b="1" sz="12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pic>
        <p:nvPicPr>
          <p:cNvPr id="277" name="Google Shape;277;p27"/>
          <p:cNvPicPr preferRelativeResize="0"/>
          <p:nvPr/>
        </p:nvPicPr>
        <p:blipFill rotWithShape="1">
          <a:blip r:embed="rId3">
            <a:alphaModFix/>
          </a:blip>
          <a:srcRect b="0" l="0" r="0" t="0"/>
          <a:stretch/>
        </p:blipFill>
        <p:spPr>
          <a:xfrm>
            <a:off x="8507451" y="76200"/>
            <a:ext cx="560349" cy="514126"/>
          </a:xfrm>
          <a:prstGeom prst="rect">
            <a:avLst/>
          </a:prstGeom>
          <a:noFill/>
          <a:ln>
            <a:noFill/>
          </a:ln>
        </p:spPr>
      </p:pic>
      <p:sp>
        <p:nvSpPr>
          <p:cNvPr id="278" name="Google Shape;278;p27"/>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0" i="0" lang="en" sz="1000" u="none" cap="none" strike="noStrike">
                <a:solidFill>
                  <a:srgbClr val="595959"/>
                </a:solidFill>
                <a:latin typeface="Arial"/>
                <a:ea typeface="Arial"/>
                <a:cs typeface="Arial"/>
                <a:sym typeface="Arial"/>
              </a:rPr>
              <a:t>‹#›</a:t>
            </a:fld>
            <a:endParaRPr b="0" i="0" sz="1000" u="none" cap="none" strike="noStrike">
              <a:solidFill>
                <a:srgbClr val="595959"/>
              </a:solidFill>
              <a:latin typeface="Arial"/>
              <a:ea typeface="Arial"/>
              <a:cs typeface="Arial"/>
              <a:sym typeface="Arial"/>
            </a:endParaRPr>
          </a:p>
        </p:txBody>
      </p:sp>
      <p:grpSp>
        <p:nvGrpSpPr>
          <p:cNvPr id="279" name="Google Shape;279;p27"/>
          <p:cNvGrpSpPr/>
          <p:nvPr/>
        </p:nvGrpSpPr>
        <p:grpSpPr>
          <a:xfrm>
            <a:off x="50480" y="122879"/>
            <a:ext cx="277873" cy="68400"/>
            <a:chOff x="411700" y="2416840"/>
            <a:chExt cx="277873" cy="68400"/>
          </a:xfrm>
        </p:grpSpPr>
        <p:sp>
          <p:nvSpPr>
            <p:cNvPr id="280" name="Google Shape;280;p27"/>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p27"/>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27"/>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83" name="Google Shape;283;p27"/>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4F4F4F"/>
                </a:solidFill>
                <a:latin typeface="Lexend Light"/>
                <a:ea typeface="Lexend Light"/>
                <a:cs typeface="Lexend Light"/>
                <a:sym typeface="Lexend Light"/>
              </a:rPr>
              <a:t>Department of Computer Science and Engineering</a:t>
            </a:r>
            <a:endParaRPr b="1" i="0" sz="900" u="none" cap="none" strike="noStrike">
              <a:solidFill>
                <a:srgbClr val="4F4F4F"/>
              </a:solidFill>
              <a:latin typeface="Lexend"/>
              <a:ea typeface="Lexend"/>
              <a:cs typeface="Lexend"/>
              <a:sym typeface="Lexend"/>
            </a:endParaRPr>
          </a:p>
        </p:txBody>
      </p:sp>
      <p:sp>
        <p:nvSpPr>
          <p:cNvPr id="284" name="Google Shape;284;p27"/>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4F4F4F"/>
                </a:solidFill>
                <a:latin typeface="Lexend"/>
                <a:ea typeface="Lexend"/>
                <a:cs typeface="Lexend"/>
                <a:sym typeface="Lexend"/>
              </a:rPr>
              <a:t>CSE</a:t>
            </a:r>
            <a:r>
              <a:rPr b="1" lang="en" sz="900">
                <a:solidFill>
                  <a:srgbClr val="4F4F4F"/>
                </a:solidFill>
                <a:latin typeface="Lexend"/>
                <a:ea typeface="Lexend"/>
                <a:cs typeface="Lexend"/>
                <a:sym typeface="Lexend"/>
              </a:rPr>
              <a:t>420</a:t>
            </a:r>
            <a:r>
              <a:rPr b="1" i="0" lang="en" sz="900" u="none" cap="none" strike="noStrike">
                <a:solidFill>
                  <a:srgbClr val="4F4F4F"/>
                </a:solidFill>
                <a:latin typeface="Lexend"/>
                <a:ea typeface="Lexend"/>
                <a:cs typeface="Lexend"/>
                <a:sym typeface="Lexend"/>
              </a:rPr>
              <a:t> - </a:t>
            </a:r>
            <a:r>
              <a:rPr b="1" lang="en" sz="900">
                <a:solidFill>
                  <a:srgbClr val="4F4F4F"/>
                </a:solidFill>
                <a:latin typeface="Lexend"/>
                <a:ea typeface="Lexend"/>
                <a:cs typeface="Lexend"/>
                <a:sym typeface="Lexend"/>
              </a:rPr>
              <a:t>Compiler Design</a:t>
            </a:r>
            <a:endParaRPr b="0" i="0" sz="900" u="none" cap="none" strike="noStrike">
              <a:solidFill>
                <a:srgbClr val="4F4F4F"/>
              </a:solidFill>
              <a:latin typeface="Lexend"/>
              <a:ea typeface="Lexend"/>
              <a:cs typeface="Lexend"/>
              <a:sym typeface="Lexend"/>
            </a:endParaRPr>
          </a:p>
        </p:txBody>
      </p:sp>
      <p:sp>
        <p:nvSpPr>
          <p:cNvPr id="285" name="Google Shape;285;p27"/>
          <p:cNvSpPr txBox="1"/>
          <p:nvPr/>
        </p:nvSpPr>
        <p:spPr>
          <a:xfrm>
            <a:off x="0" y="102400"/>
            <a:ext cx="91440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latin typeface="Lexend Medium"/>
                <a:ea typeface="Lexend Medium"/>
                <a:cs typeface="Lexend Medium"/>
                <a:sym typeface="Lexend Medium"/>
              </a:rPr>
              <a:t>Public/Private/Package/Protected Visibility Control</a:t>
            </a:r>
            <a:endParaRPr sz="1800">
              <a:latin typeface="Lexend Medium"/>
              <a:ea typeface="Lexend Medium"/>
              <a:cs typeface="Lexend Medium"/>
              <a:sym typeface="Lexend Medium"/>
            </a:endParaRPr>
          </a:p>
        </p:txBody>
      </p:sp>
      <p:sp>
        <p:nvSpPr>
          <p:cNvPr id="286" name="Google Shape;286;p27"/>
          <p:cNvSpPr txBox="1"/>
          <p:nvPr/>
        </p:nvSpPr>
        <p:spPr>
          <a:xfrm>
            <a:off x="37575" y="580100"/>
            <a:ext cx="9030300" cy="418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rPr>
              <a:t>Class Member Functions:</a:t>
            </a:r>
            <a:endParaRPr b="1" sz="1800">
              <a:solidFill>
                <a:schemeClr val="dk1"/>
              </a:solidFill>
            </a:endParaRPr>
          </a:p>
          <a:p>
            <a:pPr indent="0" lvl="0" marL="0" rtl="0" algn="l">
              <a:spcBef>
                <a:spcPts val="0"/>
              </a:spcBef>
              <a:spcAft>
                <a:spcPts val="0"/>
              </a:spcAft>
              <a:buNone/>
            </a:pPr>
            <a:r>
              <a:rPr lang="en" sz="1800">
                <a:solidFill>
                  <a:schemeClr val="dk1"/>
                </a:solidFill>
              </a:rPr>
              <a:t>One central aspect of OOP languages is that their classes have member functions that define behaviors of the objects the class represents. For example, suppose we have a Student Class having a list holding the GPAs of a student in different semesters. We can have a computeCGPA method that will sum up the GPAs from the list and return an average as the CGPA of the student. The question is how this is achieved, when at the binary code level, the only type of functions we have are regular functions where</a:t>
            </a:r>
            <a:endParaRPr sz="1800">
              <a:solidFill>
                <a:schemeClr val="dk1"/>
              </a:solidFill>
            </a:endParaRPr>
          </a:p>
          <a:p>
            <a:pPr indent="0" lvl="0" marL="0" rtl="0" algn="l">
              <a:spcBef>
                <a:spcPts val="0"/>
              </a:spcBef>
              <a:spcAft>
                <a:spcPts val="0"/>
              </a:spcAft>
              <a:buNone/>
            </a:pPr>
            <a:r>
              <a:rPr lang="en" sz="1800">
                <a:solidFill>
                  <a:schemeClr val="dk1"/>
                </a:solidFill>
              </a:rPr>
              <a:t>code can simply jump to then eventually return form. There are couple of clever tricks working in here. We will check them one by one. First let us define the following class definition as the reference example for our discussion.</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287" name="Google Shape;287;p27"/>
          <p:cNvSpPr txBox="1"/>
          <p:nvPr/>
        </p:nvSpPr>
        <p:spPr>
          <a:xfrm>
            <a:off x="6754650" y="4755900"/>
            <a:ext cx="2337000" cy="38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rPr>
              <a:t>Prepared By: Sukarna Sarker</a:t>
            </a:r>
            <a:endParaRPr b="1" sz="12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pic>
        <p:nvPicPr>
          <p:cNvPr id="292" name="Google Shape;292;p28"/>
          <p:cNvPicPr preferRelativeResize="0"/>
          <p:nvPr/>
        </p:nvPicPr>
        <p:blipFill rotWithShape="1">
          <a:blip r:embed="rId3">
            <a:alphaModFix/>
          </a:blip>
          <a:srcRect b="0" l="0" r="0" t="0"/>
          <a:stretch/>
        </p:blipFill>
        <p:spPr>
          <a:xfrm>
            <a:off x="8507451" y="76200"/>
            <a:ext cx="560349" cy="514126"/>
          </a:xfrm>
          <a:prstGeom prst="rect">
            <a:avLst/>
          </a:prstGeom>
          <a:noFill/>
          <a:ln>
            <a:noFill/>
          </a:ln>
        </p:spPr>
      </p:pic>
      <p:sp>
        <p:nvSpPr>
          <p:cNvPr id="293" name="Google Shape;293;p28"/>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0" i="0" lang="en" sz="1000" u="none" cap="none" strike="noStrike">
                <a:solidFill>
                  <a:srgbClr val="595959"/>
                </a:solidFill>
                <a:latin typeface="Arial"/>
                <a:ea typeface="Arial"/>
                <a:cs typeface="Arial"/>
                <a:sym typeface="Arial"/>
              </a:rPr>
              <a:t>‹#›</a:t>
            </a:fld>
            <a:endParaRPr b="0" i="0" sz="1000" u="none" cap="none" strike="noStrike">
              <a:solidFill>
                <a:srgbClr val="595959"/>
              </a:solidFill>
              <a:latin typeface="Arial"/>
              <a:ea typeface="Arial"/>
              <a:cs typeface="Arial"/>
              <a:sym typeface="Arial"/>
            </a:endParaRPr>
          </a:p>
        </p:txBody>
      </p:sp>
      <p:grpSp>
        <p:nvGrpSpPr>
          <p:cNvPr id="294" name="Google Shape;294;p28"/>
          <p:cNvGrpSpPr/>
          <p:nvPr/>
        </p:nvGrpSpPr>
        <p:grpSpPr>
          <a:xfrm>
            <a:off x="50480" y="122879"/>
            <a:ext cx="277873" cy="68400"/>
            <a:chOff x="411700" y="2416840"/>
            <a:chExt cx="277873" cy="68400"/>
          </a:xfrm>
        </p:grpSpPr>
        <p:sp>
          <p:nvSpPr>
            <p:cNvPr id="295" name="Google Shape;295;p28"/>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28"/>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 name="Google Shape;297;p28"/>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98" name="Google Shape;298;p28"/>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4F4F4F"/>
                </a:solidFill>
                <a:latin typeface="Lexend Light"/>
                <a:ea typeface="Lexend Light"/>
                <a:cs typeface="Lexend Light"/>
                <a:sym typeface="Lexend Light"/>
              </a:rPr>
              <a:t>Department of Computer Science and Engineering</a:t>
            </a:r>
            <a:endParaRPr b="1" i="0" sz="900" u="none" cap="none" strike="noStrike">
              <a:solidFill>
                <a:srgbClr val="4F4F4F"/>
              </a:solidFill>
              <a:latin typeface="Lexend"/>
              <a:ea typeface="Lexend"/>
              <a:cs typeface="Lexend"/>
              <a:sym typeface="Lexend"/>
            </a:endParaRPr>
          </a:p>
        </p:txBody>
      </p:sp>
      <p:sp>
        <p:nvSpPr>
          <p:cNvPr id="299" name="Google Shape;299;p28"/>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4F4F4F"/>
                </a:solidFill>
                <a:latin typeface="Lexend"/>
                <a:ea typeface="Lexend"/>
                <a:cs typeface="Lexend"/>
                <a:sym typeface="Lexend"/>
              </a:rPr>
              <a:t>CSE</a:t>
            </a:r>
            <a:r>
              <a:rPr b="1" lang="en" sz="900">
                <a:solidFill>
                  <a:srgbClr val="4F4F4F"/>
                </a:solidFill>
                <a:latin typeface="Lexend"/>
                <a:ea typeface="Lexend"/>
                <a:cs typeface="Lexend"/>
                <a:sym typeface="Lexend"/>
              </a:rPr>
              <a:t>420</a:t>
            </a:r>
            <a:r>
              <a:rPr b="1" i="0" lang="en" sz="900" u="none" cap="none" strike="noStrike">
                <a:solidFill>
                  <a:srgbClr val="4F4F4F"/>
                </a:solidFill>
                <a:latin typeface="Lexend"/>
                <a:ea typeface="Lexend"/>
                <a:cs typeface="Lexend"/>
                <a:sym typeface="Lexend"/>
              </a:rPr>
              <a:t> - </a:t>
            </a:r>
            <a:r>
              <a:rPr b="1" lang="en" sz="900">
                <a:solidFill>
                  <a:srgbClr val="4F4F4F"/>
                </a:solidFill>
                <a:latin typeface="Lexend"/>
                <a:ea typeface="Lexend"/>
                <a:cs typeface="Lexend"/>
                <a:sym typeface="Lexend"/>
              </a:rPr>
              <a:t>Compiler Design</a:t>
            </a:r>
            <a:endParaRPr b="0" i="0" sz="900" u="none" cap="none" strike="noStrike">
              <a:solidFill>
                <a:srgbClr val="4F4F4F"/>
              </a:solidFill>
              <a:latin typeface="Lexend"/>
              <a:ea typeface="Lexend"/>
              <a:cs typeface="Lexend"/>
              <a:sym typeface="Lexend"/>
            </a:endParaRPr>
          </a:p>
        </p:txBody>
      </p:sp>
      <p:sp>
        <p:nvSpPr>
          <p:cNvPr id="300" name="Google Shape;300;p28"/>
          <p:cNvSpPr txBox="1"/>
          <p:nvPr/>
        </p:nvSpPr>
        <p:spPr>
          <a:xfrm>
            <a:off x="0" y="102400"/>
            <a:ext cx="91440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latin typeface="Lexend Medium"/>
                <a:ea typeface="Lexend Medium"/>
                <a:cs typeface="Lexend Medium"/>
                <a:sym typeface="Lexend Medium"/>
              </a:rPr>
              <a:t>Public/Private/Package/Protected Visibility Control</a:t>
            </a:r>
            <a:endParaRPr sz="1800">
              <a:latin typeface="Lexend Medium"/>
              <a:ea typeface="Lexend Medium"/>
              <a:cs typeface="Lexend Medium"/>
              <a:sym typeface="Lexend Medium"/>
            </a:endParaRPr>
          </a:p>
        </p:txBody>
      </p:sp>
      <p:sp>
        <p:nvSpPr>
          <p:cNvPr id="301" name="Google Shape;301;p28"/>
          <p:cNvSpPr txBox="1"/>
          <p:nvPr/>
        </p:nvSpPr>
        <p:spPr>
          <a:xfrm>
            <a:off x="50475" y="564100"/>
            <a:ext cx="4736700" cy="38142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public Class Student { </a:t>
            </a:r>
            <a:endParaRPr>
              <a:solidFill>
                <a:schemeClr val="dk1"/>
              </a:solidFill>
            </a:endParaRPr>
          </a:p>
          <a:p>
            <a:pPr indent="457200" lvl="0" marL="0" rtl="0" algn="l">
              <a:spcBef>
                <a:spcPts val="0"/>
              </a:spcBef>
              <a:spcAft>
                <a:spcPts val="0"/>
              </a:spcAft>
              <a:buNone/>
            </a:pPr>
            <a:r>
              <a:rPr lang="en">
                <a:solidFill>
                  <a:schemeClr val="dk1"/>
                </a:solidFill>
              </a:rPr>
              <a:t>private int id; </a:t>
            </a:r>
            <a:endParaRPr>
              <a:solidFill>
                <a:schemeClr val="dk1"/>
              </a:solidFill>
            </a:endParaRPr>
          </a:p>
          <a:p>
            <a:pPr indent="457200" lvl="0" marL="0" rtl="0" algn="l">
              <a:spcBef>
                <a:spcPts val="0"/>
              </a:spcBef>
              <a:spcAft>
                <a:spcPts val="0"/>
              </a:spcAft>
              <a:buNone/>
            </a:pPr>
            <a:r>
              <a:rPr lang="en">
                <a:solidFill>
                  <a:schemeClr val="dk1"/>
                </a:solidFill>
              </a:rPr>
              <a:t>private </a:t>
            </a:r>
            <a:r>
              <a:rPr lang="en">
                <a:solidFill>
                  <a:schemeClr val="dk1"/>
                </a:solidFill>
              </a:rPr>
              <a:t>S</a:t>
            </a:r>
            <a:r>
              <a:rPr lang="en">
                <a:solidFill>
                  <a:schemeClr val="dk1"/>
                </a:solidFill>
              </a:rPr>
              <a:t>tring name; </a:t>
            </a:r>
            <a:endParaRPr>
              <a:solidFill>
                <a:schemeClr val="dk1"/>
              </a:solidFill>
            </a:endParaRPr>
          </a:p>
          <a:p>
            <a:pPr indent="457200" lvl="0" marL="0" rtl="0" algn="l">
              <a:spcBef>
                <a:spcPts val="0"/>
              </a:spcBef>
              <a:spcAft>
                <a:spcPts val="0"/>
              </a:spcAft>
              <a:buNone/>
            </a:pPr>
            <a:r>
              <a:rPr lang="en">
                <a:solidFill>
                  <a:schemeClr val="dk1"/>
                </a:solidFill>
              </a:rPr>
              <a:t>private List semesterGPA; </a:t>
            </a:r>
            <a:endParaRPr>
              <a:solidFill>
                <a:schemeClr val="dk1"/>
              </a:solidFill>
            </a:endParaRPr>
          </a:p>
          <a:p>
            <a:pPr indent="457200" lvl="0" marL="0" rtl="0" algn="l">
              <a:spcBef>
                <a:spcPts val="0"/>
              </a:spcBef>
              <a:spcAft>
                <a:spcPts val="0"/>
              </a:spcAft>
              <a:buNone/>
            </a:pPr>
            <a:r>
              <a:rPr lang="en">
                <a:solidFill>
                  <a:schemeClr val="dk1"/>
                </a:solidFill>
              </a:rPr>
              <a:t>public Boolean isinProbation(float thresholdCGPA) { </a:t>
            </a:r>
            <a:endParaRPr>
              <a:solidFill>
                <a:schemeClr val="dk1"/>
              </a:solidFill>
            </a:endParaRPr>
          </a:p>
          <a:p>
            <a:pPr indent="457200" lvl="0" marL="457200" rtl="0" algn="l">
              <a:spcBef>
                <a:spcPts val="0"/>
              </a:spcBef>
              <a:spcAft>
                <a:spcPts val="0"/>
              </a:spcAft>
              <a:buNone/>
            </a:pPr>
            <a:r>
              <a:rPr lang="en">
                <a:solidFill>
                  <a:schemeClr val="dk1"/>
                </a:solidFill>
              </a:rPr>
              <a:t>float gpaSum = 0.0; </a:t>
            </a:r>
            <a:endParaRPr>
              <a:solidFill>
                <a:schemeClr val="dk1"/>
              </a:solidFill>
            </a:endParaRPr>
          </a:p>
          <a:p>
            <a:pPr indent="457200" lvl="0" marL="457200" rtl="0" algn="l">
              <a:spcBef>
                <a:spcPts val="0"/>
              </a:spcBef>
              <a:spcAft>
                <a:spcPts val="0"/>
              </a:spcAft>
              <a:buNone/>
            </a:pPr>
            <a:r>
              <a:rPr lang="en">
                <a:solidFill>
                  <a:schemeClr val="dk1"/>
                </a:solidFill>
              </a:rPr>
              <a:t>foreach (semGPA in semesterGPA) { </a:t>
            </a:r>
            <a:endParaRPr>
              <a:solidFill>
                <a:schemeClr val="dk1"/>
              </a:solidFill>
            </a:endParaRPr>
          </a:p>
          <a:p>
            <a:pPr indent="457200" lvl="0" marL="914400" rtl="0" algn="l">
              <a:spcBef>
                <a:spcPts val="0"/>
              </a:spcBef>
              <a:spcAft>
                <a:spcPts val="0"/>
              </a:spcAft>
              <a:buNone/>
            </a:pPr>
            <a:r>
              <a:rPr lang="en">
                <a:solidFill>
                  <a:schemeClr val="dk1"/>
                </a:solidFill>
              </a:rPr>
              <a:t>gpaSum += semGPA; </a:t>
            </a:r>
            <a:endParaRPr>
              <a:solidFill>
                <a:schemeClr val="dk1"/>
              </a:solidFill>
            </a:endParaRPr>
          </a:p>
          <a:p>
            <a:pPr indent="457200" lvl="0" marL="914400" rtl="0" algn="l">
              <a:spcBef>
                <a:spcPts val="0"/>
              </a:spcBef>
              <a:spcAft>
                <a:spcPts val="0"/>
              </a:spcAft>
              <a:buNone/>
            </a:pPr>
            <a:r>
              <a:rPr lang="en">
                <a:solidFill>
                  <a:schemeClr val="dk1"/>
                </a:solidFill>
              </a:rPr>
              <a:t>} </a:t>
            </a:r>
            <a:endParaRPr>
              <a:solidFill>
                <a:schemeClr val="dk1"/>
              </a:solidFill>
            </a:endParaRPr>
          </a:p>
          <a:p>
            <a:pPr indent="0" lvl="0" marL="914400" rtl="0" algn="l">
              <a:spcBef>
                <a:spcPts val="0"/>
              </a:spcBef>
              <a:spcAft>
                <a:spcPts val="0"/>
              </a:spcAft>
              <a:buNone/>
            </a:pPr>
            <a:r>
              <a:rPr lang="en">
                <a:solidFill>
                  <a:schemeClr val="dk1"/>
                </a:solidFill>
              </a:rPr>
              <a:t>float </a:t>
            </a:r>
            <a:r>
              <a:rPr lang="en">
                <a:solidFill>
                  <a:schemeClr val="dk1"/>
                </a:solidFill>
              </a:rPr>
              <a:t>cgpa</a:t>
            </a:r>
            <a:r>
              <a:rPr lang="en">
                <a:solidFill>
                  <a:schemeClr val="dk1"/>
                </a:solidFill>
              </a:rPr>
              <a:t> = gpaSum / semesterGPA.length(); </a:t>
            </a:r>
            <a:endParaRPr>
              <a:solidFill>
                <a:schemeClr val="dk1"/>
              </a:solidFill>
            </a:endParaRPr>
          </a:p>
          <a:p>
            <a:pPr indent="0" lvl="0" marL="914400" rtl="0" algn="l">
              <a:spcBef>
                <a:spcPts val="0"/>
              </a:spcBef>
              <a:spcAft>
                <a:spcPts val="0"/>
              </a:spcAft>
              <a:buNone/>
            </a:pPr>
            <a:r>
              <a:rPr lang="en">
                <a:solidFill>
                  <a:schemeClr val="dk1"/>
                </a:solidFill>
              </a:rPr>
              <a:t>if (cgpa &gt; thresholdCGPA) { </a:t>
            </a:r>
            <a:endParaRPr>
              <a:solidFill>
                <a:schemeClr val="dk1"/>
              </a:solidFill>
            </a:endParaRPr>
          </a:p>
          <a:p>
            <a:pPr indent="457200" lvl="0" marL="914400" rtl="0" algn="l">
              <a:spcBef>
                <a:spcPts val="0"/>
              </a:spcBef>
              <a:spcAft>
                <a:spcPts val="0"/>
              </a:spcAft>
              <a:buNone/>
            </a:pPr>
            <a:r>
              <a:rPr lang="en">
                <a:solidFill>
                  <a:schemeClr val="dk1"/>
                </a:solidFill>
              </a:rPr>
              <a:t>return false;</a:t>
            </a:r>
            <a:endParaRPr>
              <a:solidFill>
                <a:schemeClr val="dk1"/>
              </a:solidFill>
            </a:endParaRPr>
          </a:p>
          <a:p>
            <a:pPr indent="457200" lvl="0" marL="914400" rtl="0" algn="l">
              <a:spcBef>
                <a:spcPts val="0"/>
              </a:spcBef>
              <a:spcAft>
                <a:spcPts val="0"/>
              </a:spcAft>
              <a:buNone/>
            </a:pPr>
            <a:r>
              <a:rPr lang="en">
                <a:solidFill>
                  <a:schemeClr val="dk1"/>
                </a:solidFill>
              </a:rPr>
              <a:t>}</a:t>
            </a:r>
            <a:endParaRPr>
              <a:solidFill>
                <a:schemeClr val="dk1"/>
              </a:solidFill>
            </a:endParaRPr>
          </a:p>
          <a:p>
            <a:pPr indent="0" lvl="0" marL="914400" rtl="0" algn="l">
              <a:spcBef>
                <a:spcPts val="0"/>
              </a:spcBef>
              <a:spcAft>
                <a:spcPts val="0"/>
              </a:spcAft>
              <a:buNone/>
            </a:pPr>
            <a:r>
              <a:rPr lang="en">
                <a:solidFill>
                  <a:schemeClr val="dk1"/>
                </a:solidFill>
              </a:rPr>
              <a:t>return true;</a:t>
            </a:r>
            <a:endParaRPr>
              <a:solidFill>
                <a:schemeClr val="dk1"/>
              </a:solidFill>
            </a:endParaRPr>
          </a:p>
          <a:p>
            <a:pPr indent="457200" lvl="0" marL="0" rtl="0" algn="l">
              <a:spcBef>
                <a:spcPts val="0"/>
              </a:spcBef>
              <a:spcAft>
                <a:spcPts val="0"/>
              </a:spcAft>
              <a:buNone/>
            </a:pPr>
            <a:r>
              <a:rPr lang="en">
                <a:solidFill>
                  <a:schemeClr val="dk1"/>
                </a:solidFill>
              </a:rPr>
              <a:t>}</a:t>
            </a:r>
            <a:endParaRPr>
              <a:solidFill>
                <a:schemeClr val="dk1"/>
              </a:solidFill>
            </a:endParaRPr>
          </a:p>
          <a:p>
            <a:pPr indent="0" lvl="0" marL="0" rtl="0" algn="l">
              <a:spcBef>
                <a:spcPts val="0"/>
              </a:spcBef>
              <a:spcAft>
                <a:spcPts val="0"/>
              </a:spcAft>
              <a:buNone/>
            </a:pPr>
            <a:r>
              <a:rPr lang="en">
                <a:solidFill>
                  <a:schemeClr val="dk1"/>
                </a:solidFill>
              </a:rPr>
              <a:t>}</a:t>
            </a:r>
            <a:endParaRPr>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302" name="Google Shape;302;p28"/>
          <p:cNvSpPr txBox="1"/>
          <p:nvPr/>
        </p:nvSpPr>
        <p:spPr>
          <a:xfrm>
            <a:off x="4852275" y="564100"/>
            <a:ext cx="4063200" cy="381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By now we know that public/private etc. modifiers are ignored after semantic validation and there is a symbol table associated with each class holding information about its fields (aka. properties). So let us focus on the ‘isinProbation’ method only. During the semantic analysis of the method, the compiler would generate a symbol table for the method scope also and will determine the scope of the various variables used in it. From that, it would know that:</a:t>
            </a:r>
            <a:endParaRPr>
              <a:solidFill>
                <a:schemeClr val="dk1"/>
              </a:solidFill>
            </a:endParaRPr>
          </a:p>
          <a:p>
            <a:pPr indent="-317500" lvl="0" marL="457200" rtl="0" algn="l">
              <a:spcBef>
                <a:spcPts val="0"/>
              </a:spcBef>
              <a:spcAft>
                <a:spcPts val="0"/>
              </a:spcAft>
              <a:buClr>
                <a:schemeClr val="dk1"/>
              </a:buClr>
              <a:buSzPts val="1400"/>
              <a:buAutoNum type="arabicPeriod"/>
            </a:pPr>
            <a:r>
              <a:rPr lang="en">
                <a:solidFill>
                  <a:schemeClr val="dk1"/>
                </a:solidFill>
              </a:rPr>
              <a:t>thresholdCGPA is in the function parameter scope.</a:t>
            </a:r>
            <a:endParaRPr>
              <a:solidFill>
                <a:schemeClr val="dk1"/>
              </a:solidFill>
            </a:endParaRPr>
          </a:p>
          <a:p>
            <a:pPr indent="-317500" lvl="0" marL="457200" rtl="0" algn="l">
              <a:spcBef>
                <a:spcPts val="0"/>
              </a:spcBef>
              <a:spcAft>
                <a:spcPts val="0"/>
              </a:spcAft>
              <a:buClr>
                <a:schemeClr val="dk1"/>
              </a:buClr>
              <a:buSzPts val="1400"/>
              <a:buAutoNum type="arabicPeriod"/>
            </a:pPr>
            <a:r>
              <a:rPr lang="en">
                <a:solidFill>
                  <a:schemeClr val="dk1"/>
                </a:solidFill>
              </a:rPr>
              <a:t>gpaSum, semGPA, and cgpa variables are in the function body, that is, local scope.</a:t>
            </a:r>
            <a:endParaRPr>
              <a:solidFill>
                <a:schemeClr val="dk1"/>
              </a:solidFill>
            </a:endParaRPr>
          </a:p>
          <a:p>
            <a:pPr indent="-317500" lvl="0" marL="457200" rtl="0" algn="l">
              <a:spcBef>
                <a:spcPts val="0"/>
              </a:spcBef>
              <a:spcAft>
                <a:spcPts val="0"/>
              </a:spcAft>
              <a:buClr>
                <a:schemeClr val="dk1"/>
              </a:buClr>
              <a:buSzPts val="1400"/>
              <a:buAutoNum type="arabicPeriod"/>
            </a:pPr>
            <a:r>
              <a:rPr lang="en">
                <a:solidFill>
                  <a:schemeClr val="dk1"/>
                </a:solidFill>
              </a:rPr>
              <a:t>semesterCGPAs is in the class scope.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sp>
        <p:nvSpPr>
          <p:cNvPr id="303" name="Google Shape;303;p28"/>
          <p:cNvSpPr txBox="1"/>
          <p:nvPr/>
        </p:nvSpPr>
        <p:spPr>
          <a:xfrm>
            <a:off x="6754650" y="4755900"/>
            <a:ext cx="2337000" cy="38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rPr>
              <a:t>Prepared By: Sukarna Sarker</a:t>
            </a:r>
            <a:endParaRPr b="1" sz="120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pic>
        <p:nvPicPr>
          <p:cNvPr id="308" name="Google Shape;308;p29"/>
          <p:cNvPicPr preferRelativeResize="0"/>
          <p:nvPr/>
        </p:nvPicPr>
        <p:blipFill rotWithShape="1">
          <a:blip r:embed="rId3">
            <a:alphaModFix/>
          </a:blip>
          <a:srcRect b="0" l="0" r="0" t="0"/>
          <a:stretch/>
        </p:blipFill>
        <p:spPr>
          <a:xfrm>
            <a:off x="8507451" y="76200"/>
            <a:ext cx="560349" cy="514126"/>
          </a:xfrm>
          <a:prstGeom prst="rect">
            <a:avLst/>
          </a:prstGeom>
          <a:noFill/>
          <a:ln>
            <a:noFill/>
          </a:ln>
        </p:spPr>
      </p:pic>
      <p:sp>
        <p:nvSpPr>
          <p:cNvPr id="309" name="Google Shape;309;p29"/>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0" i="0" lang="en" sz="1000" u="none" cap="none" strike="noStrike">
                <a:solidFill>
                  <a:srgbClr val="595959"/>
                </a:solidFill>
                <a:latin typeface="Arial"/>
                <a:ea typeface="Arial"/>
                <a:cs typeface="Arial"/>
                <a:sym typeface="Arial"/>
              </a:rPr>
              <a:t>‹#›</a:t>
            </a:fld>
            <a:endParaRPr b="0" i="0" sz="1000" u="none" cap="none" strike="noStrike">
              <a:solidFill>
                <a:srgbClr val="595959"/>
              </a:solidFill>
              <a:latin typeface="Arial"/>
              <a:ea typeface="Arial"/>
              <a:cs typeface="Arial"/>
              <a:sym typeface="Arial"/>
            </a:endParaRPr>
          </a:p>
        </p:txBody>
      </p:sp>
      <p:grpSp>
        <p:nvGrpSpPr>
          <p:cNvPr id="310" name="Google Shape;310;p29"/>
          <p:cNvGrpSpPr/>
          <p:nvPr/>
        </p:nvGrpSpPr>
        <p:grpSpPr>
          <a:xfrm>
            <a:off x="50480" y="122879"/>
            <a:ext cx="277873" cy="68400"/>
            <a:chOff x="411700" y="2416840"/>
            <a:chExt cx="277873" cy="68400"/>
          </a:xfrm>
        </p:grpSpPr>
        <p:sp>
          <p:nvSpPr>
            <p:cNvPr id="311" name="Google Shape;311;p29"/>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p29"/>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p29"/>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14" name="Google Shape;314;p29"/>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4F4F4F"/>
                </a:solidFill>
                <a:latin typeface="Lexend Light"/>
                <a:ea typeface="Lexend Light"/>
                <a:cs typeface="Lexend Light"/>
                <a:sym typeface="Lexend Light"/>
              </a:rPr>
              <a:t>Department of Computer Science and Engineering</a:t>
            </a:r>
            <a:endParaRPr b="1" i="0" sz="900" u="none" cap="none" strike="noStrike">
              <a:solidFill>
                <a:srgbClr val="4F4F4F"/>
              </a:solidFill>
              <a:latin typeface="Lexend"/>
              <a:ea typeface="Lexend"/>
              <a:cs typeface="Lexend"/>
              <a:sym typeface="Lexend"/>
            </a:endParaRPr>
          </a:p>
        </p:txBody>
      </p:sp>
      <p:sp>
        <p:nvSpPr>
          <p:cNvPr id="315" name="Google Shape;315;p29"/>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4F4F4F"/>
                </a:solidFill>
                <a:latin typeface="Lexend"/>
                <a:ea typeface="Lexend"/>
                <a:cs typeface="Lexend"/>
                <a:sym typeface="Lexend"/>
              </a:rPr>
              <a:t>CSE</a:t>
            </a:r>
            <a:r>
              <a:rPr b="1" lang="en" sz="900">
                <a:solidFill>
                  <a:srgbClr val="4F4F4F"/>
                </a:solidFill>
                <a:latin typeface="Lexend"/>
                <a:ea typeface="Lexend"/>
                <a:cs typeface="Lexend"/>
                <a:sym typeface="Lexend"/>
              </a:rPr>
              <a:t>420</a:t>
            </a:r>
            <a:r>
              <a:rPr b="1" i="0" lang="en" sz="900" u="none" cap="none" strike="noStrike">
                <a:solidFill>
                  <a:srgbClr val="4F4F4F"/>
                </a:solidFill>
                <a:latin typeface="Lexend"/>
                <a:ea typeface="Lexend"/>
                <a:cs typeface="Lexend"/>
                <a:sym typeface="Lexend"/>
              </a:rPr>
              <a:t> - </a:t>
            </a:r>
            <a:r>
              <a:rPr b="1" lang="en" sz="900">
                <a:solidFill>
                  <a:srgbClr val="4F4F4F"/>
                </a:solidFill>
                <a:latin typeface="Lexend"/>
                <a:ea typeface="Lexend"/>
                <a:cs typeface="Lexend"/>
                <a:sym typeface="Lexend"/>
              </a:rPr>
              <a:t>Compiler Design</a:t>
            </a:r>
            <a:endParaRPr b="0" i="0" sz="900" u="none" cap="none" strike="noStrike">
              <a:solidFill>
                <a:srgbClr val="4F4F4F"/>
              </a:solidFill>
              <a:latin typeface="Lexend"/>
              <a:ea typeface="Lexend"/>
              <a:cs typeface="Lexend"/>
              <a:sym typeface="Lexend"/>
            </a:endParaRPr>
          </a:p>
        </p:txBody>
      </p:sp>
      <p:sp>
        <p:nvSpPr>
          <p:cNvPr id="316" name="Google Shape;316;p29"/>
          <p:cNvSpPr txBox="1"/>
          <p:nvPr/>
        </p:nvSpPr>
        <p:spPr>
          <a:xfrm>
            <a:off x="0" y="102400"/>
            <a:ext cx="91440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latin typeface="Lexend Medium"/>
                <a:ea typeface="Lexend Medium"/>
                <a:cs typeface="Lexend Medium"/>
                <a:sym typeface="Lexend Medium"/>
              </a:rPr>
              <a:t>Public/Private/Package/Protected Visibility Control</a:t>
            </a:r>
            <a:endParaRPr sz="1800">
              <a:latin typeface="Lexend Medium"/>
              <a:ea typeface="Lexend Medium"/>
              <a:cs typeface="Lexend Medium"/>
              <a:sym typeface="Lexend Medium"/>
            </a:endParaRPr>
          </a:p>
        </p:txBody>
      </p:sp>
      <p:sp>
        <p:nvSpPr>
          <p:cNvPr id="317" name="Google Shape;317;p29"/>
          <p:cNvSpPr txBox="1"/>
          <p:nvPr/>
        </p:nvSpPr>
        <p:spPr>
          <a:xfrm>
            <a:off x="50475" y="452000"/>
            <a:ext cx="8882400" cy="64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After this analysis, the compiler will replace the class method with a generic global function as we find structural programming languages as follows: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sp>
        <p:nvSpPr>
          <p:cNvPr id="318" name="Google Shape;318;p29"/>
          <p:cNvSpPr txBox="1"/>
          <p:nvPr/>
        </p:nvSpPr>
        <p:spPr>
          <a:xfrm>
            <a:off x="3730800" y="1097000"/>
            <a:ext cx="5413200" cy="24777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public Boolean isinProbation(Student </a:t>
            </a:r>
            <a:r>
              <a:rPr lang="en">
                <a:solidFill>
                  <a:srgbClr val="0000FF"/>
                </a:solidFill>
              </a:rPr>
              <a:t>this</a:t>
            </a:r>
            <a:r>
              <a:rPr lang="en">
                <a:solidFill>
                  <a:schemeClr val="dk1"/>
                </a:solidFill>
              </a:rPr>
              <a:t>, float thresholdCGPA) { </a:t>
            </a:r>
            <a:endParaRPr>
              <a:solidFill>
                <a:schemeClr val="dk1"/>
              </a:solidFill>
            </a:endParaRPr>
          </a:p>
          <a:p>
            <a:pPr indent="457200" lvl="0" marL="0" rtl="0" algn="l">
              <a:spcBef>
                <a:spcPts val="0"/>
              </a:spcBef>
              <a:spcAft>
                <a:spcPts val="0"/>
              </a:spcAft>
              <a:buNone/>
            </a:pPr>
            <a:r>
              <a:rPr lang="en">
                <a:solidFill>
                  <a:schemeClr val="dk1"/>
                </a:solidFill>
              </a:rPr>
              <a:t>float gpaSum = 0.0; </a:t>
            </a:r>
            <a:endParaRPr>
              <a:solidFill>
                <a:schemeClr val="dk1"/>
              </a:solidFill>
            </a:endParaRPr>
          </a:p>
          <a:p>
            <a:pPr indent="0" lvl="0" marL="457200" rtl="0" algn="l">
              <a:spcBef>
                <a:spcPts val="0"/>
              </a:spcBef>
              <a:spcAft>
                <a:spcPts val="0"/>
              </a:spcAft>
              <a:buNone/>
            </a:pPr>
            <a:r>
              <a:rPr lang="en">
                <a:solidFill>
                  <a:schemeClr val="dk1"/>
                </a:solidFill>
              </a:rPr>
              <a:t>foreach (semGPA in </a:t>
            </a:r>
            <a:r>
              <a:rPr lang="en">
                <a:solidFill>
                  <a:srgbClr val="0000FF"/>
                </a:solidFill>
              </a:rPr>
              <a:t>this</a:t>
            </a:r>
            <a:r>
              <a:rPr lang="en">
                <a:solidFill>
                  <a:schemeClr val="dk1"/>
                </a:solidFill>
              </a:rPr>
              <a:t>.semesterGPA) {    </a:t>
            </a:r>
            <a:endParaRPr>
              <a:solidFill>
                <a:schemeClr val="dk1"/>
              </a:solidFill>
            </a:endParaRPr>
          </a:p>
          <a:p>
            <a:pPr indent="457200" lvl="0" marL="457200" rtl="0" algn="l">
              <a:spcBef>
                <a:spcPts val="0"/>
              </a:spcBef>
              <a:spcAft>
                <a:spcPts val="0"/>
              </a:spcAft>
              <a:buNone/>
            </a:pPr>
            <a:r>
              <a:rPr lang="en">
                <a:solidFill>
                  <a:schemeClr val="dk1"/>
                </a:solidFill>
              </a:rPr>
              <a:t>gpaSum += semGPA; </a:t>
            </a:r>
            <a:endParaRPr>
              <a:solidFill>
                <a:schemeClr val="dk1"/>
              </a:solidFill>
            </a:endParaRPr>
          </a:p>
          <a:p>
            <a:pPr indent="0" lvl="0" marL="457200" rtl="0" algn="l">
              <a:spcBef>
                <a:spcPts val="0"/>
              </a:spcBef>
              <a:spcAft>
                <a:spcPts val="0"/>
              </a:spcAft>
              <a:buNone/>
            </a:pPr>
            <a:r>
              <a:rPr lang="en">
                <a:solidFill>
                  <a:schemeClr val="dk1"/>
                </a:solidFill>
              </a:rPr>
              <a:t>     } </a:t>
            </a:r>
            <a:endParaRPr>
              <a:solidFill>
                <a:schemeClr val="dk1"/>
              </a:solidFill>
            </a:endParaRPr>
          </a:p>
          <a:p>
            <a:pPr indent="0" lvl="0" marL="457200" rtl="0" algn="l">
              <a:spcBef>
                <a:spcPts val="0"/>
              </a:spcBef>
              <a:spcAft>
                <a:spcPts val="0"/>
              </a:spcAft>
              <a:buNone/>
            </a:pPr>
            <a:r>
              <a:rPr lang="en">
                <a:solidFill>
                  <a:schemeClr val="dk1"/>
                </a:solidFill>
              </a:rPr>
              <a:t>float cgpa = gpaSum / semesterGPA.length(); </a:t>
            </a:r>
            <a:endParaRPr>
              <a:solidFill>
                <a:schemeClr val="dk1"/>
              </a:solidFill>
            </a:endParaRPr>
          </a:p>
          <a:p>
            <a:pPr indent="0" lvl="0" marL="457200" rtl="0" algn="l">
              <a:spcBef>
                <a:spcPts val="0"/>
              </a:spcBef>
              <a:spcAft>
                <a:spcPts val="0"/>
              </a:spcAft>
              <a:buNone/>
            </a:pPr>
            <a:r>
              <a:rPr lang="en">
                <a:solidFill>
                  <a:schemeClr val="dk1"/>
                </a:solidFill>
              </a:rPr>
              <a:t>if (cgpa &gt; thresholdCGPA) { </a:t>
            </a:r>
            <a:endParaRPr>
              <a:solidFill>
                <a:schemeClr val="dk1"/>
              </a:solidFill>
            </a:endParaRPr>
          </a:p>
          <a:p>
            <a:pPr indent="457200" lvl="0" marL="457200" rtl="0" algn="l">
              <a:spcBef>
                <a:spcPts val="0"/>
              </a:spcBef>
              <a:spcAft>
                <a:spcPts val="0"/>
              </a:spcAft>
              <a:buNone/>
            </a:pPr>
            <a:r>
              <a:rPr lang="en">
                <a:solidFill>
                  <a:schemeClr val="dk1"/>
                </a:solidFill>
              </a:rPr>
              <a:t>return false; </a:t>
            </a:r>
            <a:endParaRPr>
              <a:solidFill>
                <a:schemeClr val="dk1"/>
              </a:solidFill>
            </a:endParaRPr>
          </a:p>
          <a:p>
            <a:pPr indent="0" lvl="0" marL="457200" rtl="0" algn="l">
              <a:spcBef>
                <a:spcPts val="0"/>
              </a:spcBef>
              <a:spcAft>
                <a:spcPts val="0"/>
              </a:spcAft>
              <a:buNone/>
            </a:pPr>
            <a:r>
              <a:rPr lang="en">
                <a:solidFill>
                  <a:schemeClr val="dk1"/>
                </a:solidFill>
              </a:rPr>
              <a:t>     } </a:t>
            </a:r>
            <a:endParaRPr>
              <a:solidFill>
                <a:schemeClr val="dk1"/>
              </a:solidFill>
            </a:endParaRPr>
          </a:p>
          <a:p>
            <a:pPr indent="0" lvl="0" marL="457200" rtl="0" algn="l">
              <a:spcBef>
                <a:spcPts val="0"/>
              </a:spcBef>
              <a:spcAft>
                <a:spcPts val="0"/>
              </a:spcAft>
              <a:buNone/>
            </a:pPr>
            <a:r>
              <a:rPr lang="en">
                <a:solidFill>
                  <a:schemeClr val="dk1"/>
                </a:solidFill>
              </a:rPr>
              <a:t>return true; </a:t>
            </a:r>
            <a:endParaRPr>
              <a:solidFill>
                <a:schemeClr val="dk1"/>
              </a:solidFill>
            </a:endParaRPr>
          </a:p>
          <a:p>
            <a:pPr indent="0" lvl="0" marL="0" rtl="0" algn="l">
              <a:spcBef>
                <a:spcPts val="0"/>
              </a:spcBef>
              <a:spcAft>
                <a:spcPts val="0"/>
              </a:spcAft>
              <a:buNone/>
            </a:pPr>
            <a:r>
              <a:rPr lang="en">
                <a:solidFill>
                  <a:schemeClr val="dk1"/>
                </a:solidFill>
              </a:rPr>
              <a:t>}</a:t>
            </a:r>
            <a:endParaRPr>
              <a:solidFill>
                <a:schemeClr val="dk1"/>
              </a:solidFill>
            </a:endParaRPr>
          </a:p>
        </p:txBody>
      </p:sp>
      <p:pic>
        <p:nvPicPr>
          <p:cNvPr id="319" name="Google Shape;319;p29" title="Screenshot 2025-09-06 162124.png"/>
          <p:cNvPicPr preferRelativeResize="0"/>
          <p:nvPr/>
        </p:nvPicPr>
        <p:blipFill>
          <a:blip r:embed="rId4">
            <a:alphaModFix/>
          </a:blip>
          <a:stretch>
            <a:fillRect/>
          </a:stretch>
        </p:blipFill>
        <p:spPr>
          <a:xfrm>
            <a:off x="490804" y="1097125"/>
            <a:ext cx="3069971" cy="2477700"/>
          </a:xfrm>
          <a:prstGeom prst="rect">
            <a:avLst/>
          </a:prstGeom>
          <a:noFill/>
          <a:ln>
            <a:noFill/>
          </a:ln>
        </p:spPr>
      </p:pic>
      <p:sp>
        <p:nvSpPr>
          <p:cNvPr id="320" name="Google Shape;320;p29"/>
          <p:cNvSpPr txBox="1"/>
          <p:nvPr/>
        </p:nvSpPr>
        <p:spPr>
          <a:xfrm>
            <a:off x="51000" y="3535825"/>
            <a:ext cx="9042000" cy="145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Then everywhere in the source code the compiler finds an invocation to the member function from any student object as follows : </a:t>
            </a:r>
            <a:r>
              <a:rPr i="1" lang="en">
                <a:solidFill>
                  <a:schemeClr val="dk1"/>
                </a:solidFill>
              </a:rPr>
              <a:t>Boolean probation = studentA.isInProbation(threshold);</a:t>
            </a:r>
            <a:endParaRPr i="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It would generate an alternative code in the intermediate representation as follows:</a:t>
            </a:r>
            <a:endParaRPr>
              <a:solidFill>
                <a:schemeClr val="dk1"/>
              </a:solidFill>
            </a:endParaRPr>
          </a:p>
          <a:p>
            <a:pPr indent="0" lvl="0" marL="0" rtl="0" algn="l">
              <a:spcBef>
                <a:spcPts val="0"/>
              </a:spcBef>
              <a:spcAft>
                <a:spcPts val="0"/>
              </a:spcAft>
              <a:buClr>
                <a:schemeClr val="dk1"/>
              </a:buClr>
              <a:buSzPts val="1100"/>
              <a:buFont typeface="Arial"/>
              <a:buNone/>
            </a:pPr>
            <a:r>
              <a:rPr i="1" lang="en">
                <a:solidFill>
                  <a:schemeClr val="dk1"/>
                </a:solidFill>
              </a:rPr>
              <a:t>Boolean probation = isinProbation(studentA, threshold);</a:t>
            </a:r>
            <a:endParaRPr i="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That does the trick of invoking a member function. Hence, at the end, invoking a member function of a class object is actually invoking a global function with the object as the first parameter. Isn’t this clever?</a:t>
            </a:r>
            <a:endParaRPr>
              <a:solidFill>
                <a:schemeClr val="dk1"/>
              </a:solidFill>
            </a:endParaRPr>
          </a:p>
          <a:p>
            <a:pPr indent="0" lvl="0" marL="0" rtl="0" algn="l">
              <a:spcBef>
                <a:spcPts val="0"/>
              </a:spcBef>
              <a:spcAft>
                <a:spcPts val="0"/>
              </a:spcAft>
              <a:buNone/>
            </a:pPr>
            <a:r>
              <a:t/>
            </a:r>
            <a:endParaRPr sz="1800">
              <a:solidFill>
                <a:schemeClr val="dk2"/>
              </a:solidFill>
            </a:endParaRPr>
          </a:p>
        </p:txBody>
      </p:sp>
      <p:sp>
        <p:nvSpPr>
          <p:cNvPr id="321" name="Google Shape;321;p29"/>
          <p:cNvSpPr txBox="1"/>
          <p:nvPr/>
        </p:nvSpPr>
        <p:spPr>
          <a:xfrm>
            <a:off x="6754650" y="4755900"/>
            <a:ext cx="2337000" cy="38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rPr>
              <a:t>Prepared By: Sukarna Sarker</a:t>
            </a:r>
            <a:endParaRPr b="1" sz="120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pic>
        <p:nvPicPr>
          <p:cNvPr id="326" name="Google Shape;326;p30"/>
          <p:cNvPicPr preferRelativeResize="0"/>
          <p:nvPr/>
        </p:nvPicPr>
        <p:blipFill rotWithShape="1">
          <a:blip r:embed="rId3">
            <a:alphaModFix/>
          </a:blip>
          <a:srcRect b="0" l="0" r="0" t="0"/>
          <a:stretch/>
        </p:blipFill>
        <p:spPr>
          <a:xfrm>
            <a:off x="8507451" y="76200"/>
            <a:ext cx="560349" cy="514126"/>
          </a:xfrm>
          <a:prstGeom prst="rect">
            <a:avLst/>
          </a:prstGeom>
          <a:noFill/>
          <a:ln>
            <a:noFill/>
          </a:ln>
        </p:spPr>
      </p:pic>
      <p:sp>
        <p:nvSpPr>
          <p:cNvPr id="327" name="Google Shape;327;p30"/>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0" i="0" lang="en" sz="1000" u="none" cap="none" strike="noStrike">
                <a:solidFill>
                  <a:srgbClr val="595959"/>
                </a:solidFill>
                <a:latin typeface="Arial"/>
                <a:ea typeface="Arial"/>
                <a:cs typeface="Arial"/>
                <a:sym typeface="Arial"/>
              </a:rPr>
              <a:t>‹#›</a:t>
            </a:fld>
            <a:endParaRPr b="0" i="0" sz="1000" u="none" cap="none" strike="noStrike">
              <a:solidFill>
                <a:srgbClr val="595959"/>
              </a:solidFill>
              <a:latin typeface="Arial"/>
              <a:ea typeface="Arial"/>
              <a:cs typeface="Arial"/>
              <a:sym typeface="Arial"/>
            </a:endParaRPr>
          </a:p>
        </p:txBody>
      </p:sp>
      <p:grpSp>
        <p:nvGrpSpPr>
          <p:cNvPr id="328" name="Google Shape;328;p30"/>
          <p:cNvGrpSpPr/>
          <p:nvPr/>
        </p:nvGrpSpPr>
        <p:grpSpPr>
          <a:xfrm>
            <a:off x="50480" y="122879"/>
            <a:ext cx="277873" cy="68400"/>
            <a:chOff x="411700" y="2416840"/>
            <a:chExt cx="277873" cy="68400"/>
          </a:xfrm>
        </p:grpSpPr>
        <p:sp>
          <p:nvSpPr>
            <p:cNvPr id="329" name="Google Shape;329;p30"/>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 name="Google Shape;330;p30"/>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 name="Google Shape;331;p30"/>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32" name="Google Shape;332;p30"/>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4F4F4F"/>
                </a:solidFill>
                <a:latin typeface="Lexend Light"/>
                <a:ea typeface="Lexend Light"/>
                <a:cs typeface="Lexend Light"/>
                <a:sym typeface="Lexend Light"/>
              </a:rPr>
              <a:t>Department of Computer Science and Engineering</a:t>
            </a:r>
            <a:endParaRPr b="1" i="0" sz="900" u="none" cap="none" strike="noStrike">
              <a:solidFill>
                <a:srgbClr val="4F4F4F"/>
              </a:solidFill>
              <a:latin typeface="Lexend"/>
              <a:ea typeface="Lexend"/>
              <a:cs typeface="Lexend"/>
              <a:sym typeface="Lexend"/>
            </a:endParaRPr>
          </a:p>
        </p:txBody>
      </p:sp>
      <p:sp>
        <p:nvSpPr>
          <p:cNvPr id="333" name="Google Shape;333;p30"/>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4F4F4F"/>
                </a:solidFill>
                <a:latin typeface="Lexend"/>
                <a:ea typeface="Lexend"/>
                <a:cs typeface="Lexend"/>
                <a:sym typeface="Lexend"/>
              </a:rPr>
              <a:t>CSE</a:t>
            </a:r>
            <a:r>
              <a:rPr b="1" lang="en" sz="900">
                <a:solidFill>
                  <a:srgbClr val="4F4F4F"/>
                </a:solidFill>
                <a:latin typeface="Lexend"/>
                <a:ea typeface="Lexend"/>
                <a:cs typeface="Lexend"/>
                <a:sym typeface="Lexend"/>
              </a:rPr>
              <a:t>420</a:t>
            </a:r>
            <a:r>
              <a:rPr b="1" i="0" lang="en" sz="900" u="none" cap="none" strike="noStrike">
                <a:solidFill>
                  <a:srgbClr val="4F4F4F"/>
                </a:solidFill>
                <a:latin typeface="Lexend"/>
                <a:ea typeface="Lexend"/>
                <a:cs typeface="Lexend"/>
                <a:sym typeface="Lexend"/>
              </a:rPr>
              <a:t> - </a:t>
            </a:r>
            <a:r>
              <a:rPr b="1" lang="en" sz="900">
                <a:solidFill>
                  <a:srgbClr val="4F4F4F"/>
                </a:solidFill>
                <a:latin typeface="Lexend"/>
                <a:ea typeface="Lexend"/>
                <a:cs typeface="Lexend"/>
                <a:sym typeface="Lexend"/>
              </a:rPr>
              <a:t>Compiler Design</a:t>
            </a:r>
            <a:endParaRPr b="0" i="0" sz="900" u="none" cap="none" strike="noStrike">
              <a:solidFill>
                <a:srgbClr val="4F4F4F"/>
              </a:solidFill>
              <a:latin typeface="Lexend"/>
              <a:ea typeface="Lexend"/>
              <a:cs typeface="Lexend"/>
              <a:sym typeface="Lexend"/>
            </a:endParaRPr>
          </a:p>
        </p:txBody>
      </p:sp>
      <p:sp>
        <p:nvSpPr>
          <p:cNvPr id="334" name="Google Shape;334;p30"/>
          <p:cNvSpPr txBox="1"/>
          <p:nvPr/>
        </p:nvSpPr>
        <p:spPr>
          <a:xfrm>
            <a:off x="0" y="102400"/>
            <a:ext cx="91440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latin typeface="Lexend Medium"/>
                <a:ea typeface="Lexend Medium"/>
                <a:cs typeface="Lexend Medium"/>
                <a:sym typeface="Lexend Medium"/>
              </a:rPr>
              <a:t>Class Inheritance and Method Polymorphism</a:t>
            </a:r>
            <a:endParaRPr sz="1800">
              <a:latin typeface="Lexend Medium"/>
              <a:ea typeface="Lexend Medium"/>
              <a:cs typeface="Lexend Medium"/>
              <a:sym typeface="Lexend Medium"/>
            </a:endParaRPr>
          </a:p>
        </p:txBody>
      </p:sp>
      <p:sp>
        <p:nvSpPr>
          <p:cNvPr id="335" name="Google Shape;335;p30"/>
          <p:cNvSpPr txBox="1"/>
          <p:nvPr/>
        </p:nvSpPr>
        <p:spPr>
          <a:xfrm>
            <a:off x="50475" y="638825"/>
            <a:ext cx="9017400" cy="81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The most interesting aspect of dealing with OOP code in compiler is probably the handling of inheritance and polymorphism. Assume, we have the following base and derived classes in our program.</a:t>
            </a:r>
            <a:endParaRPr>
              <a:solidFill>
                <a:schemeClr val="dk1"/>
              </a:solidFill>
            </a:endParaRPr>
          </a:p>
          <a:p>
            <a:pPr indent="0" lvl="0" marL="0" rtl="0" algn="l">
              <a:spcBef>
                <a:spcPts val="0"/>
              </a:spcBef>
              <a:spcAft>
                <a:spcPts val="0"/>
              </a:spcAft>
              <a:buClr>
                <a:schemeClr val="dk1"/>
              </a:buClr>
              <a:buSzPts val="1100"/>
              <a:buFont typeface="Arial"/>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336" name="Google Shape;336;p30"/>
          <p:cNvSpPr txBox="1"/>
          <p:nvPr/>
        </p:nvSpPr>
        <p:spPr>
          <a:xfrm>
            <a:off x="50475" y="1261225"/>
            <a:ext cx="4568100" cy="27243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Class Person {</a:t>
            </a:r>
            <a:endParaRPr>
              <a:solidFill>
                <a:schemeClr val="dk1"/>
              </a:solidFill>
            </a:endParaRPr>
          </a:p>
          <a:p>
            <a:pPr indent="457200" lvl="0" marL="0" rtl="0" algn="l">
              <a:spcBef>
                <a:spcPts val="0"/>
              </a:spcBef>
              <a:spcAft>
                <a:spcPts val="0"/>
              </a:spcAft>
              <a:buNone/>
            </a:pPr>
            <a:r>
              <a:rPr lang="en">
                <a:solidFill>
                  <a:schemeClr val="dk1"/>
                </a:solidFill>
              </a:rPr>
              <a:t>String name; </a:t>
            </a:r>
            <a:endParaRPr>
              <a:solidFill>
                <a:schemeClr val="dk1"/>
              </a:solidFill>
            </a:endParaRPr>
          </a:p>
          <a:p>
            <a:pPr indent="457200" lvl="0" marL="0" rtl="0" algn="l">
              <a:spcBef>
                <a:spcPts val="0"/>
              </a:spcBef>
              <a:spcAft>
                <a:spcPts val="0"/>
              </a:spcAft>
              <a:buNone/>
            </a:pPr>
            <a:r>
              <a:rPr lang="en">
                <a:solidFill>
                  <a:schemeClr val="dk1"/>
                </a:solidFill>
              </a:rPr>
              <a:t>int NID; </a:t>
            </a:r>
            <a:endParaRPr>
              <a:solidFill>
                <a:schemeClr val="dk1"/>
              </a:solidFill>
            </a:endParaRPr>
          </a:p>
          <a:p>
            <a:pPr indent="457200" lvl="0" marL="0" rtl="0" algn="l">
              <a:spcBef>
                <a:spcPts val="0"/>
              </a:spcBef>
              <a:spcAft>
                <a:spcPts val="0"/>
              </a:spcAft>
              <a:buNone/>
            </a:pPr>
            <a:r>
              <a:rPr lang="en">
                <a:solidFill>
                  <a:schemeClr val="dk1"/>
                </a:solidFill>
              </a:rPr>
              <a:t>String address; </a:t>
            </a:r>
            <a:endParaRPr>
              <a:solidFill>
                <a:schemeClr val="dk1"/>
              </a:solidFill>
            </a:endParaRPr>
          </a:p>
          <a:p>
            <a:pPr indent="457200" lvl="0" marL="0" rtl="0" algn="l">
              <a:spcBef>
                <a:spcPts val="0"/>
              </a:spcBef>
              <a:spcAft>
                <a:spcPts val="0"/>
              </a:spcAft>
              <a:buNone/>
            </a:pPr>
            <a:r>
              <a:rPr lang="en">
                <a:solidFill>
                  <a:schemeClr val="dk1"/>
                </a:solidFill>
              </a:rPr>
              <a:t>int age; </a:t>
            </a:r>
            <a:endParaRPr>
              <a:solidFill>
                <a:schemeClr val="dk1"/>
              </a:solidFill>
            </a:endParaRPr>
          </a:p>
          <a:p>
            <a:pPr indent="457200" lvl="0" marL="0" rtl="0" algn="l">
              <a:spcBef>
                <a:spcPts val="0"/>
              </a:spcBef>
              <a:spcAft>
                <a:spcPts val="0"/>
              </a:spcAft>
              <a:buNone/>
            </a:pPr>
            <a:r>
              <a:rPr lang="en">
                <a:solidFill>
                  <a:schemeClr val="dk1"/>
                </a:solidFill>
              </a:rPr>
              <a:t>String getName() { </a:t>
            </a:r>
            <a:endParaRPr>
              <a:solidFill>
                <a:schemeClr val="dk1"/>
              </a:solidFill>
            </a:endParaRPr>
          </a:p>
          <a:p>
            <a:pPr indent="457200" lvl="0" marL="457200" rtl="0" algn="l">
              <a:spcBef>
                <a:spcPts val="0"/>
              </a:spcBef>
              <a:spcAft>
                <a:spcPts val="0"/>
              </a:spcAft>
              <a:buNone/>
            </a:pPr>
            <a:r>
              <a:rPr lang="en">
                <a:solidFill>
                  <a:schemeClr val="dk1"/>
                </a:solidFill>
              </a:rPr>
              <a:t>return name; </a:t>
            </a:r>
            <a:endParaRPr>
              <a:solidFill>
                <a:schemeClr val="dk1"/>
              </a:solidFill>
            </a:endParaRPr>
          </a:p>
          <a:p>
            <a:pPr indent="457200" lvl="0" marL="457200" rtl="0" algn="l">
              <a:spcBef>
                <a:spcPts val="0"/>
              </a:spcBef>
              <a:spcAft>
                <a:spcPts val="0"/>
              </a:spcAft>
              <a:buNone/>
            </a:pPr>
            <a:r>
              <a:rPr lang="en">
                <a:solidFill>
                  <a:schemeClr val="dk1"/>
                </a:solidFill>
              </a:rPr>
              <a:t>} </a:t>
            </a:r>
            <a:endParaRPr>
              <a:solidFill>
                <a:schemeClr val="dk1"/>
              </a:solidFill>
            </a:endParaRPr>
          </a:p>
          <a:p>
            <a:pPr indent="0" lvl="0" marL="457200" rtl="0" algn="l">
              <a:spcBef>
                <a:spcPts val="0"/>
              </a:spcBef>
              <a:spcAft>
                <a:spcPts val="0"/>
              </a:spcAft>
              <a:buNone/>
            </a:pPr>
            <a:r>
              <a:rPr lang="en">
                <a:solidFill>
                  <a:schemeClr val="dk1"/>
                </a:solidFill>
              </a:rPr>
              <a:t>String getDescription() { </a:t>
            </a:r>
            <a:endParaRPr>
              <a:solidFill>
                <a:schemeClr val="dk1"/>
              </a:solidFill>
            </a:endParaRPr>
          </a:p>
          <a:p>
            <a:pPr indent="0" lvl="0" marL="457200" rtl="0" algn="l">
              <a:spcBef>
                <a:spcPts val="0"/>
              </a:spcBef>
              <a:spcAft>
                <a:spcPts val="0"/>
              </a:spcAft>
              <a:buNone/>
            </a:pPr>
            <a:r>
              <a:rPr lang="en">
                <a:solidFill>
                  <a:schemeClr val="dk1"/>
                </a:solidFill>
              </a:rPr>
              <a:t>String desc = name + “, ” + address; Return desc; </a:t>
            </a:r>
            <a:endParaRPr>
              <a:solidFill>
                <a:schemeClr val="dk1"/>
              </a:solidFill>
            </a:endParaRPr>
          </a:p>
          <a:p>
            <a:pPr indent="0" lvl="0" marL="457200" rtl="0" algn="l">
              <a:spcBef>
                <a:spcPts val="0"/>
              </a:spcBef>
              <a:spcAft>
                <a:spcPts val="0"/>
              </a:spcAft>
              <a:buNone/>
            </a:pPr>
            <a:r>
              <a:rPr lang="en">
                <a:solidFill>
                  <a:schemeClr val="dk1"/>
                </a:solidFill>
              </a:rPr>
              <a:t>} </a:t>
            </a:r>
            <a:endParaRPr>
              <a:solidFill>
                <a:schemeClr val="dk1"/>
              </a:solidFill>
            </a:endParaRPr>
          </a:p>
          <a:p>
            <a:pPr indent="0" lvl="0" marL="0" rtl="0" algn="l">
              <a:spcBef>
                <a:spcPts val="0"/>
              </a:spcBef>
              <a:spcAft>
                <a:spcPts val="0"/>
              </a:spcAft>
              <a:buNone/>
            </a:pPr>
            <a:r>
              <a:rPr lang="en">
                <a:solidFill>
                  <a:schemeClr val="dk1"/>
                </a:solidFill>
              </a:rPr>
              <a:t>} </a:t>
            </a:r>
            <a:endParaRPr>
              <a:solidFill>
                <a:schemeClr val="dk1"/>
              </a:solidFill>
            </a:endParaRPr>
          </a:p>
        </p:txBody>
      </p:sp>
      <p:sp>
        <p:nvSpPr>
          <p:cNvPr id="337" name="Google Shape;337;p30"/>
          <p:cNvSpPr txBox="1"/>
          <p:nvPr/>
        </p:nvSpPr>
        <p:spPr>
          <a:xfrm>
            <a:off x="4717575" y="1261225"/>
            <a:ext cx="4350300" cy="34173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Class Student extend Person {</a:t>
            </a:r>
            <a:br>
              <a:rPr lang="en">
                <a:solidFill>
                  <a:schemeClr val="dk1"/>
                </a:solidFill>
              </a:rPr>
            </a:br>
            <a:r>
              <a:rPr lang="en">
                <a:solidFill>
                  <a:schemeClr val="dk1"/>
                </a:solidFill>
              </a:rPr>
              <a:t>	String department;</a:t>
            </a:r>
            <a:endParaRPr>
              <a:solidFill>
                <a:schemeClr val="dk1"/>
              </a:solidFill>
            </a:endParaRPr>
          </a:p>
          <a:p>
            <a:pPr indent="457200" lvl="0" marL="0" rtl="0" algn="l">
              <a:spcBef>
                <a:spcPts val="0"/>
              </a:spcBef>
              <a:spcAft>
                <a:spcPts val="0"/>
              </a:spcAft>
              <a:buClr>
                <a:schemeClr val="dk1"/>
              </a:buClr>
              <a:buSzPts val="1100"/>
              <a:buFont typeface="Arial"/>
              <a:buNone/>
            </a:pPr>
            <a:r>
              <a:rPr lang="en">
                <a:solidFill>
                  <a:schemeClr val="dk1"/>
                </a:solidFill>
              </a:rPr>
              <a:t>int studentId;</a:t>
            </a:r>
            <a:endParaRPr>
              <a:solidFill>
                <a:schemeClr val="dk1"/>
              </a:solidFill>
            </a:endParaRPr>
          </a:p>
          <a:p>
            <a:pPr indent="457200" lvl="0" marL="0" rtl="0" algn="l">
              <a:spcBef>
                <a:spcPts val="0"/>
              </a:spcBef>
              <a:spcAft>
                <a:spcPts val="0"/>
              </a:spcAft>
              <a:buNone/>
            </a:pPr>
            <a:r>
              <a:rPr lang="en">
                <a:solidFill>
                  <a:schemeClr val="dk1"/>
                </a:solidFill>
              </a:rPr>
              <a:t>String getDepartment() { </a:t>
            </a:r>
            <a:endParaRPr>
              <a:solidFill>
                <a:schemeClr val="dk1"/>
              </a:solidFill>
            </a:endParaRPr>
          </a:p>
          <a:p>
            <a:pPr indent="457200" lvl="0" marL="457200" rtl="0" algn="l">
              <a:spcBef>
                <a:spcPts val="0"/>
              </a:spcBef>
              <a:spcAft>
                <a:spcPts val="0"/>
              </a:spcAft>
              <a:buNone/>
            </a:pPr>
            <a:r>
              <a:rPr lang="en">
                <a:solidFill>
                  <a:schemeClr val="dk1"/>
                </a:solidFill>
              </a:rPr>
              <a:t>return department; </a:t>
            </a:r>
            <a:endParaRPr>
              <a:solidFill>
                <a:schemeClr val="dk1"/>
              </a:solidFill>
            </a:endParaRPr>
          </a:p>
          <a:p>
            <a:pPr indent="457200" lvl="0" marL="457200" rtl="0" algn="l">
              <a:spcBef>
                <a:spcPts val="0"/>
              </a:spcBef>
              <a:spcAft>
                <a:spcPts val="0"/>
              </a:spcAft>
              <a:buClr>
                <a:schemeClr val="dk1"/>
              </a:buClr>
              <a:buSzPts val="1100"/>
              <a:buFont typeface="Arial"/>
              <a:buNone/>
            </a:pPr>
            <a:r>
              <a:rPr lang="en">
                <a:solidFill>
                  <a:schemeClr val="dk1"/>
                </a:solidFill>
              </a:rPr>
              <a:t>}</a:t>
            </a:r>
            <a:endParaRPr>
              <a:solidFill>
                <a:schemeClr val="dk1"/>
              </a:solidFill>
            </a:endParaRPr>
          </a:p>
          <a:p>
            <a:pPr indent="457200" lvl="0" marL="0" rtl="0" algn="l">
              <a:spcBef>
                <a:spcPts val="0"/>
              </a:spcBef>
              <a:spcAft>
                <a:spcPts val="0"/>
              </a:spcAft>
              <a:buClr>
                <a:schemeClr val="dk1"/>
              </a:buClr>
              <a:buSzPts val="1100"/>
              <a:buFont typeface="Arial"/>
              <a:buNone/>
            </a:pPr>
            <a:r>
              <a:rPr lang="en">
                <a:solidFill>
                  <a:schemeClr val="dk1"/>
                </a:solidFill>
              </a:rPr>
              <a:t>String getDescription() {</a:t>
            </a:r>
            <a:endParaRPr>
              <a:solidFill>
                <a:schemeClr val="dk1"/>
              </a:solidFill>
            </a:endParaRPr>
          </a:p>
          <a:p>
            <a:pPr indent="457200" lvl="0" marL="457200" rtl="0" algn="l">
              <a:spcBef>
                <a:spcPts val="0"/>
              </a:spcBef>
              <a:spcAft>
                <a:spcPts val="0"/>
              </a:spcAft>
              <a:buNone/>
            </a:pPr>
            <a:r>
              <a:rPr lang="en">
                <a:solidFill>
                  <a:schemeClr val="dk1"/>
                </a:solidFill>
              </a:rPr>
              <a:t>String desc = name + “,” + studentId + “,” </a:t>
            </a:r>
            <a:endParaRPr>
              <a:solidFill>
                <a:schemeClr val="dk1"/>
              </a:solidFill>
            </a:endParaRPr>
          </a:p>
          <a:p>
            <a:pPr indent="457200" lvl="0" marL="457200" rtl="0" algn="l">
              <a:spcBef>
                <a:spcPts val="0"/>
              </a:spcBef>
              <a:spcAft>
                <a:spcPts val="0"/>
              </a:spcAft>
              <a:buClr>
                <a:schemeClr val="dk1"/>
              </a:buClr>
              <a:buSzPts val="1100"/>
              <a:buFont typeface="Arial"/>
              <a:buNone/>
            </a:pPr>
            <a:r>
              <a:rPr lang="en">
                <a:solidFill>
                  <a:schemeClr val="dk1"/>
                </a:solidFill>
              </a:rPr>
              <a:t>    		   + department;</a:t>
            </a:r>
            <a:endParaRPr>
              <a:solidFill>
                <a:schemeClr val="dk1"/>
              </a:solidFill>
            </a:endParaRPr>
          </a:p>
          <a:p>
            <a:pPr indent="457200" lvl="0" marL="457200" rtl="0" algn="l">
              <a:spcBef>
                <a:spcPts val="0"/>
              </a:spcBef>
              <a:spcAft>
                <a:spcPts val="0"/>
              </a:spcAft>
              <a:buClr>
                <a:schemeClr val="dk1"/>
              </a:buClr>
              <a:buSzPts val="1100"/>
              <a:buFont typeface="Arial"/>
              <a:buNone/>
            </a:pPr>
            <a:r>
              <a:rPr lang="en">
                <a:solidFill>
                  <a:schemeClr val="dk1"/>
                </a:solidFill>
              </a:rPr>
              <a:t>return desc;</a:t>
            </a:r>
            <a:endParaRPr>
              <a:solidFill>
                <a:schemeClr val="dk1"/>
              </a:solidFill>
            </a:endParaRPr>
          </a:p>
          <a:p>
            <a:pPr indent="457200" lvl="0" marL="0" rtl="0" algn="l">
              <a:spcBef>
                <a:spcPts val="0"/>
              </a:spcBef>
              <a:spcAft>
                <a:spcPts val="0"/>
              </a:spcAft>
              <a:buClr>
                <a:schemeClr val="dk1"/>
              </a:buClr>
              <a:buSzPts val="1100"/>
              <a:buFont typeface="Arial"/>
              <a:buNone/>
            </a:pPr>
            <a:r>
              <a:rPr lang="en">
                <a:solidFill>
                  <a:schemeClr val="dk1"/>
                </a:solidFill>
              </a:rPr>
              <a:t>}</a:t>
            </a:r>
            <a:endParaRPr>
              <a:solidFill>
                <a:schemeClr val="dk1"/>
              </a:solidFill>
            </a:endParaRPr>
          </a:p>
          <a:p>
            <a:pPr indent="457200" lvl="0" marL="0" rtl="0" algn="l">
              <a:spcBef>
                <a:spcPts val="0"/>
              </a:spcBef>
              <a:spcAft>
                <a:spcPts val="0"/>
              </a:spcAft>
              <a:buNone/>
            </a:pPr>
            <a:r>
              <a:rPr lang="en">
                <a:solidFill>
                  <a:schemeClr val="dk1"/>
                </a:solidFill>
              </a:rPr>
              <a:t>int getStudentId() { </a:t>
            </a:r>
            <a:endParaRPr>
              <a:solidFill>
                <a:schemeClr val="dk1"/>
              </a:solidFill>
            </a:endParaRPr>
          </a:p>
          <a:p>
            <a:pPr indent="457200" lvl="0" marL="457200" rtl="0" algn="l">
              <a:spcBef>
                <a:spcPts val="0"/>
              </a:spcBef>
              <a:spcAft>
                <a:spcPts val="0"/>
              </a:spcAft>
              <a:buClr>
                <a:schemeClr val="dk1"/>
              </a:buClr>
              <a:buSzPts val="1100"/>
              <a:buFont typeface="Arial"/>
              <a:buNone/>
            </a:pPr>
            <a:r>
              <a:rPr lang="en">
                <a:solidFill>
                  <a:schemeClr val="dk1"/>
                </a:solidFill>
              </a:rPr>
              <a:t>return studentId}</a:t>
            </a:r>
            <a:endParaRPr>
              <a:solidFill>
                <a:schemeClr val="dk1"/>
              </a:solidFill>
            </a:endParaRPr>
          </a:p>
          <a:p>
            <a:pPr indent="457200" lvl="0" marL="0" rtl="0" algn="l">
              <a:spcBef>
                <a:spcPts val="0"/>
              </a:spcBef>
              <a:spcAft>
                <a:spcPts val="0"/>
              </a:spcAft>
              <a:buClr>
                <a:schemeClr val="dk1"/>
              </a:buClr>
              <a:buSzPts val="1100"/>
              <a:buFont typeface="Arial"/>
              <a:buNone/>
            </a:pPr>
            <a:r>
              <a:rPr lang="en">
                <a:solidFill>
                  <a:schemeClr val="dk1"/>
                </a:solidFill>
              </a:rPr>
              <a:t>}</a:t>
            </a:r>
            <a:endParaRPr>
              <a:solidFill>
                <a:schemeClr val="dk1"/>
              </a:solidFill>
            </a:endParaRPr>
          </a:p>
          <a:p>
            <a:pPr indent="0" lvl="0" marL="0" rtl="0" algn="l">
              <a:spcBef>
                <a:spcPts val="0"/>
              </a:spcBef>
              <a:spcAft>
                <a:spcPts val="0"/>
              </a:spcAft>
              <a:buNone/>
            </a:pPr>
            <a:r>
              <a:rPr lang="en">
                <a:solidFill>
                  <a:schemeClr val="dk1"/>
                </a:solidFill>
              </a:rPr>
              <a:t>}</a:t>
            </a:r>
            <a:endParaRPr>
              <a:solidFill>
                <a:schemeClr val="dk1"/>
              </a:solidFill>
            </a:endParaRPr>
          </a:p>
        </p:txBody>
      </p:sp>
      <p:sp>
        <p:nvSpPr>
          <p:cNvPr id="338" name="Google Shape;338;p30"/>
          <p:cNvSpPr txBox="1"/>
          <p:nvPr/>
        </p:nvSpPr>
        <p:spPr>
          <a:xfrm>
            <a:off x="6754650" y="4755900"/>
            <a:ext cx="2337000" cy="38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rPr>
              <a:t>Prepared By: Sukarna Sarker</a:t>
            </a:r>
            <a:endParaRPr b="1" sz="1200">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pic>
        <p:nvPicPr>
          <p:cNvPr id="343" name="Google Shape;343;p31"/>
          <p:cNvPicPr preferRelativeResize="0"/>
          <p:nvPr/>
        </p:nvPicPr>
        <p:blipFill rotWithShape="1">
          <a:blip r:embed="rId3">
            <a:alphaModFix/>
          </a:blip>
          <a:srcRect b="0" l="0" r="0" t="0"/>
          <a:stretch/>
        </p:blipFill>
        <p:spPr>
          <a:xfrm>
            <a:off x="8507451" y="76200"/>
            <a:ext cx="560349" cy="514126"/>
          </a:xfrm>
          <a:prstGeom prst="rect">
            <a:avLst/>
          </a:prstGeom>
          <a:noFill/>
          <a:ln>
            <a:noFill/>
          </a:ln>
        </p:spPr>
      </p:pic>
      <p:sp>
        <p:nvSpPr>
          <p:cNvPr id="344" name="Google Shape;344;p31"/>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0" i="0" lang="en" sz="1000" u="none" cap="none" strike="noStrike">
                <a:solidFill>
                  <a:srgbClr val="595959"/>
                </a:solidFill>
                <a:latin typeface="Arial"/>
                <a:ea typeface="Arial"/>
                <a:cs typeface="Arial"/>
                <a:sym typeface="Arial"/>
              </a:rPr>
              <a:t>‹#›</a:t>
            </a:fld>
            <a:endParaRPr b="0" i="0" sz="1000" u="none" cap="none" strike="noStrike">
              <a:solidFill>
                <a:srgbClr val="595959"/>
              </a:solidFill>
              <a:latin typeface="Arial"/>
              <a:ea typeface="Arial"/>
              <a:cs typeface="Arial"/>
              <a:sym typeface="Arial"/>
            </a:endParaRPr>
          </a:p>
        </p:txBody>
      </p:sp>
      <p:grpSp>
        <p:nvGrpSpPr>
          <p:cNvPr id="345" name="Google Shape;345;p31"/>
          <p:cNvGrpSpPr/>
          <p:nvPr/>
        </p:nvGrpSpPr>
        <p:grpSpPr>
          <a:xfrm>
            <a:off x="50480" y="122879"/>
            <a:ext cx="277873" cy="68400"/>
            <a:chOff x="411700" y="2416840"/>
            <a:chExt cx="277873" cy="68400"/>
          </a:xfrm>
        </p:grpSpPr>
        <p:sp>
          <p:nvSpPr>
            <p:cNvPr id="346" name="Google Shape;346;p31"/>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 name="Google Shape;347;p31"/>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p31"/>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49" name="Google Shape;349;p31"/>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4F4F4F"/>
                </a:solidFill>
                <a:latin typeface="Lexend Light"/>
                <a:ea typeface="Lexend Light"/>
                <a:cs typeface="Lexend Light"/>
                <a:sym typeface="Lexend Light"/>
              </a:rPr>
              <a:t>Department of Computer Science and Engineering</a:t>
            </a:r>
            <a:endParaRPr b="1" i="0" sz="900" u="none" cap="none" strike="noStrike">
              <a:solidFill>
                <a:srgbClr val="4F4F4F"/>
              </a:solidFill>
              <a:latin typeface="Lexend"/>
              <a:ea typeface="Lexend"/>
              <a:cs typeface="Lexend"/>
              <a:sym typeface="Lexend"/>
            </a:endParaRPr>
          </a:p>
        </p:txBody>
      </p:sp>
      <p:sp>
        <p:nvSpPr>
          <p:cNvPr id="350" name="Google Shape;350;p31"/>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4F4F4F"/>
                </a:solidFill>
                <a:latin typeface="Lexend"/>
                <a:ea typeface="Lexend"/>
                <a:cs typeface="Lexend"/>
                <a:sym typeface="Lexend"/>
              </a:rPr>
              <a:t>CSE</a:t>
            </a:r>
            <a:r>
              <a:rPr b="1" lang="en" sz="900">
                <a:solidFill>
                  <a:srgbClr val="4F4F4F"/>
                </a:solidFill>
                <a:latin typeface="Lexend"/>
                <a:ea typeface="Lexend"/>
                <a:cs typeface="Lexend"/>
                <a:sym typeface="Lexend"/>
              </a:rPr>
              <a:t>420</a:t>
            </a:r>
            <a:r>
              <a:rPr b="1" i="0" lang="en" sz="900" u="none" cap="none" strike="noStrike">
                <a:solidFill>
                  <a:srgbClr val="4F4F4F"/>
                </a:solidFill>
                <a:latin typeface="Lexend"/>
                <a:ea typeface="Lexend"/>
                <a:cs typeface="Lexend"/>
                <a:sym typeface="Lexend"/>
              </a:rPr>
              <a:t> - </a:t>
            </a:r>
            <a:r>
              <a:rPr b="1" lang="en" sz="900">
                <a:solidFill>
                  <a:srgbClr val="4F4F4F"/>
                </a:solidFill>
                <a:latin typeface="Lexend"/>
                <a:ea typeface="Lexend"/>
                <a:cs typeface="Lexend"/>
                <a:sym typeface="Lexend"/>
              </a:rPr>
              <a:t>Compiler Design</a:t>
            </a:r>
            <a:endParaRPr b="0" i="0" sz="900" u="none" cap="none" strike="noStrike">
              <a:solidFill>
                <a:srgbClr val="4F4F4F"/>
              </a:solidFill>
              <a:latin typeface="Lexend"/>
              <a:ea typeface="Lexend"/>
              <a:cs typeface="Lexend"/>
              <a:sym typeface="Lexend"/>
            </a:endParaRPr>
          </a:p>
        </p:txBody>
      </p:sp>
      <p:sp>
        <p:nvSpPr>
          <p:cNvPr id="351" name="Google Shape;351;p31"/>
          <p:cNvSpPr txBox="1"/>
          <p:nvPr/>
        </p:nvSpPr>
        <p:spPr>
          <a:xfrm>
            <a:off x="0" y="102400"/>
            <a:ext cx="91440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latin typeface="Lexend Medium"/>
                <a:ea typeface="Lexend Medium"/>
                <a:cs typeface="Lexend Medium"/>
                <a:sym typeface="Lexend Medium"/>
              </a:rPr>
              <a:t>Class Inheritance and Method Polymorphism</a:t>
            </a:r>
            <a:endParaRPr sz="1800">
              <a:latin typeface="Lexend Medium"/>
              <a:ea typeface="Lexend Medium"/>
              <a:cs typeface="Lexend Medium"/>
              <a:sym typeface="Lexend Medium"/>
            </a:endParaRPr>
          </a:p>
        </p:txBody>
      </p:sp>
      <p:sp>
        <p:nvSpPr>
          <p:cNvPr id="352" name="Google Shape;352;p31"/>
          <p:cNvSpPr txBox="1"/>
          <p:nvPr/>
        </p:nvSpPr>
        <p:spPr>
          <a:xfrm>
            <a:off x="50475" y="1040938"/>
            <a:ext cx="9144000" cy="2986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We know how member functions are translated by the compiler from the earlier discussion. From the</a:t>
            </a:r>
            <a:endParaRPr/>
          </a:p>
          <a:p>
            <a:pPr indent="0" lvl="0" marL="0" rtl="0" algn="l">
              <a:spcBef>
                <a:spcPts val="0"/>
              </a:spcBef>
              <a:spcAft>
                <a:spcPts val="0"/>
              </a:spcAft>
              <a:buNone/>
            </a:pPr>
            <a:r>
              <a:rPr lang="en"/>
              <a:t>above two classes, the compiler will generate the following five functions (I am going to ignore the body</a:t>
            </a:r>
            <a:endParaRPr/>
          </a:p>
          <a:p>
            <a:pPr indent="0" lvl="0" marL="0" rtl="0" algn="l">
              <a:spcBef>
                <a:spcPts val="0"/>
              </a:spcBef>
              <a:spcAft>
                <a:spcPts val="0"/>
              </a:spcAft>
              <a:buNone/>
            </a:pPr>
            <a:r>
              <a:rPr lang="en"/>
              <a:t>of the functions as you already know what changes are done there.)</a:t>
            </a:r>
            <a:endParaRPr/>
          </a:p>
          <a:p>
            <a:pPr indent="0" lvl="0" marL="0" rtl="0" algn="l">
              <a:spcBef>
                <a:spcPts val="0"/>
              </a:spcBef>
              <a:spcAft>
                <a:spcPts val="0"/>
              </a:spcAft>
              <a:buNone/>
            </a:pPr>
            <a:r>
              <a:rPr lang="en"/>
              <a:t>1. String getName(Person this)</a:t>
            </a:r>
            <a:endParaRPr/>
          </a:p>
          <a:p>
            <a:pPr indent="0" lvl="0" marL="0" rtl="0" algn="l">
              <a:spcBef>
                <a:spcPts val="0"/>
              </a:spcBef>
              <a:spcAft>
                <a:spcPts val="0"/>
              </a:spcAft>
              <a:buNone/>
            </a:pPr>
            <a:r>
              <a:rPr lang="en"/>
              <a:t>2. String getDescription(Person this)</a:t>
            </a:r>
            <a:endParaRPr/>
          </a:p>
          <a:p>
            <a:pPr indent="0" lvl="0" marL="0" rtl="0" algn="l">
              <a:spcBef>
                <a:spcPts val="0"/>
              </a:spcBef>
              <a:spcAft>
                <a:spcPts val="0"/>
              </a:spcAft>
              <a:buNone/>
            </a:pPr>
            <a:r>
              <a:rPr lang="en"/>
              <a:t>3. String getDepartment(Student this)</a:t>
            </a:r>
            <a:endParaRPr/>
          </a:p>
          <a:p>
            <a:pPr indent="0" lvl="0" marL="0" rtl="0" algn="l">
              <a:spcBef>
                <a:spcPts val="0"/>
              </a:spcBef>
              <a:spcAft>
                <a:spcPts val="0"/>
              </a:spcAft>
              <a:buNone/>
            </a:pPr>
            <a:r>
              <a:rPr lang="en"/>
              <a:t>4. String getDescription(Student this)</a:t>
            </a:r>
            <a:endParaRPr/>
          </a:p>
          <a:p>
            <a:pPr indent="0" lvl="0" marL="0" rtl="0" algn="l">
              <a:spcBef>
                <a:spcPts val="0"/>
              </a:spcBef>
              <a:spcAft>
                <a:spcPts val="0"/>
              </a:spcAft>
              <a:buNone/>
            </a:pPr>
            <a:r>
              <a:rPr lang="en"/>
              <a:t>5. Int getStudentId(Student this)</a:t>
            </a:r>
            <a:endParaRPr/>
          </a:p>
          <a:p>
            <a:pPr indent="0" lvl="0" marL="0" rtl="0" algn="l">
              <a:spcBef>
                <a:spcPts val="0"/>
              </a:spcBef>
              <a:spcAft>
                <a:spcPts val="0"/>
              </a:spcAft>
              <a:buNone/>
            </a:pPr>
            <a:r>
              <a:rPr lang="en"/>
              <a:t>Notice that there are two implementations of the getDescription function as the sub-class overrides the</a:t>
            </a:r>
            <a:endParaRPr/>
          </a:p>
          <a:p>
            <a:pPr indent="0" lvl="0" marL="0" rtl="0" algn="l">
              <a:spcBef>
                <a:spcPts val="0"/>
              </a:spcBef>
              <a:spcAft>
                <a:spcPts val="0"/>
              </a:spcAft>
              <a:buNone/>
            </a:pPr>
            <a:r>
              <a:rPr lang="en"/>
              <a:t>base class method. Then the compiler generates a table – called a vtable – for each class where the</a:t>
            </a:r>
            <a:endParaRPr/>
          </a:p>
          <a:p>
            <a:pPr indent="0" lvl="0" marL="0" rtl="0" algn="l">
              <a:spcBef>
                <a:spcPts val="0"/>
              </a:spcBef>
              <a:spcAft>
                <a:spcPts val="0"/>
              </a:spcAft>
              <a:buNone/>
            </a:pPr>
            <a:r>
              <a:rPr lang="en"/>
              <a:t>entries of the table refer to the specific implementation of the functions appropriate for that class’s</a:t>
            </a:r>
            <a:endParaRPr/>
          </a:p>
          <a:p>
            <a:pPr indent="0" lvl="0" marL="0" rtl="0" algn="l">
              <a:spcBef>
                <a:spcPts val="0"/>
              </a:spcBef>
              <a:spcAft>
                <a:spcPts val="0"/>
              </a:spcAft>
              <a:buNone/>
            </a:pPr>
            <a:r>
              <a:rPr lang="en"/>
              <a:t>object. The compiler, finally appends a new pointer property in the classes – typically named vpointer –</a:t>
            </a:r>
            <a:endParaRPr/>
          </a:p>
          <a:p>
            <a:pPr indent="0" lvl="0" marL="0" rtl="0" algn="l">
              <a:spcBef>
                <a:spcPts val="0"/>
              </a:spcBef>
              <a:spcAft>
                <a:spcPts val="0"/>
              </a:spcAft>
              <a:buNone/>
            </a:pPr>
            <a:r>
              <a:rPr lang="en"/>
              <a:t>that refers to the table. </a:t>
            </a:r>
            <a:endParaRPr/>
          </a:p>
        </p:txBody>
      </p:sp>
      <p:sp>
        <p:nvSpPr>
          <p:cNvPr id="353" name="Google Shape;353;p31"/>
          <p:cNvSpPr txBox="1"/>
          <p:nvPr/>
        </p:nvSpPr>
        <p:spPr>
          <a:xfrm>
            <a:off x="6754650" y="4755900"/>
            <a:ext cx="2337000" cy="38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rPr>
              <a:t>Prepared By: Sukarna Sarker</a:t>
            </a:r>
            <a:endParaRPr b="1" sz="120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pic>
        <p:nvPicPr>
          <p:cNvPr id="358" name="Google Shape;358;p32"/>
          <p:cNvPicPr preferRelativeResize="0"/>
          <p:nvPr/>
        </p:nvPicPr>
        <p:blipFill rotWithShape="1">
          <a:blip r:embed="rId3">
            <a:alphaModFix/>
          </a:blip>
          <a:srcRect b="0" l="0" r="0" t="0"/>
          <a:stretch/>
        </p:blipFill>
        <p:spPr>
          <a:xfrm>
            <a:off x="8507451" y="76200"/>
            <a:ext cx="560349" cy="514126"/>
          </a:xfrm>
          <a:prstGeom prst="rect">
            <a:avLst/>
          </a:prstGeom>
          <a:noFill/>
          <a:ln>
            <a:noFill/>
          </a:ln>
        </p:spPr>
      </p:pic>
      <p:sp>
        <p:nvSpPr>
          <p:cNvPr id="359" name="Google Shape;359;p32"/>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0" i="0" lang="en" sz="1000" u="none" cap="none" strike="noStrike">
                <a:solidFill>
                  <a:srgbClr val="595959"/>
                </a:solidFill>
                <a:latin typeface="Arial"/>
                <a:ea typeface="Arial"/>
                <a:cs typeface="Arial"/>
                <a:sym typeface="Arial"/>
              </a:rPr>
              <a:t>‹#›</a:t>
            </a:fld>
            <a:endParaRPr b="0" i="0" sz="1000" u="none" cap="none" strike="noStrike">
              <a:solidFill>
                <a:srgbClr val="595959"/>
              </a:solidFill>
              <a:latin typeface="Arial"/>
              <a:ea typeface="Arial"/>
              <a:cs typeface="Arial"/>
              <a:sym typeface="Arial"/>
            </a:endParaRPr>
          </a:p>
        </p:txBody>
      </p:sp>
      <p:grpSp>
        <p:nvGrpSpPr>
          <p:cNvPr id="360" name="Google Shape;360;p32"/>
          <p:cNvGrpSpPr/>
          <p:nvPr/>
        </p:nvGrpSpPr>
        <p:grpSpPr>
          <a:xfrm>
            <a:off x="50480" y="122879"/>
            <a:ext cx="277873" cy="68400"/>
            <a:chOff x="411700" y="2416840"/>
            <a:chExt cx="277873" cy="68400"/>
          </a:xfrm>
        </p:grpSpPr>
        <p:sp>
          <p:nvSpPr>
            <p:cNvPr id="361" name="Google Shape;361;p32"/>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 name="Google Shape;362;p32"/>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 name="Google Shape;363;p32"/>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64" name="Google Shape;364;p32"/>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4F4F4F"/>
                </a:solidFill>
                <a:latin typeface="Lexend Light"/>
                <a:ea typeface="Lexend Light"/>
                <a:cs typeface="Lexend Light"/>
                <a:sym typeface="Lexend Light"/>
              </a:rPr>
              <a:t>Department of Computer Science and Engineering</a:t>
            </a:r>
            <a:endParaRPr b="1" i="0" sz="900" u="none" cap="none" strike="noStrike">
              <a:solidFill>
                <a:srgbClr val="4F4F4F"/>
              </a:solidFill>
              <a:latin typeface="Lexend"/>
              <a:ea typeface="Lexend"/>
              <a:cs typeface="Lexend"/>
              <a:sym typeface="Lexend"/>
            </a:endParaRPr>
          </a:p>
        </p:txBody>
      </p:sp>
      <p:sp>
        <p:nvSpPr>
          <p:cNvPr id="365" name="Google Shape;365;p32"/>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4F4F4F"/>
                </a:solidFill>
                <a:latin typeface="Lexend"/>
                <a:ea typeface="Lexend"/>
                <a:cs typeface="Lexend"/>
                <a:sym typeface="Lexend"/>
              </a:rPr>
              <a:t>CSE</a:t>
            </a:r>
            <a:r>
              <a:rPr b="1" lang="en" sz="900">
                <a:solidFill>
                  <a:srgbClr val="4F4F4F"/>
                </a:solidFill>
                <a:latin typeface="Lexend"/>
                <a:ea typeface="Lexend"/>
                <a:cs typeface="Lexend"/>
                <a:sym typeface="Lexend"/>
              </a:rPr>
              <a:t>420</a:t>
            </a:r>
            <a:r>
              <a:rPr b="1" i="0" lang="en" sz="900" u="none" cap="none" strike="noStrike">
                <a:solidFill>
                  <a:srgbClr val="4F4F4F"/>
                </a:solidFill>
                <a:latin typeface="Lexend"/>
                <a:ea typeface="Lexend"/>
                <a:cs typeface="Lexend"/>
                <a:sym typeface="Lexend"/>
              </a:rPr>
              <a:t> - </a:t>
            </a:r>
            <a:r>
              <a:rPr b="1" lang="en" sz="900">
                <a:solidFill>
                  <a:srgbClr val="4F4F4F"/>
                </a:solidFill>
                <a:latin typeface="Lexend"/>
                <a:ea typeface="Lexend"/>
                <a:cs typeface="Lexend"/>
                <a:sym typeface="Lexend"/>
              </a:rPr>
              <a:t>Compiler Design</a:t>
            </a:r>
            <a:endParaRPr b="0" i="0" sz="900" u="none" cap="none" strike="noStrike">
              <a:solidFill>
                <a:srgbClr val="4F4F4F"/>
              </a:solidFill>
              <a:latin typeface="Lexend"/>
              <a:ea typeface="Lexend"/>
              <a:cs typeface="Lexend"/>
              <a:sym typeface="Lexend"/>
            </a:endParaRPr>
          </a:p>
        </p:txBody>
      </p:sp>
      <p:sp>
        <p:nvSpPr>
          <p:cNvPr id="366" name="Google Shape;366;p32"/>
          <p:cNvSpPr txBox="1"/>
          <p:nvPr/>
        </p:nvSpPr>
        <p:spPr>
          <a:xfrm>
            <a:off x="0" y="102400"/>
            <a:ext cx="91440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latin typeface="Lexend Medium"/>
                <a:ea typeface="Lexend Medium"/>
                <a:cs typeface="Lexend Medium"/>
                <a:sym typeface="Lexend Medium"/>
              </a:rPr>
              <a:t>Class Inheritance and Method Polymorphism</a:t>
            </a:r>
            <a:endParaRPr sz="1800">
              <a:latin typeface="Lexend Medium"/>
              <a:ea typeface="Lexend Medium"/>
              <a:cs typeface="Lexend Medium"/>
              <a:sym typeface="Lexend Medium"/>
            </a:endParaRPr>
          </a:p>
        </p:txBody>
      </p:sp>
      <p:pic>
        <p:nvPicPr>
          <p:cNvPr id="367" name="Google Shape;367;p32" title="Screenshot 2025-09-06 175845.png"/>
          <p:cNvPicPr preferRelativeResize="0"/>
          <p:nvPr/>
        </p:nvPicPr>
        <p:blipFill>
          <a:blip r:embed="rId4">
            <a:alphaModFix/>
          </a:blip>
          <a:stretch>
            <a:fillRect/>
          </a:stretch>
        </p:blipFill>
        <p:spPr>
          <a:xfrm>
            <a:off x="0" y="492425"/>
            <a:ext cx="9345145" cy="4391425"/>
          </a:xfrm>
          <a:prstGeom prst="rect">
            <a:avLst/>
          </a:prstGeom>
          <a:noFill/>
          <a:ln>
            <a:noFill/>
          </a:ln>
        </p:spPr>
      </p:pic>
      <p:sp>
        <p:nvSpPr>
          <p:cNvPr id="368" name="Google Shape;368;p32"/>
          <p:cNvSpPr txBox="1"/>
          <p:nvPr/>
        </p:nvSpPr>
        <p:spPr>
          <a:xfrm>
            <a:off x="6754650" y="4755900"/>
            <a:ext cx="2337000" cy="38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rPr>
              <a:t>Prepared By: Sukarna Sarker</a:t>
            </a:r>
            <a:endParaRPr b="1" sz="1200">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pic>
        <p:nvPicPr>
          <p:cNvPr id="373" name="Google Shape;373;p33"/>
          <p:cNvPicPr preferRelativeResize="0"/>
          <p:nvPr/>
        </p:nvPicPr>
        <p:blipFill rotWithShape="1">
          <a:blip r:embed="rId3">
            <a:alphaModFix/>
          </a:blip>
          <a:srcRect b="0" l="0" r="0" t="0"/>
          <a:stretch/>
        </p:blipFill>
        <p:spPr>
          <a:xfrm>
            <a:off x="8507451" y="76200"/>
            <a:ext cx="560349" cy="514126"/>
          </a:xfrm>
          <a:prstGeom prst="rect">
            <a:avLst/>
          </a:prstGeom>
          <a:noFill/>
          <a:ln>
            <a:noFill/>
          </a:ln>
        </p:spPr>
      </p:pic>
      <p:sp>
        <p:nvSpPr>
          <p:cNvPr id="374" name="Google Shape;374;p33"/>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0" i="0" lang="en" sz="1000" u="none" cap="none" strike="noStrike">
                <a:solidFill>
                  <a:srgbClr val="595959"/>
                </a:solidFill>
                <a:latin typeface="Arial"/>
                <a:ea typeface="Arial"/>
                <a:cs typeface="Arial"/>
                <a:sym typeface="Arial"/>
              </a:rPr>
              <a:t>‹#›</a:t>
            </a:fld>
            <a:endParaRPr b="0" i="0" sz="1000" u="none" cap="none" strike="noStrike">
              <a:solidFill>
                <a:srgbClr val="595959"/>
              </a:solidFill>
              <a:latin typeface="Arial"/>
              <a:ea typeface="Arial"/>
              <a:cs typeface="Arial"/>
              <a:sym typeface="Arial"/>
            </a:endParaRPr>
          </a:p>
        </p:txBody>
      </p:sp>
      <p:grpSp>
        <p:nvGrpSpPr>
          <p:cNvPr id="375" name="Google Shape;375;p33"/>
          <p:cNvGrpSpPr/>
          <p:nvPr/>
        </p:nvGrpSpPr>
        <p:grpSpPr>
          <a:xfrm>
            <a:off x="50480" y="122879"/>
            <a:ext cx="277873" cy="68400"/>
            <a:chOff x="411700" y="2416840"/>
            <a:chExt cx="277873" cy="68400"/>
          </a:xfrm>
        </p:grpSpPr>
        <p:sp>
          <p:nvSpPr>
            <p:cNvPr id="376" name="Google Shape;376;p33"/>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 name="Google Shape;377;p33"/>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 name="Google Shape;378;p33"/>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79" name="Google Shape;379;p33"/>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4F4F4F"/>
                </a:solidFill>
                <a:latin typeface="Lexend Light"/>
                <a:ea typeface="Lexend Light"/>
                <a:cs typeface="Lexend Light"/>
                <a:sym typeface="Lexend Light"/>
              </a:rPr>
              <a:t>Department of Computer Science and Engineering</a:t>
            </a:r>
            <a:endParaRPr b="1" i="0" sz="900" u="none" cap="none" strike="noStrike">
              <a:solidFill>
                <a:srgbClr val="4F4F4F"/>
              </a:solidFill>
              <a:latin typeface="Lexend"/>
              <a:ea typeface="Lexend"/>
              <a:cs typeface="Lexend"/>
              <a:sym typeface="Lexend"/>
            </a:endParaRPr>
          </a:p>
        </p:txBody>
      </p:sp>
      <p:sp>
        <p:nvSpPr>
          <p:cNvPr id="380" name="Google Shape;380;p33"/>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4F4F4F"/>
                </a:solidFill>
                <a:latin typeface="Lexend"/>
                <a:ea typeface="Lexend"/>
                <a:cs typeface="Lexend"/>
                <a:sym typeface="Lexend"/>
              </a:rPr>
              <a:t>CSE</a:t>
            </a:r>
            <a:r>
              <a:rPr b="1" lang="en" sz="900">
                <a:solidFill>
                  <a:srgbClr val="4F4F4F"/>
                </a:solidFill>
                <a:latin typeface="Lexend"/>
                <a:ea typeface="Lexend"/>
                <a:cs typeface="Lexend"/>
                <a:sym typeface="Lexend"/>
              </a:rPr>
              <a:t>420</a:t>
            </a:r>
            <a:r>
              <a:rPr b="1" i="0" lang="en" sz="900" u="none" cap="none" strike="noStrike">
                <a:solidFill>
                  <a:srgbClr val="4F4F4F"/>
                </a:solidFill>
                <a:latin typeface="Lexend"/>
                <a:ea typeface="Lexend"/>
                <a:cs typeface="Lexend"/>
                <a:sym typeface="Lexend"/>
              </a:rPr>
              <a:t> - </a:t>
            </a:r>
            <a:r>
              <a:rPr b="1" lang="en" sz="900">
                <a:solidFill>
                  <a:srgbClr val="4F4F4F"/>
                </a:solidFill>
                <a:latin typeface="Lexend"/>
                <a:ea typeface="Lexend"/>
                <a:cs typeface="Lexend"/>
                <a:sym typeface="Lexend"/>
              </a:rPr>
              <a:t>Compiler Design</a:t>
            </a:r>
            <a:endParaRPr b="0" i="0" sz="900" u="none" cap="none" strike="noStrike">
              <a:solidFill>
                <a:srgbClr val="4F4F4F"/>
              </a:solidFill>
              <a:latin typeface="Lexend"/>
              <a:ea typeface="Lexend"/>
              <a:cs typeface="Lexend"/>
              <a:sym typeface="Lexend"/>
            </a:endParaRPr>
          </a:p>
        </p:txBody>
      </p:sp>
      <p:sp>
        <p:nvSpPr>
          <p:cNvPr id="381" name="Google Shape;381;p33"/>
          <p:cNvSpPr txBox="1"/>
          <p:nvPr/>
        </p:nvSpPr>
        <p:spPr>
          <a:xfrm>
            <a:off x="0" y="102400"/>
            <a:ext cx="91440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latin typeface="Lexend Medium"/>
                <a:ea typeface="Lexend Medium"/>
                <a:cs typeface="Lexend Medium"/>
                <a:sym typeface="Lexend Medium"/>
              </a:rPr>
              <a:t>Class Inheritance and Method Polymorphism</a:t>
            </a:r>
            <a:endParaRPr sz="1800">
              <a:latin typeface="Lexend Medium"/>
              <a:ea typeface="Lexend Medium"/>
              <a:cs typeface="Lexend Medium"/>
              <a:sym typeface="Lexend Medium"/>
            </a:endParaRPr>
          </a:p>
        </p:txBody>
      </p:sp>
      <p:sp>
        <p:nvSpPr>
          <p:cNvPr id="382" name="Google Shape;382;p33"/>
          <p:cNvSpPr txBox="1"/>
          <p:nvPr/>
        </p:nvSpPr>
        <p:spPr>
          <a:xfrm>
            <a:off x="213725" y="615350"/>
            <a:ext cx="8748600" cy="416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So overall, the steps of a member function access in OOP languages supporting type polymorphism are</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as follows:</a:t>
            </a:r>
            <a:endParaRPr>
              <a:solidFill>
                <a:schemeClr val="dk1"/>
              </a:solidFill>
            </a:endParaRPr>
          </a:p>
          <a:p>
            <a:pPr indent="-317500" lvl="0" marL="457200" rtl="0" algn="l">
              <a:spcBef>
                <a:spcPts val="0"/>
              </a:spcBef>
              <a:spcAft>
                <a:spcPts val="0"/>
              </a:spcAft>
              <a:buClr>
                <a:schemeClr val="dk1"/>
              </a:buClr>
              <a:buSzPts val="1400"/>
              <a:buAutoNum type="arabicPeriod"/>
            </a:pPr>
            <a:r>
              <a:rPr lang="en">
                <a:solidFill>
                  <a:schemeClr val="dk1"/>
                </a:solidFill>
              </a:rPr>
              <a:t>Add the code for accessing the vpointer property of the class object.</a:t>
            </a:r>
            <a:endParaRPr>
              <a:solidFill>
                <a:schemeClr val="dk1"/>
              </a:solidFill>
            </a:endParaRPr>
          </a:p>
          <a:p>
            <a:pPr indent="-317500" lvl="0" marL="457200" rtl="0" algn="l">
              <a:spcBef>
                <a:spcPts val="0"/>
              </a:spcBef>
              <a:spcAft>
                <a:spcPts val="0"/>
              </a:spcAft>
              <a:buClr>
                <a:schemeClr val="dk1"/>
              </a:buClr>
              <a:buSzPts val="1400"/>
              <a:buAutoNum type="arabicPeriod"/>
            </a:pPr>
            <a:r>
              <a:rPr lang="en">
                <a:solidFill>
                  <a:schemeClr val="dk1"/>
                </a:solidFill>
              </a:rPr>
              <a:t>Then call a generic global method that will take in the table vpointer refers to and the name of the function as input and return the location of the original member function to invoke.</a:t>
            </a:r>
            <a:endParaRPr>
              <a:solidFill>
                <a:schemeClr val="dk1"/>
              </a:solidFill>
            </a:endParaRPr>
          </a:p>
          <a:p>
            <a:pPr indent="-317500" lvl="0" marL="457200" rtl="0" algn="l">
              <a:spcBef>
                <a:spcPts val="0"/>
              </a:spcBef>
              <a:spcAft>
                <a:spcPts val="0"/>
              </a:spcAft>
              <a:buClr>
                <a:schemeClr val="dk1"/>
              </a:buClr>
              <a:buSzPts val="1400"/>
              <a:buAutoNum type="arabicPeriod"/>
            </a:pPr>
            <a:r>
              <a:rPr lang="en">
                <a:solidFill>
                  <a:schemeClr val="dk1"/>
                </a:solidFill>
              </a:rPr>
              <a:t>Add the object as the first ‘this’ param to the function call.</a:t>
            </a:r>
            <a:endParaRPr>
              <a:solidFill>
                <a:schemeClr val="dk1"/>
              </a:solidFill>
            </a:endParaRPr>
          </a:p>
          <a:p>
            <a:pPr indent="-317500" lvl="0" marL="457200" rtl="0" algn="l">
              <a:spcBef>
                <a:spcPts val="0"/>
              </a:spcBef>
              <a:spcAft>
                <a:spcPts val="0"/>
              </a:spcAft>
              <a:buClr>
                <a:schemeClr val="dk1"/>
              </a:buClr>
              <a:buSzPts val="1400"/>
              <a:buAutoNum type="arabicPeriod"/>
            </a:pPr>
            <a:r>
              <a:rPr lang="en">
                <a:solidFill>
                  <a:schemeClr val="dk1"/>
                </a:solidFill>
              </a:rPr>
              <a:t>Then add the remaining original parameters as specified in the program.</a:t>
            </a:r>
            <a:endParaRPr>
              <a:solidFill>
                <a:schemeClr val="dk1"/>
              </a:solidFill>
            </a:endParaRPr>
          </a:p>
          <a:p>
            <a:pPr indent="-317500" lvl="0" marL="457200" rtl="0" algn="l">
              <a:spcBef>
                <a:spcPts val="0"/>
              </a:spcBef>
              <a:spcAft>
                <a:spcPts val="0"/>
              </a:spcAft>
              <a:buClr>
                <a:schemeClr val="dk1"/>
              </a:buClr>
              <a:buSzPts val="1400"/>
              <a:buAutoNum type="arabicPeriod"/>
            </a:pPr>
            <a:r>
              <a:rPr lang="en">
                <a:solidFill>
                  <a:schemeClr val="dk1"/>
                </a:solidFill>
              </a:rPr>
              <a:t>Then call the function at location received in Step 2.</a:t>
            </a:r>
            <a:endParaRPr>
              <a:solidFill>
                <a:schemeClr val="dk1"/>
              </a:solidFill>
            </a:endParaRPr>
          </a:p>
          <a:p>
            <a:pPr indent="0" lvl="0" marL="45720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You may wonder, why the compiler needs to generate vtables and vpointers and involve so many steps in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the function calls. The reason is that, you can assign a </a:t>
            </a:r>
            <a:r>
              <a:rPr lang="en">
                <a:solidFill>
                  <a:schemeClr val="dk1"/>
                </a:solidFill>
              </a:rPr>
              <a:t>subclass</a:t>
            </a:r>
            <a:r>
              <a:rPr lang="en">
                <a:solidFill>
                  <a:schemeClr val="dk1"/>
                </a:solidFill>
              </a:rPr>
              <a:t> object to a super-class type variable at</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runtime. Consequently, the compiler does not know the appropriate type of an object when it is</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generating the code. The type is only revealed during program execution. An indirection through the</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vpointer ensures that you are calling the right function despite that the apparent type may look different</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in the source code.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sp>
        <p:nvSpPr>
          <p:cNvPr id="383" name="Google Shape;383;p33"/>
          <p:cNvSpPr txBox="1"/>
          <p:nvPr/>
        </p:nvSpPr>
        <p:spPr>
          <a:xfrm>
            <a:off x="6754650" y="4755900"/>
            <a:ext cx="2337000" cy="38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rPr>
              <a:t>Prepared By: Sukarna Sarker</a:t>
            </a:r>
            <a:endParaRPr b="1" sz="12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